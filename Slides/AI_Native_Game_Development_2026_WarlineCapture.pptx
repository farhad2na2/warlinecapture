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1675"/>
  <p:notesSz cx="6858000" cy="12191675"/>
  <p:embeddedFontLst>
    <p:embeddedFont>
      <p:font typeface="Play"/>
      <p:regular r:id="rId36"/>
      <p:bold r:id="rId37"/>
    </p:embeddedFont>
    <p:embeddedFont>
      <p:font typeface="Cascadia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QT59a3ZXKRE7jaqaHkP9aUsn6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scadiaMono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Cascadia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bold.fntdata"/><Relationship Id="rId14" Type="http://schemas.openxmlformats.org/officeDocument/2006/relationships/slide" Target="slides/slide10.xml"/><Relationship Id="rId36" Type="http://schemas.openxmlformats.org/officeDocument/2006/relationships/font" Target="fonts/Play-regular.fntdata"/><Relationship Id="rId17" Type="http://schemas.openxmlformats.org/officeDocument/2006/relationships/slide" Target="slides/slide13.xml"/><Relationship Id="rId39" Type="http://schemas.openxmlformats.org/officeDocument/2006/relationships/font" Target="fonts/CascadiaMono-bold.fntdata"/><Relationship Id="rId16" Type="http://schemas.openxmlformats.org/officeDocument/2006/relationships/slide" Target="slides/slide12.xml"/><Relationship Id="rId38" Type="http://schemas.openxmlformats.org/officeDocument/2006/relationships/font" Target="fonts/Cascadia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1" name="Google Shape;13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8" name="Google Shape;14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9" name="Google Shape;14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4" name="Google Shape;15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c_mainmenu_target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9144" y="173736"/>
            <a:ext cx="12173407" cy="6675120"/>
          </a:xfrm>
          <a:prstGeom prst="rect">
            <a:avLst/>
          </a:prstGeom>
          <a:solidFill>
            <a:srgbClr val="000000">
              <a:alpha val="78039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WARLINECAPTURE • AI-NATIVE GAME DEVELOPMENT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wc_logo.png" id="29" name="Google Shape;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658368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1783080" y="658368"/>
            <a:ext cx="66751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AI-Native Game</a:t>
            </a:r>
            <a:endParaRPr sz="3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Development in 2026</a:t>
            </a:r>
            <a:endParaRPr sz="3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810512" y="1920240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From AI-assisted coding to orchestrated, human-approved production pipelines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810512" y="2514600"/>
            <a:ext cx="237744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920240" y="2601468"/>
            <a:ext cx="21579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CASE STUDY: WARLINECAPTURE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343400" y="2514600"/>
            <a:ext cx="246888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453128" y="2601468"/>
            <a:ext cx="22494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CODEX-CENTERED WORKFLOW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995160" y="2514600"/>
            <a:ext cx="182880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104888" y="2601468"/>
            <a:ext cx="16093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UNITY 6 DOTS/ECS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051560" y="5230368"/>
            <a:ext cx="10149840" cy="566928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124712" y="5303520"/>
            <a:ext cx="100035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Design docs  →  Mockups  →  Assets  →  Implementation  →  Tests  →  Builds  →  Approval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Prepared from project README/docs, visual targets, and case-study notes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c_battlehud_target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9144" y="173736"/>
            <a:ext cx="12173407" cy="6675120"/>
          </a:xfrm>
          <a:prstGeom prst="rect">
            <a:avLst/>
          </a:prstGeom>
          <a:solidFill>
            <a:srgbClr val="000000">
              <a:alpha val="7607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CORE THESIS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2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2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"/>
          <p:cNvSpPr/>
          <p:nvPr/>
        </p:nvSpPr>
        <p:spPr>
          <a:xfrm>
            <a:off x="713232" y="658368"/>
            <a:ext cx="6583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The shift is from tools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to production systems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68096" y="1874520"/>
            <a:ext cx="9326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The strategic advantage is not only better prompts or stronger models. It is a governed workflow where AI agents execute roles, validation closes the loop, and humans retain creative authority.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2542032" y="3346704"/>
            <a:ext cx="3081528" cy="0"/>
          </a:xfrm>
          <a:prstGeom prst="straightConnector1">
            <a:avLst/>
          </a:prstGeom>
          <a:noFill/>
          <a:ln cap="flat" cmpd="sng" w="165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"/>
          <p:cNvCxnSpPr/>
          <p:nvPr/>
        </p:nvCxnSpPr>
        <p:spPr>
          <a:xfrm>
            <a:off x="5623560" y="3346704"/>
            <a:ext cx="3017520" cy="0"/>
          </a:xfrm>
          <a:prstGeom prst="straightConnector1">
            <a:avLst/>
          </a:prstGeom>
          <a:noFill/>
          <a:ln cap="flat" cmpd="sng" w="165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/>
          <p:nvPr/>
        </p:nvSpPr>
        <p:spPr>
          <a:xfrm>
            <a:off x="841248" y="2862072"/>
            <a:ext cx="2377440" cy="960120"/>
          </a:xfrm>
          <a:prstGeom prst="rect">
            <a:avLst/>
          </a:prstGeom>
          <a:solidFill>
            <a:srgbClr val="1A0D0E">
              <a:alpha val="96078"/>
            </a:srgbClr>
          </a:solidFill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914400" y="293522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2"/>
          <p:cNvCxnSpPr/>
          <p:nvPr/>
        </p:nvCxnSpPr>
        <p:spPr>
          <a:xfrm>
            <a:off x="2889504" y="37490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/>
          <p:nvPr/>
        </p:nvSpPr>
        <p:spPr>
          <a:xfrm>
            <a:off x="914400" y="2935224"/>
            <a:ext cx="223113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2D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E2DF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2D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E2DF"/>
                </a:solidFill>
                <a:latin typeface="Arial"/>
                <a:ea typeface="Arial"/>
                <a:cs typeface="Arial"/>
                <a:sym typeface="Arial"/>
              </a:rPr>
              <a:t>→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0" y="2862072"/>
            <a:ext cx="2377440" cy="960120"/>
          </a:xfrm>
          <a:prstGeom prst="rect">
            <a:avLst/>
          </a:prstGeom>
          <a:solidFill>
            <a:srgbClr val="1C170A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"/>
          <p:cNvCxnSpPr/>
          <p:nvPr/>
        </p:nvCxnSpPr>
        <p:spPr>
          <a:xfrm>
            <a:off x="4645152" y="293522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2"/>
          <p:cNvCxnSpPr/>
          <p:nvPr/>
        </p:nvCxnSpPr>
        <p:spPr>
          <a:xfrm>
            <a:off x="6620256" y="37490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2"/>
          <p:cNvSpPr/>
          <p:nvPr/>
        </p:nvSpPr>
        <p:spPr>
          <a:xfrm>
            <a:off x="4645152" y="2935224"/>
            <a:ext cx="223113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1C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1CC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1C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1CC"/>
                </a:solidFill>
                <a:latin typeface="Arial"/>
                <a:ea typeface="Arial"/>
                <a:cs typeface="Arial"/>
                <a:sym typeface="Arial"/>
              </a:rPr>
              <a:t>+ AI assistant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183880" y="2862072"/>
            <a:ext cx="2926080" cy="960120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2"/>
          <p:cNvCxnSpPr/>
          <p:nvPr/>
        </p:nvCxnSpPr>
        <p:spPr>
          <a:xfrm>
            <a:off x="8257032" y="293522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2"/>
          <p:cNvCxnSpPr/>
          <p:nvPr/>
        </p:nvCxnSpPr>
        <p:spPr>
          <a:xfrm>
            <a:off x="10780776" y="37490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2"/>
          <p:cNvSpPr/>
          <p:nvPr/>
        </p:nvSpPr>
        <p:spPr>
          <a:xfrm>
            <a:off x="8257032" y="2935224"/>
            <a:ext cx="277977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FFE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DEFFEA"/>
                </a:solidFill>
                <a:latin typeface="Arial"/>
                <a:ea typeface="Arial"/>
                <a:cs typeface="Arial"/>
                <a:sym typeface="Arial"/>
              </a:rPr>
              <a:t>Orchestrated agents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FFE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DEFFEA"/>
                </a:solidFill>
                <a:latin typeface="Arial"/>
                <a:ea typeface="Arial"/>
                <a:cs typeface="Arial"/>
                <a:sym typeface="Arial"/>
              </a:rPr>
              <a:t>+ approval gates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WarlineCapture shows the 2026 pattern: AI production roles, human approval gates, visual QA, and automated validation.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2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2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project snapshot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3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3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3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3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WarlineCapture at a glance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progress_tracker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446" r="446" t="0"/>
          <a:stretch/>
        </p:blipFill>
        <p:spPr>
          <a:xfrm>
            <a:off x="6812280" y="1143000"/>
            <a:ext cx="507492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812280" y="1143000"/>
            <a:ext cx="5074920" cy="288036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12280" y="3675888"/>
            <a:ext cx="507492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22008" y="3776472"/>
            <a:ext cx="485546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GENERATED PROGRESS TRACKER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49808" y="1143000"/>
            <a:ext cx="5897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6 DOTS/ECS mobile-first RTS built around large-scale grid movement, tactical combat, base systems, configurable AI, and three product modes.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22960" y="2057400"/>
            <a:ext cx="1325880" cy="78638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896112" y="21305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3"/>
          <p:cNvCxnSpPr/>
          <p:nvPr/>
        </p:nvCxnSpPr>
        <p:spPr>
          <a:xfrm>
            <a:off x="1819656" y="27706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3"/>
          <p:cNvSpPr/>
          <p:nvPr/>
        </p:nvSpPr>
        <p:spPr>
          <a:xfrm>
            <a:off x="896112" y="2130552"/>
            <a:ext cx="11795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6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6000.4.0f1 editor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31720" y="2057400"/>
            <a:ext cx="1325880" cy="78638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2404872" y="21305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3328416" y="27706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2404872" y="2130552"/>
            <a:ext cx="11795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current PM estimate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840480" y="2057400"/>
            <a:ext cx="1325880" cy="78638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3913632" y="21305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4837176" y="27706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3913632" y="2130552"/>
            <a:ext cx="11795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M01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First Contact gate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349240" y="2057400"/>
            <a:ext cx="1325880" cy="78638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5422392" y="21305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6345936" y="27706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5422392" y="2130552"/>
            <a:ext cx="11795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3 modes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Saga • Operation • Quick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22960" y="3337560"/>
            <a:ext cx="5760720" cy="98755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896112" y="34107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6254496" y="42519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3"/>
          <p:cNvSpPr/>
          <p:nvPr/>
        </p:nvSpPr>
        <p:spPr>
          <a:xfrm>
            <a:off x="987552" y="3410712"/>
            <a:ext cx="54315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Core simulation already exists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Units, roads, resources, production, AI economy/production/squads/combat, transport, radar warnings, minimap, runtime stats, Android build support.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22960" y="4526280"/>
            <a:ext cx="5760720" cy="98755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C878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>
            <a:off x="896112" y="45994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78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>
            <a:off x="6254496" y="544068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78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3"/>
          <p:cNvSpPr/>
          <p:nvPr/>
        </p:nvSpPr>
        <p:spPr>
          <a:xfrm>
            <a:off x="987552" y="4599432"/>
            <a:ext cx="54315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Product direction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Wrap the simulation in a polished mobile RTS structure: missions, objective/results, rewards, progression, persistence, and district consequences.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3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3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Source: WarlineCapture README and generated dashboard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4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4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4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4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Why this case study matters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49808" y="11430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The project is stronger than a normal “AI made a game” demo because it models the entire production chain.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68680" y="2011680"/>
            <a:ext cx="3749040" cy="960120"/>
          </a:xfrm>
          <a:prstGeom prst="rect">
            <a:avLst/>
          </a:prstGeom>
          <a:solidFill>
            <a:srgbClr val="1A0D0E">
              <a:alpha val="96078"/>
            </a:srgbClr>
          </a:solidFill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941832" y="20848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4"/>
          <p:cNvCxnSpPr/>
          <p:nvPr/>
        </p:nvCxnSpPr>
        <p:spPr>
          <a:xfrm>
            <a:off x="4288536" y="289864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4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4"/>
          <p:cNvSpPr/>
          <p:nvPr/>
        </p:nvSpPr>
        <p:spPr>
          <a:xfrm>
            <a:off x="941832" y="2084832"/>
            <a:ext cx="360273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D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E0DE"/>
                </a:solidFill>
                <a:latin typeface="Arial"/>
                <a:ea typeface="Arial"/>
                <a:cs typeface="Arial"/>
                <a:sym typeface="Arial"/>
              </a:rPr>
              <a:t>Common AI demo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D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E0DE"/>
                </a:solidFill>
                <a:latin typeface="Arial"/>
                <a:ea typeface="Arial"/>
                <a:cs typeface="Arial"/>
                <a:sym typeface="Arial"/>
              </a:rPr>
              <a:t>Prompt → Code → Demo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532120" y="2011680"/>
            <a:ext cx="5760720" cy="960120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5605272" y="20848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4"/>
          <p:cNvCxnSpPr/>
          <p:nvPr/>
        </p:nvCxnSpPr>
        <p:spPr>
          <a:xfrm>
            <a:off x="10963656" y="289864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5605272" y="2084832"/>
            <a:ext cx="561441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FFEA"/>
              </a:buClr>
              <a:buSzPts val="1750"/>
              <a:buFont typeface="Arial"/>
              <a:buNone/>
            </a:pPr>
            <a:r>
              <a:rPr b="1" lang="en-US" sz="1750">
                <a:solidFill>
                  <a:srgbClr val="DFFFEA"/>
                </a:solidFill>
                <a:latin typeface="Arial"/>
                <a:ea typeface="Arial"/>
                <a:cs typeface="Arial"/>
                <a:sym typeface="Arial"/>
              </a:rPr>
              <a:t>WarlineCapture workflow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FFEA"/>
              </a:buClr>
              <a:buSzPts val="1750"/>
              <a:buFont typeface="Arial"/>
              <a:buNone/>
            </a:pPr>
            <a:r>
              <a:rPr b="1" lang="en-US" sz="1750">
                <a:solidFill>
                  <a:srgbClr val="DFFFEA"/>
                </a:solidFill>
                <a:latin typeface="Arial"/>
                <a:ea typeface="Arial"/>
                <a:cs typeface="Arial"/>
                <a:sym typeface="Arial"/>
              </a:rPr>
              <a:t>Direction → Docs → Mockups → Assets → Code → Tests → Visual QA → Build → Approval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4718304" y="2496312"/>
            <a:ext cx="704088" cy="0"/>
          </a:xfrm>
          <a:prstGeom prst="straightConnector1">
            <a:avLst/>
          </a:prstGeom>
          <a:noFill/>
          <a:ln cap="flat" cmpd="sng" w="152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4"/>
          <p:cNvSpPr/>
          <p:nvPr/>
        </p:nvSpPr>
        <p:spPr>
          <a:xfrm>
            <a:off x="960120" y="3749040"/>
            <a:ext cx="10149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Human direction becomes structured design and acceptance criteria.</a:t>
            </a:r>
            <a:b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Mockups become production targets and real Unity Canvas assets.</a:t>
            </a:r>
            <a:b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Codex executes engineering work inside architecture and validation gates.</a:t>
            </a:r>
            <a:b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AI can visually compare mockups with in-game captures and iterate honestly.</a:t>
            </a:r>
            <a:b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PM reports progress, blockers, and human-decision points automatically.</a:t>
            </a:r>
            <a:br>
              <a:rPr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Core contribution: an AI-orchestrated game production framework, not only an AI-assisted coding session.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5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5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5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5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5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5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5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Operating model: human-directed AI studio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5"/>
          <p:cNvCxnSpPr/>
          <p:nvPr/>
        </p:nvCxnSpPr>
        <p:spPr>
          <a:xfrm>
            <a:off x="6080760" y="1691640"/>
            <a:ext cx="0" cy="521208"/>
          </a:xfrm>
          <a:prstGeom prst="straightConnector1">
            <a:avLst/>
          </a:prstGeom>
          <a:noFill/>
          <a:ln cap="flat" cmpd="sng" w="16500">
            <a:solidFill>
              <a:srgbClr val="7DEB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5"/>
          <p:cNvSpPr/>
          <p:nvPr/>
        </p:nvSpPr>
        <p:spPr>
          <a:xfrm>
            <a:off x="3566160" y="1078992"/>
            <a:ext cx="4937760" cy="713232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5"/>
          <p:cNvCxnSpPr/>
          <p:nvPr/>
        </p:nvCxnSpPr>
        <p:spPr>
          <a:xfrm>
            <a:off x="3639312" y="115214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5"/>
          <p:cNvCxnSpPr/>
          <p:nvPr/>
        </p:nvCxnSpPr>
        <p:spPr>
          <a:xfrm>
            <a:off x="8174736" y="17190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5"/>
          <p:cNvSpPr/>
          <p:nvPr/>
        </p:nvSpPr>
        <p:spPr>
          <a:xfrm>
            <a:off x="3639312" y="1152144"/>
            <a:ext cx="47914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FE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E5FFEF"/>
                </a:solidFill>
                <a:latin typeface="Arial"/>
                <a:ea typeface="Arial"/>
                <a:cs typeface="Arial"/>
                <a:sym typeface="Arial"/>
              </a:rPr>
              <a:t>Human Director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FE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E5FFEF"/>
                </a:solidFill>
                <a:latin typeface="Arial"/>
                <a:ea typeface="Arial"/>
                <a:cs typeface="Arial"/>
                <a:sym typeface="Arial"/>
              </a:rPr>
              <a:t>Vision • architecture • testing criteria • approval gates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977640" y="2249424"/>
            <a:ext cx="4114800" cy="658368"/>
          </a:xfrm>
          <a:prstGeom prst="rect">
            <a:avLst/>
          </a:prstGeom>
          <a:solidFill>
            <a:srgbClr val="071D24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405079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5"/>
          <p:cNvCxnSpPr/>
          <p:nvPr/>
        </p:nvCxnSpPr>
        <p:spPr>
          <a:xfrm>
            <a:off x="7763256" y="28346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4050792" y="2322576"/>
            <a:ext cx="396849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PM Agent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milestones • blockers • dispatch • reports • metrics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Replaceable agents: any lane can be handled by Codex, Claude Code, another AI agent, or a human specialist.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5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cxnSp>
        <p:nvCxnSpPr>
          <p:cNvPr id="198" name="Google Shape;198;p5"/>
          <p:cNvCxnSpPr/>
          <p:nvPr/>
        </p:nvCxnSpPr>
        <p:spPr>
          <a:xfrm>
            <a:off x="6080760" y="2907792"/>
            <a:ext cx="0" cy="36576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9" name="Google Shape;199;p5"/>
          <p:cNvCxnSpPr/>
          <p:nvPr/>
        </p:nvCxnSpPr>
        <p:spPr>
          <a:xfrm>
            <a:off x="1097280" y="3273552"/>
            <a:ext cx="9921240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5"/>
          <p:cNvCxnSpPr/>
          <p:nvPr/>
        </p:nvCxnSpPr>
        <p:spPr>
          <a:xfrm>
            <a:off x="1389888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5"/>
          <p:cNvSpPr/>
          <p:nvPr/>
        </p:nvSpPr>
        <p:spPr>
          <a:xfrm>
            <a:off x="530352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/>
          <p:nvPr/>
        </p:nvCxnSpPr>
        <p:spPr>
          <a:xfrm>
            <a:off x="603503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p5"/>
          <p:cNvCxnSpPr/>
          <p:nvPr/>
        </p:nvCxnSpPr>
        <p:spPr>
          <a:xfrm>
            <a:off x="1938528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5"/>
          <p:cNvSpPr txBox="1"/>
          <p:nvPr/>
        </p:nvSpPr>
        <p:spPr>
          <a:xfrm>
            <a:off x="640080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Designer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640080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GDDs • specs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product coherence</a:t>
            </a:r>
            <a:endParaRPr/>
          </a:p>
        </p:txBody>
      </p:sp>
      <p:cxnSp>
        <p:nvCxnSpPr>
          <p:cNvPr id="206" name="Google Shape;206;p5"/>
          <p:cNvCxnSpPr/>
          <p:nvPr/>
        </p:nvCxnSpPr>
        <p:spPr>
          <a:xfrm>
            <a:off x="3291840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5"/>
          <p:cNvSpPr/>
          <p:nvPr/>
        </p:nvSpPr>
        <p:spPr>
          <a:xfrm>
            <a:off x="2432304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5"/>
          <p:cNvCxnSpPr/>
          <p:nvPr/>
        </p:nvCxnSpPr>
        <p:spPr>
          <a:xfrm>
            <a:off x="2505456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5"/>
          <p:cNvCxnSpPr/>
          <p:nvPr/>
        </p:nvCxnSpPr>
        <p:spPr>
          <a:xfrm>
            <a:off x="3840480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5"/>
          <p:cNvSpPr txBox="1"/>
          <p:nvPr/>
        </p:nvSpPr>
        <p:spPr>
          <a:xfrm>
            <a:off x="2542032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Artist / UI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2542032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mockups • assets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visual locks</a:t>
            </a:r>
            <a:endParaRPr/>
          </a:p>
        </p:txBody>
      </p:sp>
      <p:cxnSp>
        <p:nvCxnSpPr>
          <p:cNvPr id="212" name="Google Shape;212;p5"/>
          <p:cNvCxnSpPr/>
          <p:nvPr/>
        </p:nvCxnSpPr>
        <p:spPr>
          <a:xfrm>
            <a:off x="5193792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5"/>
          <p:cNvSpPr/>
          <p:nvPr/>
        </p:nvSpPr>
        <p:spPr>
          <a:xfrm>
            <a:off x="4334256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FFBB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>
            <a:off x="4407408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FFBB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5"/>
          <p:cNvCxnSpPr/>
          <p:nvPr/>
        </p:nvCxnSpPr>
        <p:spPr>
          <a:xfrm>
            <a:off x="5742432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FFBB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5"/>
          <p:cNvSpPr txBox="1"/>
          <p:nvPr/>
        </p:nvSpPr>
        <p:spPr>
          <a:xfrm>
            <a:off x="4443984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Developer / Codex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4443984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Unity systems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refactors • fixes</a:t>
            </a:r>
            <a:endParaRPr/>
          </a:p>
        </p:txBody>
      </p:sp>
      <p:cxnSp>
        <p:nvCxnSpPr>
          <p:cNvPr id="218" name="Google Shape;218;p5"/>
          <p:cNvCxnSpPr/>
          <p:nvPr/>
        </p:nvCxnSpPr>
        <p:spPr>
          <a:xfrm>
            <a:off x="7095744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5"/>
          <p:cNvSpPr/>
          <p:nvPr/>
        </p:nvSpPr>
        <p:spPr>
          <a:xfrm>
            <a:off x="6236208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5"/>
          <p:cNvCxnSpPr/>
          <p:nvPr/>
        </p:nvCxnSpPr>
        <p:spPr>
          <a:xfrm>
            <a:off x="6309360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" name="Google Shape;221;p5"/>
          <p:cNvCxnSpPr/>
          <p:nvPr/>
        </p:nvCxnSpPr>
        <p:spPr>
          <a:xfrm>
            <a:off x="7644383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5"/>
          <p:cNvSpPr txBox="1"/>
          <p:nvPr/>
        </p:nvSpPr>
        <p:spPr>
          <a:xfrm>
            <a:off x="6345936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QA / HCI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6345936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tests • captures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visual compare</a:t>
            </a:r>
            <a:endParaRPr/>
          </a:p>
        </p:txBody>
      </p:sp>
      <p:cxnSp>
        <p:nvCxnSpPr>
          <p:cNvPr id="224" name="Google Shape;224;p5"/>
          <p:cNvCxnSpPr/>
          <p:nvPr/>
        </p:nvCxnSpPr>
        <p:spPr>
          <a:xfrm>
            <a:off x="8997696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5"/>
          <p:cNvSpPr/>
          <p:nvPr/>
        </p:nvSpPr>
        <p:spPr>
          <a:xfrm>
            <a:off x="8138160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68FF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5"/>
          <p:cNvCxnSpPr/>
          <p:nvPr/>
        </p:nvCxnSpPr>
        <p:spPr>
          <a:xfrm>
            <a:off x="8211312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68FFA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" name="Google Shape;227;p5"/>
          <p:cNvCxnSpPr/>
          <p:nvPr/>
        </p:nvCxnSpPr>
        <p:spPr>
          <a:xfrm>
            <a:off x="9546336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68FFA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5"/>
          <p:cNvSpPr txBox="1"/>
          <p:nvPr/>
        </p:nvSpPr>
        <p:spPr>
          <a:xfrm>
            <a:off x="8247888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Analytics / PI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8247888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funnels • telemetry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DAU/MAU insights</a:t>
            </a:r>
            <a:endParaRPr/>
          </a:p>
        </p:txBody>
      </p:sp>
      <p:cxnSp>
        <p:nvCxnSpPr>
          <p:cNvPr id="230" name="Google Shape;230;p5"/>
          <p:cNvCxnSpPr/>
          <p:nvPr/>
        </p:nvCxnSpPr>
        <p:spPr>
          <a:xfrm>
            <a:off x="10899648" y="3273552"/>
            <a:ext cx="0" cy="438911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5"/>
          <p:cNvSpPr/>
          <p:nvPr/>
        </p:nvSpPr>
        <p:spPr>
          <a:xfrm>
            <a:off x="10040112" y="3794760"/>
            <a:ext cx="1719072" cy="896112"/>
          </a:xfrm>
          <a:prstGeom prst="rect">
            <a:avLst/>
          </a:prstGeom>
          <a:solidFill>
            <a:srgbClr val="031B21">
              <a:alpha val="87843"/>
            </a:srgbClr>
          </a:solidFill>
          <a:ln cap="flat" cmpd="sng" w="15225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5"/>
          <p:cNvCxnSpPr/>
          <p:nvPr/>
        </p:nvCxnSpPr>
        <p:spPr>
          <a:xfrm>
            <a:off x="10113264" y="386791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3" name="Google Shape;233;p5"/>
          <p:cNvCxnSpPr/>
          <p:nvPr/>
        </p:nvCxnSpPr>
        <p:spPr>
          <a:xfrm>
            <a:off x="11448288" y="4617720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13546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5"/>
          <p:cNvSpPr txBox="1"/>
          <p:nvPr/>
        </p:nvSpPr>
        <p:spPr>
          <a:xfrm>
            <a:off x="10149840" y="3922776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3F6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10149840" y="4270248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CI • builds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logs • packaging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warlinecapture pipeline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6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6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6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6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6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6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6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6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End-to-end workflow: idea to milestone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6"/>
          <p:cNvCxnSpPr/>
          <p:nvPr/>
        </p:nvCxnSpPr>
        <p:spPr>
          <a:xfrm>
            <a:off x="2185416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6"/>
          <p:cNvCxnSpPr/>
          <p:nvPr/>
        </p:nvCxnSpPr>
        <p:spPr>
          <a:xfrm>
            <a:off x="3803904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6"/>
          <p:cNvCxnSpPr/>
          <p:nvPr/>
        </p:nvCxnSpPr>
        <p:spPr>
          <a:xfrm>
            <a:off x="5422392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6"/>
          <p:cNvCxnSpPr/>
          <p:nvPr/>
        </p:nvCxnSpPr>
        <p:spPr>
          <a:xfrm>
            <a:off x="7040880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6"/>
          <p:cNvCxnSpPr/>
          <p:nvPr/>
        </p:nvCxnSpPr>
        <p:spPr>
          <a:xfrm>
            <a:off x="8659368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6"/>
          <p:cNvCxnSpPr/>
          <p:nvPr/>
        </p:nvCxnSpPr>
        <p:spPr>
          <a:xfrm>
            <a:off x="10277856" y="2743200"/>
            <a:ext cx="2834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6"/>
          <p:cNvSpPr/>
          <p:nvPr/>
        </p:nvSpPr>
        <p:spPr>
          <a:xfrm>
            <a:off x="566928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6"/>
          <p:cNvCxnSpPr/>
          <p:nvPr/>
        </p:nvCxnSpPr>
        <p:spPr>
          <a:xfrm>
            <a:off x="640080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6"/>
          <p:cNvCxnSpPr/>
          <p:nvPr/>
        </p:nvCxnSpPr>
        <p:spPr>
          <a:xfrm>
            <a:off x="1655064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6"/>
          <p:cNvSpPr/>
          <p:nvPr/>
        </p:nvSpPr>
        <p:spPr>
          <a:xfrm>
            <a:off x="640080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005840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Human creative direction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76656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concept • architecture • acceptance criteria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194560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6"/>
          <p:cNvCxnSpPr/>
          <p:nvPr/>
        </p:nvCxnSpPr>
        <p:spPr>
          <a:xfrm>
            <a:off x="2267712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6"/>
          <p:cNvCxnSpPr/>
          <p:nvPr/>
        </p:nvCxnSpPr>
        <p:spPr>
          <a:xfrm>
            <a:off x="3282696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6"/>
          <p:cNvSpPr/>
          <p:nvPr/>
        </p:nvSpPr>
        <p:spPr>
          <a:xfrm>
            <a:off x="2267712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2633472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Game design docs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2304288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high-level GDD → detailed implementation specs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822192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6"/>
          <p:cNvCxnSpPr/>
          <p:nvPr/>
        </p:nvCxnSpPr>
        <p:spPr>
          <a:xfrm>
            <a:off x="3895344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6"/>
          <p:cNvCxnSpPr/>
          <p:nvPr/>
        </p:nvCxnSpPr>
        <p:spPr>
          <a:xfrm>
            <a:off x="4910328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6"/>
          <p:cNvSpPr/>
          <p:nvPr/>
        </p:nvSpPr>
        <p:spPr>
          <a:xfrm>
            <a:off x="3895344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4261104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UI/gameplay mockups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931920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visual targets for screens and gameplay states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449824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6"/>
          <p:cNvCxnSpPr/>
          <p:nvPr/>
        </p:nvCxnSpPr>
        <p:spPr>
          <a:xfrm>
            <a:off x="5522976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6"/>
          <p:cNvCxnSpPr/>
          <p:nvPr/>
        </p:nvCxnSpPr>
        <p:spPr>
          <a:xfrm>
            <a:off x="6537960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6"/>
          <p:cNvSpPr/>
          <p:nvPr/>
        </p:nvSpPr>
        <p:spPr>
          <a:xfrm>
            <a:off x="5522976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5888736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Game-usable assets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559552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sprites • panels • icons • layers • prefabs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7077456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6"/>
          <p:cNvCxnSpPr/>
          <p:nvPr/>
        </p:nvCxnSpPr>
        <p:spPr>
          <a:xfrm>
            <a:off x="7150608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6"/>
          <p:cNvCxnSpPr/>
          <p:nvPr/>
        </p:nvCxnSpPr>
        <p:spPr>
          <a:xfrm>
            <a:off x="8165592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6"/>
          <p:cNvSpPr/>
          <p:nvPr/>
        </p:nvSpPr>
        <p:spPr>
          <a:xfrm>
            <a:off x="7150608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7516368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Codex implementation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187184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Unity systems • UI route wiring • fixes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8705088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6"/>
          <p:cNvCxnSpPr/>
          <p:nvPr/>
        </p:nvCxnSpPr>
        <p:spPr>
          <a:xfrm>
            <a:off x="8778240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6"/>
          <p:cNvCxnSpPr/>
          <p:nvPr/>
        </p:nvCxnSpPr>
        <p:spPr>
          <a:xfrm>
            <a:off x="9793224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6"/>
          <p:cNvSpPr/>
          <p:nvPr/>
        </p:nvSpPr>
        <p:spPr>
          <a:xfrm>
            <a:off x="8778240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9144000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Validation loop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8814816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code tests • Play Mode • captures • QA reports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0332720" y="2212848"/>
            <a:ext cx="1417320" cy="10515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6"/>
          <p:cNvCxnSpPr/>
          <p:nvPr/>
        </p:nvCxnSpPr>
        <p:spPr>
          <a:xfrm>
            <a:off x="10405872" y="22860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6"/>
          <p:cNvCxnSpPr/>
          <p:nvPr/>
        </p:nvCxnSpPr>
        <p:spPr>
          <a:xfrm>
            <a:off x="11420856" y="31912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6"/>
          <p:cNvSpPr/>
          <p:nvPr/>
        </p:nvSpPr>
        <p:spPr>
          <a:xfrm>
            <a:off x="10405872" y="23225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10771632" y="228600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Milestone approval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10442448" y="2706624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visuals, mockups, Unity behavior, build results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1005840" y="4050792"/>
            <a:ext cx="10149840" cy="53035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078992" y="4123944"/>
            <a:ext cx="10003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PM Agent operating layer: source-of-truth docs, task board, lane ownership, reports, blocker escalation, next-task dispatch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The process is automated, but it remains human-approved at visual, gameplay, testing, and milestone gates.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6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6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workflow doc summary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7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7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7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7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7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7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7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7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7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Agent coordination workflow: the operating layer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749808" y="1115568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The coordination workflow keeps docs, repository state, active agents, validation, reports, and PM decisions synchronized. It does not replace design docs; it makes them operational.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713232" y="1965960"/>
            <a:ext cx="512064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7"/>
          <p:cNvCxnSpPr/>
          <p:nvPr/>
        </p:nvCxnSpPr>
        <p:spPr>
          <a:xfrm>
            <a:off x="786384" y="20391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7"/>
          <p:cNvCxnSpPr/>
          <p:nvPr/>
        </p:nvCxnSpPr>
        <p:spPr>
          <a:xfrm>
            <a:off x="5504688" y="26426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7"/>
          <p:cNvSpPr/>
          <p:nvPr/>
        </p:nvSpPr>
        <p:spPr>
          <a:xfrm>
            <a:off x="859536" y="2039112"/>
            <a:ext cx="4828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Source of truth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Project state JSON, generated dashboard, README/design index, task board, asset register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6336792" y="1965960"/>
            <a:ext cx="512064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7"/>
          <p:cNvCxnSpPr/>
          <p:nvPr/>
        </p:nvCxnSpPr>
        <p:spPr>
          <a:xfrm>
            <a:off x="6409944" y="20391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7"/>
          <p:cNvCxnSpPr/>
          <p:nvPr/>
        </p:nvCxnSpPr>
        <p:spPr>
          <a:xfrm>
            <a:off x="11128248" y="26426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7"/>
          <p:cNvSpPr/>
          <p:nvPr/>
        </p:nvSpPr>
        <p:spPr>
          <a:xfrm>
            <a:off x="6483096" y="2039112"/>
            <a:ext cx="4828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Lane ownership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Each lane owns a concrete area and must coordinate contract changes with dependent lanes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713232" y="2926080"/>
            <a:ext cx="512064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7"/>
          <p:cNvCxnSpPr/>
          <p:nvPr/>
        </p:nvCxnSpPr>
        <p:spPr>
          <a:xfrm>
            <a:off x="786384" y="29992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7"/>
          <p:cNvCxnSpPr/>
          <p:nvPr/>
        </p:nvCxnSpPr>
        <p:spPr>
          <a:xfrm>
            <a:off x="5504688" y="360273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7"/>
          <p:cNvSpPr/>
          <p:nvPr/>
        </p:nvSpPr>
        <p:spPr>
          <a:xfrm>
            <a:off x="859536" y="2999232"/>
            <a:ext cx="4828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Completion reports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Every agent reports files changed, contracts touched, validation run/result, gaps, impacts, next task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6336792" y="2926080"/>
            <a:ext cx="512064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7"/>
          <p:cNvCxnSpPr/>
          <p:nvPr/>
        </p:nvCxnSpPr>
        <p:spPr>
          <a:xfrm>
            <a:off x="6409944" y="299923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7"/>
          <p:cNvCxnSpPr/>
          <p:nvPr/>
        </p:nvCxnSpPr>
        <p:spPr>
          <a:xfrm>
            <a:off x="11128248" y="360273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7"/>
          <p:cNvSpPr/>
          <p:nvPr/>
        </p:nvSpPr>
        <p:spPr>
          <a:xfrm>
            <a:off x="6483096" y="2999232"/>
            <a:ext cx="4828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Validation close-out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Tests, captures, build logs, and blocked/failed commands must be reported before new work starts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713232" y="3886200"/>
            <a:ext cx="1088136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7"/>
          <p:cNvCxnSpPr/>
          <p:nvPr/>
        </p:nvCxnSpPr>
        <p:spPr>
          <a:xfrm>
            <a:off x="786384" y="39593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7"/>
          <p:cNvCxnSpPr/>
          <p:nvPr/>
        </p:nvCxnSpPr>
        <p:spPr>
          <a:xfrm>
            <a:off x="11265408" y="456285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7"/>
          <p:cNvSpPr/>
          <p:nvPr/>
        </p:nvSpPr>
        <p:spPr>
          <a:xfrm>
            <a:off x="859536" y="395935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Blocker escalation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Waiting/blocking requires exact owner, file/report/asset/command, and fallback-work decision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Accepted progress requires repo files, named reports, validation evidence, and cross-lane ownership — not just “I finished.”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7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7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Source: WarlineCapture_Agent_Coordination_Workflow.md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8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8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8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8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8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8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8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8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8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Role of each agent lane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749808" y="1316736"/>
            <a:ext cx="2194560" cy="347472"/>
          </a:xfrm>
          <a:prstGeom prst="rect">
            <a:avLst/>
          </a:prstGeom>
          <a:solidFill>
            <a:srgbClr val="0D2630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896112" y="1389888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Lane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054096" y="1316736"/>
            <a:ext cx="8458200" cy="347472"/>
          </a:xfrm>
          <a:prstGeom prst="rect">
            <a:avLst/>
          </a:prstGeom>
          <a:solidFill>
            <a:srgbClr val="0D2630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3200400" y="1389888"/>
            <a:ext cx="8165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749808" y="1737360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77824" y="181051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PM assistant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054096" y="1737360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3182112" y="1810512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Intake, sync review, validation gate, priority ordering, progress tracking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749808" y="2185416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877824" y="2258568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Designer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3054096" y="2185416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3182112" y="2258568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Product coherence, design-index clarity, terminology, documentation pruning, design review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749808" y="2633472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877824" y="2706624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Gameplay / Codex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3054096" y="2633472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182112" y="2706624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ECS systems, mission runtime, objectives, rewards, persistence, tactical map rendering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749808" y="3081528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877824" y="3154680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UI agent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3054096" y="3081528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3182112" y="3154680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Canvas screens, route wiring, tactical HUD, visual-lock implementation, UI tests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749808" y="3529584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877824" y="3602736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Art / Atlas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054096" y="3529584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182112" y="3602736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Sprite atlases, unit/building/VFX coverage, approval packages, readability references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749808" y="3977640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877824" y="405079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QA / HCI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3054096" y="3977640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3182112" y="4050792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Public gameplay evidence, readability mode validation, capture comparison, acceptance checks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749808" y="4425696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877824" y="4498848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Build agent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3054096" y="4425696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3182112" y="4498848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Jenkins/builds, build-log inspection, failure-summary reports, CI handoff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749808" y="4873752"/>
            <a:ext cx="219456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877824" y="4946904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F4F6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Analytics / FTUE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3054096" y="4873752"/>
            <a:ext cx="8458200" cy="34747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3182112" y="4946904"/>
            <a:ext cx="8202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0B7"/>
              </a:buClr>
              <a:buSzPts val="1100"/>
              <a:buFont typeface="Play"/>
              <a:buNone/>
            </a:pPr>
            <a:r>
              <a:rPr b="1" lang="en-US" sz="1100">
                <a:solidFill>
                  <a:srgbClr val="9AB0B7"/>
                </a:solidFill>
                <a:latin typeface="Play"/>
                <a:ea typeface="Play"/>
                <a:cs typeface="Play"/>
                <a:sym typeface="Play"/>
              </a:rPr>
              <a:t>FTUE funnels, tracking coverage, cohorts, A/B tests, telemetry review, design recommendations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Lane contracts make the system model-agnostic: swap an AI agent for another model or a human without changing the workflow.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8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8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Source: WarlineCapture_Agent_Coordination_Workflow.md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engineering discipline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9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9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9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9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9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9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9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9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9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 architecture direction: preventing AI drift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749808" y="109728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520"/>
              <a:buFont typeface="Arial"/>
              <a:buNone/>
            </a:pPr>
            <a:r>
              <a:rPr lang="en-US" sz="15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Without direction, AI agents can produce inconsistent architecture: duplicated logic, scene-wide searches, public serialized fields, hard-coded values, and unclear ownership.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786384" y="1874520"/>
            <a:ext cx="5257800" cy="420624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859536" y="1947672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Architecture contract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859536" y="2487168"/>
            <a:ext cx="5074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70"/>
              <a:buFont typeface="Arial"/>
              <a:buNone/>
            </a:pP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ECS-first gameplay; Canvas UI is the main non-ECS exception.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GameBootstrap owns runtime systems; new systems are plain classes unless ECS authoring is required.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Explicit Init(...) / BindDependencies(...) and typed provider APIs replace global lookups.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ScriptableObject configs hold tunables; scene/subscene authorings stay thin and config-driven.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Comments and completion reports explain intent, contracts touched, validation, and known gaps.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364224" y="1874520"/>
            <a:ext cx="5029200" cy="420624"/>
          </a:xfrm>
          <a:prstGeom prst="rect">
            <a:avLst/>
          </a:prstGeom>
          <a:solidFill>
            <a:srgbClr val="1C170A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6437376" y="1947672"/>
            <a:ext cx="4882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Validation enforcement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6437376" y="2487168"/>
            <a:ext cx="48920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70"/>
              <a:buFont typeface="Arial"/>
              <a:buNone/>
            </a:pP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Reject Object.Find*, GameObject.Find, Camera.main, Transform.Find path traversal, and broad scene-search patterns.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Run EditMode tests, Play Mode smoke tests, visual captures, and build checks after meaningful changes.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Treat missing validation, visual drift, and stale reports as blockers, not polish.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Only accepted reports, captures/tests, or explicit user approval update progress.</a:t>
            </a:r>
            <a:br>
              <a:rPr lang="en-US" sz="117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Clean architecture becomes enforceable when design rules are converted into tests and validation gates.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9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9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Sources: README architecture/runtime/performance/testing rules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from ideas to specs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10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0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0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10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10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10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0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0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0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Design-first automation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missionbriefing_target.png" id="460" name="Google Shape;460;p10"/>
          <p:cNvPicPr preferRelativeResize="0"/>
          <p:nvPr/>
        </p:nvPicPr>
        <p:blipFill rotWithShape="1">
          <a:blip r:embed="rId3">
            <a:alphaModFix/>
          </a:blip>
          <a:srcRect b="1" l="0" r="0" t="1"/>
          <a:stretch/>
        </p:blipFill>
        <p:spPr>
          <a:xfrm>
            <a:off x="7452360" y="1143000"/>
            <a:ext cx="3931920" cy="221284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"/>
          <p:cNvSpPr/>
          <p:nvPr/>
        </p:nvSpPr>
        <p:spPr>
          <a:xfrm>
            <a:off x="7452360" y="1143000"/>
            <a:ext cx="3931920" cy="221284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7452360" y="3008376"/>
            <a:ext cx="393192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7562088" y="3108960"/>
            <a:ext cx="371246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MISSION BRIEFING VISUAL TARGET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786384" y="1143000"/>
            <a:ext cx="5623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Your high-level ideas become structured documents before implementation starts. This makes Codex execution easier to steer and easier to validate.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10"/>
          <p:cNvCxnSpPr/>
          <p:nvPr/>
        </p:nvCxnSpPr>
        <p:spPr>
          <a:xfrm>
            <a:off x="2395728" y="2423160"/>
            <a:ext cx="512064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6" name="Google Shape;466;p10"/>
          <p:cNvCxnSpPr/>
          <p:nvPr/>
        </p:nvCxnSpPr>
        <p:spPr>
          <a:xfrm>
            <a:off x="4617720" y="2423160"/>
            <a:ext cx="640080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7" name="Google Shape;467;p10"/>
          <p:cNvSpPr/>
          <p:nvPr/>
        </p:nvSpPr>
        <p:spPr>
          <a:xfrm>
            <a:off x="804672" y="2121408"/>
            <a:ext cx="1600200" cy="594360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10"/>
          <p:cNvCxnSpPr/>
          <p:nvPr/>
        </p:nvCxnSpPr>
        <p:spPr>
          <a:xfrm>
            <a:off x="877824" y="21945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0"/>
          <p:cNvCxnSpPr/>
          <p:nvPr/>
        </p:nvCxnSpPr>
        <p:spPr>
          <a:xfrm>
            <a:off x="2075688" y="26426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10"/>
          <p:cNvSpPr/>
          <p:nvPr/>
        </p:nvSpPr>
        <p:spPr>
          <a:xfrm>
            <a:off x="877824" y="2194560"/>
            <a:ext cx="145389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Human ideas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2999232" y="2121408"/>
            <a:ext cx="1600200" cy="5943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10"/>
          <p:cNvCxnSpPr/>
          <p:nvPr/>
        </p:nvCxnSpPr>
        <p:spPr>
          <a:xfrm>
            <a:off x="3072384" y="21945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10"/>
          <p:cNvCxnSpPr/>
          <p:nvPr/>
        </p:nvCxnSpPr>
        <p:spPr>
          <a:xfrm>
            <a:off x="4270248" y="26426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0"/>
          <p:cNvSpPr/>
          <p:nvPr/>
        </p:nvSpPr>
        <p:spPr>
          <a:xfrm>
            <a:off x="3072384" y="2194560"/>
            <a:ext cx="145389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High-level GDD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5257800" y="2121408"/>
            <a:ext cx="1600200" cy="5943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10"/>
          <p:cNvCxnSpPr/>
          <p:nvPr/>
        </p:nvCxnSpPr>
        <p:spPr>
          <a:xfrm>
            <a:off x="5330952" y="21945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0"/>
          <p:cNvCxnSpPr/>
          <p:nvPr/>
        </p:nvCxnSpPr>
        <p:spPr>
          <a:xfrm>
            <a:off x="6528816" y="26426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0"/>
          <p:cNvSpPr/>
          <p:nvPr/>
        </p:nvSpPr>
        <p:spPr>
          <a:xfrm>
            <a:off x="5330952" y="2194560"/>
            <a:ext cx="145389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Detailed specs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822960" y="3520440"/>
            <a:ext cx="6080760" cy="566928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96112" y="3593592"/>
            <a:ext cx="59344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Acceptance + testing criteria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914400" y="4617720"/>
            <a:ext cx="6309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Design index organizes product direction, visual locks, art, audio, monetization, marketing, and update rules.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M01 First Contact is the active playable-slice gate.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The PM-controlled task board routes each lane through current tasks, reports, and blockers.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0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0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Sources: Design/README.md and README.md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visual targets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11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1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11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11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11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1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1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1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11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WarlineCapture visual language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mainmenu_target.png" id="503" name="Google Shape;503;p11"/>
          <p:cNvPicPr preferRelativeResize="0"/>
          <p:nvPr/>
        </p:nvPicPr>
        <p:blipFill rotWithShape="1">
          <a:blip r:embed="rId3">
            <a:alphaModFix/>
          </a:blip>
          <a:srcRect b="0" l="116" r="116" t="0"/>
          <a:stretch/>
        </p:blipFill>
        <p:spPr>
          <a:xfrm>
            <a:off x="685800" y="1207008"/>
            <a:ext cx="356616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"/>
          <p:cNvSpPr/>
          <p:nvPr/>
        </p:nvSpPr>
        <p:spPr>
          <a:xfrm>
            <a:off x="685800" y="1207008"/>
            <a:ext cx="356616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685800" y="2871216"/>
            <a:ext cx="356616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795528" y="2971800"/>
            <a:ext cx="334670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MAIN MENU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quickcustom_target.png" id="507" name="Google Shape;507;p11"/>
          <p:cNvPicPr preferRelativeResize="0"/>
          <p:nvPr/>
        </p:nvPicPr>
        <p:blipFill rotWithShape="1">
          <a:blip r:embed="rId4">
            <a:alphaModFix/>
          </a:blip>
          <a:srcRect b="0" l="116" r="116" t="0"/>
          <a:stretch/>
        </p:blipFill>
        <p:spPr>
          <a:xfrm>
            <a:off x="4434840" y="1207008"/>
            <a:ext cx="356616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"/>
          <p:cNvSpPr/>
          <p:nvPr/>
        </p:nvSpPr>
        <p:spPr>
          <a:xfrm>
            <a:off x="4434840" y="1207008"/>
            <a:ext cx="356616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4434840" y="2871216"/>
            <a:ext cx="356616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4544568" y="2971800"/>
            <a:ext cx="334670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QUICK CUSTOM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battlehud_target.png" id="511" name="Google Shape;511;p11"/>
          <p:cNvPicPr preferRelativeResize="0"/>
          <p:nvPr/>
        </p:nvPicPr>
        <p:blipFill rotWithShape="1">
          <a:blip r:embed="rId5">
            <a:alphaModFix/>
          </a:blip>
          <a:srcRect b="0" l="7790" r="7790" t="0"/>
          <a:stretch/>
        </p:blipFill>
        <p:spPr>
          <a:xfrm>
            <a:off x="8183880" y="1207008"/>
            <a:ext cx="301752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1"/>
          <p:cNvSpPr/>
          <p:nvPr/>
        </p:nvSpPr>
        <p:spPr>
          <a:xfrm>
            <a:off x="8183880" y="1207008"/>
            <a:ext cx="301752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8183880" y="2871216"/>
            <a:ext cx="301752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8293608" y="2971800"/>
            <a:ext cx="279806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BATTLE HUD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841248" y="3794760"/>
            <a:ext cx="324612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950976" y="3881628"/>
            <a:ext cx="30266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DARK GRAPHITE HUD PANELS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4590288" y="3794760"/>
            <a:ext cx="324612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4700016" y="3881628"/>
            <a:ext cx="30266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CYAN EDGE HIGHLIGHTS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8339328" y="3794760"/>
            <a:ext cx="324612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8449056" y="3881628"/>
            <a:ext cx="30266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GOLD CTA / PROGRESSION ACCENTS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841248" y="4270248"/>
            <a:ext cx="324612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950976" y="4357116"/>
            <a:ext cx="30266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MOBILE-READABLE MILITARY UI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4590288" y="4270248"/>
            <a:ext cx="3246120" cy="310896"/>
          </a:xfrm>
          <a:prstGeom prst="rect">
            <a:avLst/>
          </a:prstGeom>
          <a:solidFill>
            <a:srgbClr val="08151C">
              <a:alpha val="96862"/>
            </a:srgbClr>
          </a:solidFill>
          <a:ln cap="flat" cmpd="sng" w="11425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4700016" y="4357116"/>
            <a:ext cx="30266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4FF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9A84FF"/>
                </a:solidFill>
                <a:latin typeface="Arial"/>
                <a:ea typeface="Arial"/>
                <a:cs typeface="Arial"/>
                <a:sym typeface="Arial"/>
              </a:rPr>
              <a:t>PREMIUM 2D ISOMETRIC CONTEXT ART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The presentation now uses the same dark tactical HUD palette, cyan trims, amber CTAs, and visual-target screenshots.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11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1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Sources: VisualLock targets in the WarlineCapture repository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target-to-canvas workflow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12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2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2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2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2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12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2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12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2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Mockups become production targets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quickcustom_target.png" id="548" name="Google Shape;548;p12"/>
          <p:cNvPicPr preferRelativeResize="0"/>
          <p:nvPr/>
        </p:nvPicPr>
        <p:blipFill rotWithShape="1">
          <a:blip r:embed="rId3">
            <a:alphaModFix/>
          </a:blip>
          <a:srcRect b="0" l="125" r="125" t="0"/>
          <a:stretch/>
        </p:blipFill>
        <p:spPr>
          <a:xfrm>
            <a:off x="758952" y="1124712"/>
            <a:ext cx="4343400" cy="2450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2"/>
          <p:cNvSpPr/>
          <p:nvPr/>
        </p:nvSpPr>
        <p:spPr>
          <a:xfrm>
            <a:off x="758952" y="1124712"/>
            <a:ext cx="4343400" cy="245059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758952" y="3227832"/>
            <a:ext cx="434340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868680" y="3328416"/>
            <a:ext cx="412394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APPROVED VISUAL TARGET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2"/>
          <p:cNvCxnSpPr/>
          <p:nvPr/>
        </p:nvCxnSpPr>
        <p:spPr>
          <a:xfrm>
            <a:off x="5486400" y="239572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12"/>
          <p:cNvCxnSpPr/>
          <p:nvPr/>
        </p:nvCxnSpPr>
        <p:spPr>
          <a:xfrm>
            <a:off x="7406640" y="239572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12"/>
          <p:cNvCxnSpPr/>
          <p:nvPr/>
        </p:nvCxnSpPr>
        <p:spPr>
          <a:xfrm>
            <a:off x="9326880" y="239572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5" name="Google Shape;555;p12"/>
          <p:cNvSpPr/>
          <p:nvPr/>
        </p:nvSpPr>
        <p:spPr>
          <a:xfrm>
            <a:off x="5989320" y="1920240"/>
            <a:ext cx="1417320" cy="86868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12"/>
          <p:cNvCxnSpPr/>
          <p:nvPr/>
        </p:nvCxnSpPr>
        <p:spPr>
          <a:xfrm>
            <a:off x="6062472" y="19933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12"/>
          <p:cNvCxnSpPr/>
          <p:nvPr/>
        </p:nvCxnSpPr>
        <p:spPr>
          <a:xfrm>
            <a:off x="7077456" y="271576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2"/>
          <p:cNvSpPr/>
          <p:nvPr/>
        </p:nvSpPr>
        <p:spPr>
          <a:xfrm>
            <a:off x="6062472" y="1993392"/>
            <a:ext cx="127101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Layer pack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frames • icons • text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7909560" y="1920240"/>
            <a:ext cx="1417320" cy="868680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12"/>
          <p:cNvCxnSpPr/>
          <p:nvPr/>
        </p:nvCxnSpPr>
        <p:spPr>
          <a:xfrm>
            <a:off x="7982712" y="19933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12"/>
          <p:cNvCxnSpPr/>
          <p:nvPr/>
        </p:nvCxnSpPr>
        <p:spPr>
          <a:xfrm>
            <a:off x="8997696" y="271576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12"/>
          <p:cNvSpPr/>
          <p:nvPr/>
        </p:nvSpPr>
        <p:spPr>
          <a:xfrm>
            <a:off x="7982712" y="1993392"/>
            <a:ext cx="127101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Real Unity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Canvas hierarchy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9829800" y="1920240"/>
            <a:ext cx="1417320" cy="868680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12"/>
          <p:cNvCxnSpPr/>
          <p:nvPr/>
        </p:nvCxnSpPr>
        <p:spPr>
          <a:xfrm>
            <a:off x="9902952" y="19933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12"/>
          <p:cNvCxnSpPr/>
          <p:nvPr/>
        </p:nvCxnSpPr>
        <p:spPr>
          <a:xfrm>
            <a:off x="10917936" y="271576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12"/>
          <p:cNvSpPr/>
          <p:nvPr/>
        </p:nvSpPr>
        <p:spPr>
          <a:xfrm>
            <a:off x="9902952" y="1993392"/>
            <a:ext cx="127101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Runtime route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+ data wiring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5715000" y="3429000"/>
            <a:ext cx="5715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Core rule: the mockup is a comparison target, not the final shipped UI. Production screens must be decomposed into real responsive layout, panels, sprites, icons, TMP text, controls, states, and safe-area behavior.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Work proceeds screen-by-screen: target → canvas → route/runtime → capture comparison → tests → optimization.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12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12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Source: WarlineCapture_UIUX_Mockup_To_Canvas_Conversion_Plan.md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human-like inspection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13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13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3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13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13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13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13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13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13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Visual QA loop: mockup vs in-game result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mainmenu_target.png" id="591" name="Google Shape;591;p13"/>
          <p:cNvPicPr preferRelativeResize="0"/>
          <p:nvPr/>
        </p:nvPicPr>
        <p:blipFill rotWithShape="1">
          <a:blip r:embed="rId3">
            <a:alphaModFix/>
          </a:blip>
          <a:srcRect b="531" l="0" r="0" t="531"/>
          <a:stretch/>
        </p:blipFill>
        <p:spPr>
          <a:xfrm>
            <a:off x="685800" y="1170432"/>
            <a:ext cx="402336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3"/>
          <p:cNvSpPr/>
          <p:nvPr/>
        </p:nvSpPr>
        <p:spPr>
          <a:xfrm>
            <a:off x="685800" y="1170432"/>
            <a:ext cx="402336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685800" y="3063240"/>
            <a:ext cx="402336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795528" y="3163824"/>
            <a:ext cx="380390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APPROVED TARGET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progress_tracker.png" id="595" name="Google Shape;595;p13"/>
          <p:cNvPicPr preferRelativeResize="0"/>
          <p:nvPr/>
        </p:nvPicPr>
        <p:blipFill rotWithShape="1">
          <a:blip r:embed="rId4">
            <a:alphaModFix/>
          </a:blip>
          <a:srcRect b="505" l="0" r="0" t="505"/>
          <a:stretch/>
        </p:blipFill>
        <p:spPr>
          <a:xfrm>
            <a:off x="7406640" y="1170432"/>
            <a:ext cx="402336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3"/>
          <p:cNvSpPr/>
          <p:nvPr/>
        </p:nvSpPr>
        <p:spPr>
          <a:xfrm>
            <a:off x="7406640" y="1170432"/>
            <a:ext cx="402336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7406640" y="3063240"/>
            <a:ext cx="402336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7516368" y="3163824"/>
            <a:ext cx="380390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RUNTIME PROOF / CAPTURE CONTEXT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13"/>
          <p:cNvCxnSpPr/>
          <p:nvPr/>
        </p:nvCxnSpPr>
        <p:spPr>
          <a:xfrm>
            <a:off x="4892040" y="2286000"/>
            <a:ext cx="59436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0" name="Google Shape;600;p13"/>
          <p:cNvCxnSpPr/>
          <p:nvPr/>
        </p:nvCxnSpPr>
        <p:spPr>
          <a:xfrm>
            <a:off x="6565392" y="2286000"/>
            <a:ext cx="676656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1" name="Google Shape;601;p13"/>
          <p:cNvSpPr/>
          <p:nvPr/>
        </p:nvSpPr>
        <p:spPr>
          <a:xfrm>
            <a:off x="5440680" y="1828800"/>
            <a:ext cx="1298448" cy="841248"/>
          </a:xfrm>
          <a:prstGeom prst="rect">
            <a:avLst/>
          </a:prstGeom>
          <a:solidFill>
            <a:srgbClr val="111026">
              <a:alpha val="96078"/>
            </a:srgbClr>
          </a:solidFill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13"/>
          <p:cNvCxnSpPr/>
          <p:nvPr/>
        </p:nvCxnSpPr>
        <p:spPr>
          <a:xfrm>
            <a:off x="5513832" y="19019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3"/>
          <p:cNvCxnSpPr/>
          <p:nvPr/>
        </p:nvCxnSpPr>
        <p:spPr>
          <a:xfrm>
            <a:off x="6409944" y="25968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13"/>
          <p:cNvSpPr/>
          <p:nvPr/>
        </p:nvSpPr>
        <p:spPr>
          <a:xfrm>
            <a:off x="5513832" y="1901952"/>
            <a:ext cx="11521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AI visual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3840480" y="3977640"/>
            <a:ext cx="4526280" cy="713232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3913632" y="4050792"/>
            <a:ext cx="43799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Mismatch report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+ targeted fixes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13"/>
          <p:cNvCxnSpPr/>
          <p:nvPr/>
        </p:nvCxnSpPr>
        <p:spPr>
          <a:xfrm flipH="1">
            <a:off x="6080760" y="3456432"/>
            <a:ext cx="1344168" cy="50292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8" name="Google Shape;608;p13"/>
          <p:cNvSpPr/>
          <p:nvPr/>
        </p:nvSpPr>
        <p:spPr>
          <a:xfrm>
            <a:off x="1051560" y="498348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AI evaluates layout, spacing, scale, color direction, readability, and style consistency.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It gives an honest opinion instead of only claiming completion.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Developer/UI/Artist lanes iterate until the Unity result matches the approved target.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Human approval remains the final authority for visuals and milestone completion.</a:t>
            </a:r>
            <a:br>
              <a:rPr lang="en-US" sz="12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13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13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engineering engine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p14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14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4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14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4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4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4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14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14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Development loop: implement, test, validate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14"/>
          <p:cNvCxnSpPr/>
          <p:nvPr/>
        </p:nvCxnSpPr>
        <p:spPr>
          <a:xfrm>
            <a:off x="2029968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1" name="Google Shape;631;p14"/>
          <p:cNvCxnSpPr/>
          <p:nvPr/>
        </p:nvCxnSpPr>
        <p:spPr>
          <a:xfrm>
            <a:off x="3694176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2" name="Google Shape;632;p14"/>
          <p:cNvCxnSpPr/>
          <p:nvPr/>
        </p:nvCxnSpPr>
        <p:spPr>
          <a:xfrm>
            <a:off x="5358384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3" name="Google Shape;633;p14"/>
          <p:cNvCxnSpPr/>
          <p:nvPr/>
        </p:nvCxnSpPr>
        <p:spPr>
          <a:xfrm>
            <a:off x="7022592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4" name="Google Shape;634;p14"/>
          <p:cNvCxnSpPr/>
          <p:nvPr/>
        </p:nvCxnSpPr>
        <p:spPr>
          <a:xfrm>
            <a:off x="8686800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5" name="Google Shape;635;p14"/>
          <p:cNvCxnSpPr/>
          <p:nvPr/>
        </p:nvCxnSpPr>
        <p:spPr>
          <a:xfrm>
            <a:off x="10351008" y="2240280"/>
            <a:ext cx="292608" cy="0"/>
          </a:xfrm>
          <a:prstGeom prst="straightConnector1">
            <a:avLst/>
          </a:prstGeom>
          <a:noFill/>
          <a:ln cap="flat" cmpd="sng" w="11425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6" name="Google Shape;636;p14"/>
          <p:cNvSpPr/>
          <p:nvPr/>
        </p:nvSpPr>
        <p:spPr>
          <a:xfrm>
            <a:off x="566928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14"/>
          <p:cNvCxnSpPr/>
          <p:nvPr/>
        </p:nvCxnSpPr>
        <p:spPr>
          <a:xfrm>
            <a:off x="640080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14"/>
          <p:cNvCxnSpPr/>
          <p:nvPr/>
        </p:nvCxnSpPr>
        <p:spPr>
          <a:xfrm>
            <a:off x="1536192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9" name="Google Shape;639;p14"/>
          <p:cNvSpPr/>
          <p:nvPr/>
        </p:nvSpPr>
        <p:spPr>
          <a:xfrm>
            <a:off x="640080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Spec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selected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2231136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14"/>
          <p:cNvCxnSpPr/>
          <p:nvPr/>
        </p:nvCxnSpPr>
        <p:spPr>
          <a:xfrm>
            <a:off x="2304288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14"/>
          <p:cNvCxnSpPr/>
          <p:nvPr/>
        </p:nvCxnSpPr>
        <p:spPr>
          <a:xfrm>
            <a:off x="3200400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14"/>
          <p:cNvSpPr/>
          <p:nvPr/>
        </p:nvSpPr>
        <p:spPr>
          <a:xfrm>
            <a:off x="2304288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Codex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implements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3895344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14"/>
          <p:cNvCxnSpPr/>
          <p:nvPr/>
        </p:nvCxnSpPr>
        <p:spPr>
          <a:xfrm>
            <a:off x="3968496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14"/>
          <p:cNvCxnSpPr/>
          <p:nvPr/>
        </p:nvCxnSpPr>
        <p:spPr>
          <a:xfrm>
            <a:off x="4864608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14"/>
          <p:cNvSpPr/>
          <p:nvPr/>
        </p:nvSpPr>
        <p:spPr>
          <a:xfrm>
            <a:off x="3968496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 tests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logic + regressions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5559552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14"/>
          <p:cNvCxnSpPr/>
          <p:nvPr/>
        </p:nvCxnSpPr>
        <p:spPr>
          <a:xfrm>
            <a:off x="5632704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14"/>
          <p:cNvCxnSpPr/>
          <p:nvPr/>
        </p:nvCxnSpPr>
        <p:spPr>
          <a:xfrm>
            <a:off x="6528816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1" name="Google Shape;651;p14"/>
          <p:cNvSpPr/>
          <p:nvPr/>
        </p:nvSpPr>
        <p:spPr>
          <a:xfrm>
            <a:off x="5632704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Play Mode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runtime behavior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7223760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14"/>
          <p:cNvCxnSpPr/>
          <p:nvPr/>
        </p:nvCxnSpPr>
        <p:spPr>
          <a:xfrm>
            <a:off x="7296912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14"/>
          <p:cNvCxnSpPr/>
          <p:nvPr/>
        </p:nvCxnSpPr>
        <p:spPr>
          <a:xfrm>
            <a:off x="8193024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14"/>
          <p:cNvSpPr/>
          <p:nvPr/>
        </p:nvSpPr>
        <p:spPr>
          <a:xfrm>
            <a:off x="7296912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Visual capture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mockup comparison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8887968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14"/>
          <p:cNvCxnSpPr/>
          <p:nvPr/>
        </p:nvCxnSpPr>
        <p:spPr>
          <a:xfrm>
            <a:off x="8961120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14"/>
          <p:cNvCxnSpPr/>
          <p:nvPr/>
        </p:nvCxnSpPr>
        <p:spPr>
          <a:xfrm>
            <a:off x="9857232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14"/>
          <p:cNvSpPr/>
          <p:nvPr/>
        </p:nvSpPr>
        <p:spPr>
          <a:xfrm>
            <a:off x="8961120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QA report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pass / fail / blocked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10552176" y="1874520"/>
            <a:ext cx="1298448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p14"/>
          <p:cNvCxnSpPr/>
          <p:nvPr/>
        </p:nvCxnSpPr>
        <p:spPr>
          <a:xfrm>
            <a:off x="10625328" y="194767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14"/>
          <p:cNvCxnSpPr/>
          <p:nvPr/>
        </p:nvCxnSpPr>
        <p:spPr>
          <a:xfrm>
            <a:off x="11521440" y="25511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14"/>
          <p:cNvSpPr/>
          <p:nvPr/>
        </p:nvSpPr>
        <p:spPr>
          <a:xfrm>
            <a:off x="10625328" y="1947672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artifact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841248" y="3383280"/>
            <a:ext cx="2011680" cy="50292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914400" y="3456432"/>
            <a:ext cx="18653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Two-level testing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3108960" y="3218688"/>
            <a:ext cx="3383280" cy="8412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7" name="Google Shape;667;p14"/>
          <p:cNvCxnSpPr/>
          <p:nvPr/>
        </p:nvCxnSpPr>
        <p:spPr>
          <a:xfrm>
            <a:off x="3182112" y="32918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14"/>
          <p:cNvCxnSpPr/>
          <p:nvPr/>
        </p:nvCxnSpPr>
        <p:spPr>
          <a:xfrm>
            <a:off x="6163056" y="398678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9" name="Google Shape;669;p14"/>
          <p:cNvSpPr/>
          <p:nvPr/>
        </p:nvSpPr>
        <p:spPr>
          <a:xfrm>
            <a:off x="3182112" y="3291840"/>
            <a:ext cx="323697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 tests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 behavior • data sanity • integration • regressions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6903720" y="3218688"/>
            <a:ext cx="4069080" cy="8412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14"/>
          <p:cNvCxnSpPr/>
          <p:nvPr/>
        </p:nvCxnSpPr>
        <p:spPr>
          <a:xfrm>
            <a:off x="6976872" y="329184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14"/>
          <p:cNvCxnSpPr/>
          <p:nvPr/>
        </p:nvCxnSpPr>
        <p:spPr>
          <a:xfrm>
            <a:off x="10643616" y="398678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3" name="Google Shape;673;p14"/>
          <p:cNvSpPr/>
          <p:nvPr/>
        </p:nvSpPr>
        <p:spPr>
          <a:xfrm>
            <a:off x="6976872" y="3291840"/>
            <a:ext cx="392277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Play Mode tests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scene interaction • UI behavior • runtime errors • player-facing flow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For games, code correctness is not enough: the engine must run, the scene must behave, and the result must match the target.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14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14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tool fit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15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15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15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15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15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15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15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15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15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Codex as the engineering execution layer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c_operationdashboard_target.png" id="697" name="Google Shape;697;p15"/>
          <p:cNvPicPr preferRelativeResize="0"/>
          <p:nvPr/>
        </p:nvPicPr>
        <p:blipFill rotWithShape="1">
          <a:blip r:embed="rId3">
            <a:alphaModFix/>
          </a:blip>
          <a:srcRect b="97" l="0" r="0" t="97"/>
          <a:stretch/>
        </p:blipFill>
        <p:spPr>
          <a:xfrm>
            <a:off x="6995160" y="1170432"/>
            <a:ext cx="4297680" cy="2414016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5"/>
          <p:cNvSpPr/>
          <p:nvPr/>
        </p:nvSpPr>
        <p:spPr>
          <a:xfrm>
            <a:off x="6995160" y="1170432"/>
            <a:ext cx="4297680" cy="241401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6995160" y="3236976"/>
            <a:ext cx="4297680" cy="347472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5"/>
          <p:cNvSpPr/>
          <p:nvPr/>
        </p:nvSpPr>
        <p:spPr>
          <a:xfrm>
            <a:off x="7104888" y="3337560"/>
            <a:ext cx="4078224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OPERATION DASHBOARD CONTEXT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786384" y="1207008"/>
            <a:ext cx="5806440" cy="3547872"/>
          </a:xfrm>
          <a:prstGeom prst="rect">
            <a:avLst/>
          </a:prstGeom>
          <a:solidFill>
            <a:srgbClr val="07151C"/>
          </a:solidFill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p15"/>
          <p:cNvCxnSpPr/>
          <p:nvPr/>
        </p:nvCxnSpPr>
        <p:spPr>
          <a:xfrm>
            <a:off x="859536" y="12801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15"/>
          <p:cNvCxnSpPr/>
          <p:nvPr/>
        </p:nvCxnSpPr>
        <p:spPr>
          <a:xfrm>
            <a:off x="6263640" y="468172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A6B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5"/>
          <p:cNvSpPr/>
          <p:nvPr/>
        </p:nvSpPr>
        <p:spPr>
          <a:xfrm>
            <a:off x="1051560" y="1536192"/>
            <a:ext cx="1965960" cy="640080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15"/>
          <p:cNvCxnSpPr/>
          <p:nvPr/>
        </p:nvCxnSpPr>
        <p:spPr>
          <a:xfrm>
            <a:off x="1124712" y="160934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5"/>
          <p:cNvCxnSpPr/>
          <p:nvPr/>
        </p:nvCxnSpPr>
        <p:spPr>
          <a:xfrm>
            <a:off x="2688336" y="210312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15"/>
          <p:cNvSpPr/>
          <p:nvPr/>
        </p:nvSpPr>
        <p:spPr>
          <a:xfrm>
            <a:off x="1124712" y="1609344"/>
            <a:ext cx="18196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FFE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DFFFEA"/>
                </a:solidFill>
                <a:latin typeface="Arial"/>
                <a:ea typeface="Arial"/>
                <a:cs typeface="Arial"/>
                <a:sym typeface="Arial"/>
              </a:rPr>
              <a:t>CODEX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3246120" y="1444752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In this project, Codex functioned as the primary engineering execution agent — not just a coding assistant.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1051560" y="2487168"/>
            <a:ext cx="5486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Solved Unity-running issues quickly in this project context.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Created/explained visuals and described what it was doing.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Worked smoothly through repo-driven, milestone-driven tasks.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Performed best when architecture rules, tests, and reports were explicit.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6995160" y="4041648"/>
            <a:ext cx="2057400" cy="402336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7068312" y="4114800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Operational value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9217152" y="400507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Repository access + command execution + Unity troubleshooting + testing + reporting + iteration.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Codex was strongest when used as a supervised execution engine inside a governed workflow.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p15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15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Sources: project case notes + OpenAI Codex product information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Claude Code • Unity AI • Codex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16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16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16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0" name="Google Shape;730;p16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1" name="Google Shape;731;p16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2" name="Google Shape;732;p16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3" name="Google Shape;733;p16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16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16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Field report: agent fit matters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6"/>
          <p:cNvSpPr/>
          <p:nvPr/>
        </p:nvSpPr>
        <p:spPr>
          <a:xfrm>
            <a:off x="749808" y="1115568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 powerful model is not automatically a production-ready game-development agent. The bottleneck is operational fit: files, Unity execution, context endurance, honesty, permissions, and smooth handoffs.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822960" y="2039112"/>
            <a:ext cx="2057400" cy="384048"/>
          </a:xfrm>
          <a:prstGeom prst="rect">
            <a:avLst/>
          </a:prstGeom>
          <a:solidFill>
            <a:srgbClr val="0D2630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6"/>
          <p:cNvSpPr/>
          <p:nvPr/>
        </p:nvSpPr>
        <p:spPr>
          <a:xfrm>
            <a:off x="941832" y="211226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6"/>
          <p:cNvSpPr/>
          <p:nvPr/>
        </p:nvSpPr>
        <p:spPr>
          <a:xfrm>
            <a:off x="2971800" y="2039112"/>
            <a:ext cx="8412480" cy="384048"/>
          </a:xfrm>
          <a:prstGeom prst="rect">
            <a:avLst/>
          </a:prstGeom>
          <a:solidFill>
            <a:srgbClr val="0D2630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6"/>
          <p:cNvSpPr/>
          <p:nvPr/>
        </p:nvSpPr>
        <p:spPr>
          <a:xfrm>
            <a:off x="3090672" y="211226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Observed lesson from this project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822960" y="2542032"/>
            <a:ext cx="205740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941832" y="261518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2971800" y="2542032"/>
            <a:ext cx="841248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3090672" y="261518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Understood the process, but struggled with Unity execution, token/context limits, beta desktop friction, and model switching constraints.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822960" y="3044952"/>
            <a:ext cx="205740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6"/>
          <p:cNvSpPr/>
          <p:nvPr/>
        </p:nvSpPr>
        <p:spPr>
          <a:xfrm>
            <a:off x="941832" y="311810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Delivery reliability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2971800" y="3044952"/>
            <a:ext cx="841248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3090672" y="311810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A production agent must be honest when it cannot access files or complete the work.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822960" y="3547872"/>
            <a:ext cx="205740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941832" y="362102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AI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2971800" y="3547872"/>
            <a:ext cx="841248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3090672" y="362102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Promising Unity-native direction, but not yet ideal for governed multi-agent automation; uncontrolled edits conflict with approval gates.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6"/>
          <p:cNvSpPr/>
          <p:nvPr/>
        </p:nvSpPr>
        <p:spPr>
          <a:xfrm>
            <a:off x="822960" y="4050792"/>
            <a:ext cx="205740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6"/>
          <p:cNvSpPr/>
          <p:nvPr/>
        </p:nvSpPr>
        <p:spPr>
          <a:xfrm>
            <a:off x="941832" y="412394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Codex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2971800" y="4050792"/>
            <a:ext cx="841248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3090672" y="412394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2CC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A7C2CC"/>
                </a:solidFill>
                <a:latin typeface="Arial"/>
                <a:ea typeface="Arial"/>
                <a:cs typeface="Arial"/>
                <a:sym typeface="Arial"/>
              </a:rPr>
              <a:t>Better operational fit here: resolved Unity running, explained actions, and worked more smoothly through milestones.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822960" y="4553712"/>
            <a:ext cx="205740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6"/>
          <p:cNvSpPr/>
          <p:nvPr/>
        </p:nvSpPr>
        <p:spPr>
          <a:xfrm>
            <a:off x="941832" y="462686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2971800" y="4553712"/>
            <a:ext cx="8412480" cy="38404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3090672" y="4626864"/>
            <a:ext cx="8174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060"/>
              <a:buFont typeface="Arial"/>
              <a:buNone/>
            </a:pPr>
            <a:r>
              <a:rPr b="1" lang="en-US" sz="106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Benchmark intelligence is not enough; evaluate agents by production behavior.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Frame this as a production-fit comparison, not tool-bashing: the goal is reliable orchestration.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16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16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2026 landscape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5" name="Google Shape;775;p17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17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17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17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17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17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17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Latest AI tools &amp; models: organize by role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7"/>
          <p:cNvSpPr/>
          <p:nvPr/>
        </p:nvSpPr>
        <p:spPr>
          <a:xfrm>
            <a:off x="777240" y="1234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17"/>
          <p:cNvCxnSpPr/>
          <p:nvPr/>
        </p:nvCxnSpPr>
        <p:spPr>
          <a:xfrm>
            <a:off x="850392" y="1307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17"/>
          <p:cNvCxnSpPr/>
          <p:nvPr/>
        </p:nvCxnSpPr>
        <p:spPr>
          <a:xfrm>
            <a:off x="5522976" y="1911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7" name="Google Shape;787;p17"/>
          <p:cNvSpPr/>
          <p:nvPr/>
        </p:nvSpPr>
        <p:spPr>
          <a:xfrm>
            <a:off x="850392" y="1307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Coding agents / IDEs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Codex • Claude Code • GitHub Copilot cloud agent • Cursor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7"/>
          <p:cNvSpPr/>
          <p:nvPr/>
        </p:nvSpPr>
        <p:spPr>
          <a:xfrm>
            <a:off x="6355080" y="1234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9" name="Google Shape;789;p17"/>
          <p:cNvCxnSpPr/>
          <p:nvPr/>
        </p:nvCxnSpPr>
        <p:spPr>
          <a:xfrm>
            <a:off x="6428232" y="1307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17"/>
          <p:cNvCxnSpPr/>
          <p:nvPr/>
        </p:nvCxnSpPr>
        <p:spPr>
          <a:xfrm>
            <a:off x="11100816" y="1911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17"/>
          <p:cNvSpPr/>
          <p:nvPr/>
        </p:nvSpPr>
        <p:spPr>
          <a:xfrm>
            <a:off x="6428232" y="1307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Unity-native tooling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AI Assistant • Unity AI Gateway • Unity MCP Server • Sentis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7"/>
          <p:cNvSpPr/>
          <p:nvPr/>
        </p:nvSpPr>
        <p:spPr>
          <a:xfrm>
            <a:off x="777240" y="2377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17"/>
          <p:cNvCxnSpPr/>
          <p:nvPr/>
        </p:nvCxnSpPr>
        <p:spPr>
          <a:xfrm>
            <a:off x="850392" y="2450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17"/>
          <p:cNvCxnSpPr/>
          <p:nvPr/>
        </p:nvCxnSpPr>
        <p:spPr>
          <a:xfrm>
            <a:off x="5522976" y="3054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A8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5" name="Google Shape;795;p17"/>
          <p:cNvSpPr/>
          <p:nvPr/>
        </p:nvSpPr>
        <p:spPr>
          <a:xfrm>
            <a:off x="850392" y="2450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Frontier multimodal models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GPT-family • Claude/Opus • Gemini models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7"/>
          <p:cNvSpPr/>
          <p:nvPr/>
        </p:nvSpPr>
        <p:spPr>
          <a:xfrm>
            <a:off x="6355080" y="2377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17"/>
          <p:cNvCxnSpPr/>
          <p:nvPr/>
        </p:nvCxnSpPr>
        <p:spPr>
          <a:xfrm>
            <a:off x="6428232" y="2450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17"/>
          <p:cNvCxnSpPr/>
          <p:nvPr/>
        </p:nvCxnSpPr>
        <p:spPr>
          <a:xfrm>
            <a:off x="11100816" y="3054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9" name="Google Shape;799;p17"/>
          <p:cNvSpPr/>
          <p:nvPr/>
        </p:nvSpPr>
        <p:spPr>
          <a:xfrm>
            <a:off x="6428232" y="2450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Visual + video generation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Sora • Veo • Runway • Midjourney • Firefly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777240" y="3520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9BE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p17"/>
          <p:cNvCxnSpPr/>
          <p:nvPr/>
        </p:nvCxnSpPr>
        <p:spPr>
          <a:xfrm>
            <a:off x="850392" y="3593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9BE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17"/>
          <p:cNvCxnSpPr/>
          <p:nvPr/>
        </p:nvCxnSpPr>
        <p:spPr>
          <a:xfrm>
            <a:off x="5522976" y="4197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9B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17"/>
          <p:cNvSpPr/>
          <p:nvPr/>
        </p:nvSpPr>
        <p:spPr>
          <a:xfrm>
            <a:off x="850392" y="3593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Orchestration + validation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MCP • Agent SDKs • CI/CD • Play Mode tests • visual comparison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7"/>
          <p:cNvSpPr/>
          <p:nvPr/>
        </p:nvSpPr>
        <p:spPr>
          <a:xfrm>
            <a:off x="6355080" y="3520440"/>
            <a:ext cx="5074920" cy="74980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93D36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17"/>
          <p:cNvCxnSpPr/>
          <p:nvPr/>
        </p:nvCxnSpPr>
        <p:spPr>
          <a:xfrm>
            <a:off x="6428232" y="359359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3D3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7"/>
          <p:cNvCxnSpPr/>
          <p:nvPr/>
        </p:nvCxnSpPr>
        <p:spPr>
          <a:xfrm>
            <a:off x="11100816" y="419709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93D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17"/>
          <p:cNvSpPr/>
          <p:nvPr/>
        </p:nvSpPr>
        <p:spPr>
          <a:xfrm>
            <a:off x="6428232" y="3593592"/>
            <a:ext cx="49286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Project memory + governance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task boards • reports • source of truth • approval gates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7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941832" y="5449824"/>
            <a:ext cx="102778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Do not present tools as a ranked list. Present them as replaceable capabilities inside a governed pipeline.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0" name="Google Shape;810;p17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17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Sources: OpenAI, Anthropic, GitHub Docs, Unity AI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8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control layer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p18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18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18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18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18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18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18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18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18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Governance: autonomous execution under human authority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777240" y="1170432"/>
            <a:ext cx="10789920" cy="621792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850392" y="1243584"/>
            <a:ext cx="10643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FE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3FFEB"/>
                </a:solidFill>
                <a:latin typeface="Arial"/>
                <a:ea typeface="Arial"/>
                <a:cs typeface="Arial"/>
                <a:sym typeface="Arial"/>
              </a:rPr>
              <a:t>Human authority layer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FE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3FFEB"/>
                </a:solidFill>
                <a:latin typeface="Arial"/>
                <a:ea typeface="Arial"/>
                <a:cs typeface="Arial"/>
                <a:sym typeface="Arial"/>
              </a:rPr>
              <a:t>vision • product direction • code architecture • testing criteria • visuals • milestone acceptance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18"/>
          <p:cNvCxnSpPr/>
          <p:nvPr/>
        </p:nvCxnSpPr>
        <p:spPr>
          <a:xfrm>
            <a:off x="1920240" y="2606040"/>
            <a:ext cx="731520" cy="0"/>
          </a:xfrm>
          <a:prstGeom prst="straightConnector1">
            <a:avLst/>
          </a:prstGeom>
          <a:noFill/>
          <a:ln cap="flat" cmpd="sng" w="1015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4" name="Google Shape;834;p18"/>
          <p:cNvCxnSpPr/>
          <p:nvPr/>
        </p:nvCxnSpPr>
        <p:spPr>
          <a:xfrm>
            <a:off x="3886200" y="2606040"/>
            <a:ext cx="731520" cy="0"/>
          </a:xfrm>
          <a:prstGeom prst="straightConnector1">
            <a:avLst/>
          </a:prstGeom>
          <a:noFill/>
          <a:ln cap="flat" cmpd="sng" w="1015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5" name="Google Shape;835;p18"/>
          <p:cNvCxnSpPr/>
          <p:nvPr/>
        </p:nvCxnSpPr>
        <p:spPr>
          <a:xfrm>
            <a:off x="5852160" y="2606040"/>
            <a:ext cx="731520" cy="0"/>
          </a:xfrm>
          <a:prstGeom prst="straightConnector1">
            <a:avLst/>
          </a:prstGeom>
          <a:noFill/>
          <a:ln cap="flat" cmpd="sng" w="1015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6" name="Google Shape;836;p18"/>
          <p:cNvCxnSpPr/>
          <p:nvPr/>
        </p:nvCxnSpPr>
        <p:spPr>
          <a:xfrm>
            <a:off x="7818120" y="2606040"/>
            <a:ext cx="731520" cy="0"/>
          </a:xfrm>
          <a:prstGeom prst="straightConnector1">
            <a:avLst/>
          </a:prstGeom>
          <a:noFill/>
          <a:ln cap="flat" cmpd="sng" w="1015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7" name="Google Shape;837;p18"/>
          <p:cNvSpPr/>
          <p:nvPr/>
        </p:nvSpPr>
        <p:spPr>
          <a:xfrm>
            <a:off x="914400" y="2249424"/>
            <a:ext cx="1417320" cy="69494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8" name="Google Shape;838;p18"/>
          <p:cNvCxnSpPr/>
          <p:nvPr/>
        </p:nvCxnSpPr>
        <p:spPr>
          <a:xfrm>
            <a:off x="98755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18"/>
          <p:cNvCxnSpPr/>
          <p:nvPr/>
        </p:nvCxnSpPr>
        <p:spPr>
          <a:xfrm>
            <a:off x="2002536" y="28712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18"/>
          <p:cNvSpPr/>
          <p:nvPr/>
        </p:nvSpPr>
        <p:spPr>
          <a:xfrm>
            <a:off x="987552" y="2322576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2880360" y="2249424"/>
            <a:ext cx="1417320" cy="69494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2" name="Google Shape;842;p18"/>
          <p:cNvCxnSpPr/>
          <p:nvPr/>
        </p:nvCxnSpPr>
        <p:spPr>
          <a:xfrm>
            <a:off x="295351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18"/>
          <p:cNvCxnSpPr/>
          <p:nvPr/>
        </p:nvCxnSpPr>
        <p:spPr>
          <a:xfrm>
            <a:off x="3968496" y="28712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p18"/>
          <p:cNvSpPr/>
          <p:nvPr/>
        </p:nvSpPr>
        <p:spPr>
          <a:xfrm>
            <a:off x="2953512" y="2322576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Visual target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4846320" y="2249424"/>
            <a:ext cx="1417320" cy="69494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18"/>
          <p:cNvCxnSpPr/>
          <p:nvPr/>
        </p:nvCxnSpPr>
        <p:spPr>
          <a:xfrm>
            <a:off x="491947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18"/>
          <p:cNvCxnSpPr/>
          <p:nvPr/>
        </p:nvCxnSpPr>
        <p:spPr>
          <a:xfrm>
            <a:off x="5934456" y="28712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18"/>
          <p:cNvSpPr/>
          <p:nvPr/>
        </p:nvSpPr>
        <p:spPr>
          <a:xfrm>
            <a:off x="4919472" y="2322576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6812280" y="2249424"/>
            <a:ext cx="1417320" cy="69494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18"/>
          <p:cNvCxnSpPr/>
          <p:nvPr/>
        </p:nvCxnSpPr>
        <p:spPr>
          <a:xfrm>
            <a:off x="688543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18"/>
          <p:cNvCxnSpPr/>
          <p:nvPr/>
        </p:nvCxnSpPr>
        <p:spPr>
          <a:xfrm>
            <a:off x="7900416" y="28712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18"/>
          <p:cNvSpPr/>
          <p:nvPr/>
        </p:nvSpPr>
        <p:spPr>
          <a:xfrm>
            <a:off x="6885432" y="2322576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Unity test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8778240" y="2249424"/>
            <a:ext cx="1417320" cy="694944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18"/>
          <p:cNvCxnSpPr/>
          <p:nvPr/>
        </p:nvCxnSpPr>
        <p:spPr>
          <a:xfrm>
            <a:off x="8851392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18"/>
          <p:cNvCxnSpPr/>
          <p:nvPr/>
        </p:nvCxnSpPr>
        <p:spPr>
          <a:xfrm>
            <a:off x="9866376" y="287121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6" name="Google Shape;856;p18"/>
          <p:cNvSpPr/>
          <p:nvPr/>
        </p:nvSpPr>
        <p:spPr>
          <a:xfrm>
            <a:off x="8851392" y="2322576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Milestone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sign-off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1097280" y="3703320"/>
            <a:ext cx="9966960" cy="594360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8"/>
          <p:cNvSpPr/>
          <p:nvPr/>
        </p:nvSpPr>
        <p:spPr>
          <a:xfrm>
            <a:off x="1170432" y="3776472"/>
            <a:ext cx="982065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Agent execution layer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Design • Art • Development • QA • Build • PM tracking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8"/>
          <p:cNvSpPr/>
          <p:nvPr/>
        </p:nvSpPr>
        <p:spPr>
          <a:xfrm>
            <a:off x="960120" y="498348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30"/>
              <a:buFont typeface="Arial"/>
              <a:buNone/>
            </a:pPr>
            <a: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Agents can work autonomously inside boundaries, but approval gates prevent uncontrolled drift.</a:t>
            </a:r>
            <a:b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Reports and captures create traceability for human review.</a:t>
            </a:r>
            <a:b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Blockers are escalated when the next action needs a human decision or unavailable tool access.</a:t>
            </a:r>
            <a:br>
              <a:rPr lang="en-US" sz="123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0" name="Google Shape;860;p18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18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7" name="Google Shape;8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9"/>
          <p:cNvSpPr/>
          <p:nvPr/>
        </p:nvSpPr>
        <p:spPr>
          <a:xfrm>
            <a:off x="0" y="109728"/>
            <a:ext cx="12191695" cy="3200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9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ANALYTICS AGENT</a:t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292608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9"/>
          <p:cNvSpPr/>
          <p:nvPr/>
        </p:nvSpPr>
        <p:spPr>
          <a:xfrm>
            <a:off x="292608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9"/>
          <p:cNvSpPr/>
          <p:nvPr/>
        </p:nvSpPr>
        <p:spPr>
          <a:xfrm>
            <a:off x="11210544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9"/>
          <p:cNvSpPr/>
          <p:nvPr/>
        </p:nvSpPr>
        <p:spPr>
          <a:xfrm>
            <a:off x="11896344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9"/>
          <p:cNvSpPr/>
          <p:nvPr/>
        </p:nvSpPr>
        <p:spPr>
          <a:xfrm>
            <a:off x="292608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9"/>
          <p:cNvSpPr/>
          <p:nvPr/>
        </p:nvSpPr>
        <p:spPr>
          <a:xfrm>
            <a:off x="292608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9"/>
          <p:cNvSpPr/>
          <p:nvPr/>
        </p:nvSpPr>
        <p:spPr>
          <a:xfrm>
            <a:off x="11210544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11896344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9"/>
          <p:cNvSpPr/>
          <p:nvPr/>
        </p:nvSpPr>
        <p:spPr>
          <a:xfrm>
            <a:off x="576072" y="6428232"/>
            <a:ext cx="10881360" cy="9144"/>
          </a:xfrm>
          <a:prstGeom prst="rect">
            <a:avLst/>
          </a:prstGeom>
          <a:solidFill>
            <a:srgbClr val="00778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9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7D9198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882" name="Google Shape;882;p19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883" name="Google Shape;883;p19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Analytics Agent: instrument before launch</a:t>
            </a:r>
            <a:endParaRPr/>
          </a:p>
        </p:txBody>
      </p:sp>
      <p:sp>
        <p:nvSpPr>
          <p:cNvPr id="884" name="Google Shape;884;p19"/>
          <p:cNvSpPr txBox="1"/>
          <p:nvPr/>
        </p:nvSpPr>
        <p:spPr>
          <a:xfrm>
            <a:off x="694944" y="1078992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AI can audit the GDD, Unity scenes, UI flows, and gameplay code to propose a tracking plan — then wait for approval before Codex touches code.</a:t>
            </a:r>
            <a:endParaRPr/>
          </a:p>
        </p:txBody>
      </p:sp>
      <p:sp>
        <p:nvSpPr>
          <p:cNvPr id="885" name="Google Shape;885;p19"/>
          <p:cNvSpPr/>
          <p:nvPr/>
        </p:nvSpPr>
        <p:spPr>
          <a:xfrm>
            <a:off x="658368" y="1783080"/>
            <a:ext cx="3063240" cy="2331720"/>
          </a:xfrm>
          <a:prstGeom prst="rect">
            <a:avLst/>
          </a:prstGeom>
          <a:solidFill>
            <a:srgbClr val="041B22">
              <a:alpha val="87843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9"/>
          <p:cNvSpPr/>
          <p:nvPr/>
        </p:nvSpPr>
        <p:spPr>
          <a:xfrm>
            <a:off x="731519" y="1865376"/>
            <a:ext cx="2560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9"/>
          <p:cNvSpPr/>
          <p:nvPr/>
        </p:nvSpPr>
        <p:spPr>
          <a:xfrm>
            <a:off x="3374136" y="4005072"/>
            <a:ext cx="2560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9"/>
          <p:cNvSpPr txBox="1"/>
          <p:nvPr/>
        </p:nvSpPr>
        <p:spPr>
          <a:xfrm>
            <a:off x="822959" y="1947672"/>
            <a:ext cx="2734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Inputs reviewed</a:t>
            </a:r>
            <a:endParaRPr/>
          </a:p>
        </p:txBody>
      </p:sp>
      <p:sp>
        <p:nvSpPr>
          <p:cNvPr id="889" name="Google Shape;889;p19"/>
          <p:cNvSpPr txBox="1"/>
          <p:nvPr/>
        </p:nvSpPr>
        <p:spPr>
          <a:xfrm>
            <a:off x="822959" y="2286000"/>
            <a:ext cx="27340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Game design docs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Unity scenes + prefabs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UI screens and buttons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Gameplay state changes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Economy / rewards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Tutorial and failure states</a:t>
            </a:r>
            <a:endParaRPr/>
          </a:p>
        </p:txBody>
      </p:sp>
      <p:sp>
        <p:nvSpPr>
          <p:cNvPr id="890" name="Google Shape;890;p19"/>
          <p:cNvSpPr/>
          <p:nvPr/>
        </p:nvSpPr>
        <p:spPr>
          <a:xfrm>
            <a:off x="4041648" y="1572768"/>
            <a:ext cx="3840480" cy="2743200"/>
          </a:xfrm>
          <a:prstGeom prst="rect">
            <a:avLst/>
          </a:prstGeom>
          <a:solidFill>
            <a:srgbClr val="121508">
              <a:alpha val="90196"/>
            </a:srgbClr>
          </a:solidFill>
          <a:ln cap="flat" cmpd="sng" w="1522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9"/>
          <p:cNvSpPr/>
          <p:nvPr/>
        </p:nvSpPr>
        <p:spPr>
          <a:xfrm>
            <a:off x="4114800" y="1655064"/>
            <a:ext cx="256032" cy="914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9"/>
          <p:cNvSpPr/>
          <p:nvPr/>
        </p:nvSpPr>
        <p:spPr>
          <a:xfrm>
            <a:off x="7534656" y="4206240"/>
            <a:ext cx="256032" cy="914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9"/>
          <p:cNvSpPr txBox="1"/>
          <p:nvPr/>
        </p:nvSpPr>
        <p:spPr>
          <a:xfrm>
            <a:off x="4206240" y="1737360"/>
            <a:ext cx="3511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Analytics Agent</a:t>
            </a:r>
            <a:endParaRPr/>
          </a:p>
        </p:txBody>
      </p:sp>
      <p:sp>
        <p:nvSpPr>
          <p:cNvPr id="894" name="Google Shape;894;p19"/>
          <p:cNvSpPr txBox="1"/>
          <p:nvPr/>
        </p:nvSpPr>
        <p:spPr>
          <a:xfrm>
            <a:off x="4206240" y="2075688"/>
            <a:ext cx="351129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Creates a tracking contract: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event schema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required properties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trigger map in code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funnels and cohorts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dashboard questions</a:t>
            </a:r>
            <a:b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test coverage plan</a:t>
            </a:r>
            <a:endParaRPr/>
          </a:p>
        </p:txBody>
      </p:sp>
      <p:sp>
        <p:nvSpPr>
          <p:cNvPr id="895" name="Google Shape;895;p19"/>
          <p:cNvSpPr/>
          <p:nvPr/>
        </p:nvSpPr>
        <p:spPr>
          <a:xfrm>
            <a:off x="8211312" y="1783080"/>
            <a:ext cx="3246120" cy="2331720"/>
          </a:xfrm>
          <a:prstGeom prst="rect">
            <a:avLst/>
          </a:prstGeom>
          <a:solidFill>
            <a:srgbClr val="041A12">
              <a:alpha val="90196"/>
            </a:srgbClr>
          </a:solidFill>
          <a:ln cap="flat" cmpd="sng" w="15225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9"/>
          <p:cNvSpPr/>
          <p:nvPr/>
        </p:nvSpPr>
        <p:spPr>
          <a:xfrm>
            <a:off x="8284464" y="1865376"/>
            <a:ext cx="256032" cy="9144"/>
          </a:xfrm>
          <a:prstGeom prst="rect">
            <a:avLst/>
          </a:prstGeom>
          <a:solidFill>
            <a:srgbClr val="62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9"/>
          <p:cNvSpPr/>
          <p:nvPr/>
        </p:nvSpPr>
        <p:spPr>
          <a:xfrm>
            <a:off x="11109960" y="4005072"/>
            <a:ext cx="256032" cy="9144"/>
          </a:xfrm>
          <a:prstGeom prst="rect">
            <a:avLst/>
          </a:prstGeom>
          <a:solidFill>
            <a:srgbClr val="62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9"/>
          <p:cNvSpPr txBox="1"/>
          <p:nvPr/>
        </p:nvSpPr>
        <p:spPr>
          <a:xfrm>
            <a:off x="8375904" y="1947672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Outputs delivered</a:t>
            </a:r>
            <a:endParaRPr/>
          </a:p>
        </p:txBody>
      </p:sp>
      <p:sp>
        <p:nvSpPr>
          <p:cNvPr id="899" name="Google Shape;899;p19"/>
          <p:cNvSpPr txBox="1"/>
          <p:nvPr/>
        </p:nvSpPr>
        <p:spPr>
          <a:xfrm>
            <a:off x="8375904" y="2286000"/>
            <a:ext cx="291693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Tracking plan for PM approval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Codex implementation tasks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QA analytics checks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BigQuery / Firebase / Mixpanel dashboard needs</a:t>
            </a:r>
            <a:b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Data-quality acceptance criteria</a:t>
            </a:r>
            <a:endParaRPr/>
          </a:p>
        </p:txBody>
      </p:sp>
      <p:cxnSp>
        <p:nvCxnSpPr>
          <p:cNvPr id="900" name="Google Shape;900;p19"/>
          <p:cNvCxnSpPr/>
          <p:nvPr/>
        </p:nvCxnSpPr>
        <p:spPr>
          <a:xfrm>
            <a:off x="3703320" y="2907792"/>
            <a:ext cx="338328" cy="0"/>
          </a:xfrm>
          <a:prstGeom prst="straightConnector1">
            <a:avLst/>
          </a:prstGeom>
          <a:noFill/>
          <a:ln cap="flat" cmpd="sng" w="1777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1" name="Google Shape;901;p19"/>
          <p:cNvCxnSpPr/>
          <p:nvPr/>
        </p:nvCxnSpPr>
        <p:spPr>
          <a:xfrm>
            <a:off x="7882127" y="2907792"/>
            <a:ext cx="329185" cy="0"/>
          </a:xfrm>
          <a:prstGeom prst="straightConnector1">
            <a:avLst/>
          </a:prstGeom>
          <a:noFill/>
          <a:ln cap="flat" cmpd="sng" w="17775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2" name="Google Shape;902;p19"/>
          <p:cNvSpPr/>
          <p:nvPr/>
        </p:nvSpPr>
        <p:spPr>
          <a:xfrm>
            <a:off x="1005840" y="4709160"/>
            <a:ext cx="1417320" cy="41148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9"/>
          <p:cNvSpPr txBox="1"/>
          <p:nvPr/>
        </p:nvSpPr>
        <p:spPr>
          <a:xfrm>
            <a:off x="1051560" y="478231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/>
          </a:p>
        </p:txBody>
      </p:sp>
      <p:cxnSp>
        <p:nvCxnSpPr>
          <p:cNvPr id="904" name="Google Shape;904;p19"/>
          <p:cNvCxnSpPr/>
          <p:nvPr/>
        </p:nvCxnSpPr>
        <p:spPr>
          <a:xfrm>
            <a:off x="2423160" y="4910328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5" name="Google Shape;905;p19"/>
          <p:cNvSpPr/>
          <p:nvPr/>
        </p:nvSpPr>
        <p:spPr>
          <a:xfrm>
            <a:off x="3063240" y="4709160"/>
            <a:ext cx="1417320" cy="41148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9"/>
          <p:cNvSpPr txBox="1"/>
          <p:nvPr/>
        </p:nvSpPr>
        <p:spPr>
          <a:xfrm>
            <a:off x="3108960" y="478231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Approve</a:t>
            </a:r>
            <a:endParaRPr/>
          </a:p>
        </p:txBody>
      </p:sp>
      <p:cxnSp>
        <p:nvCxnSpPr>
          <p:cNvPr id="907" name="Google Shape;907;p19"/>
          <p:cNvCxnSpPr/>
          <p:nvPr/>
        </p:nvCxnSpPr>
        <p:spPr>
          <a:xfrm>
            <a:off x="4480560" y="4910328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8" name="Google Shape;908;p19"/>
          <p:cNvSpPr/>
          <p:nvPr/>
        </p:nvSpPr>
        <p:spPr>
          <a:xfrm>
            <a:off x="5120640" y="4709160"/>
            <a:ext cx="1417320" cy="41148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9"/>
          <p:cNvSpPr txBox="1"/>
          <p:nvPr/>
        </p:nvSpPr>
        <p:spPr>
          <a:xfrm>
            <a:off x="5166359" y="478231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Implement</a:t>
            </a:r>
            <a:endParaRPr/>
          </a:p>
        </p:txBody>
      </p:sp>
      <p:cxnSp>
        <p:nvCxnSpPr>
          <p:cNvPr id="910" name="Google Shape;910;p19"/>
          <p:cNvCxnSpPr/>
          <p:nvPr/>
        </p:nvCxnSpPr>
        <p:spPr>
          <a:xfrm>
            <a:off x="6537959" y="4910328"/>
            <a:ext cx="548641" cy="0"/>
          </a:xfrm>
          <a:prstGeom prst="straightConnector1">
            <a:avLst/>
          </a:prstGeom>
          <a:noFill/>
          <a:ln cap="flat" cmpd="sng" w="1395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1" name="Google Shape;911;p19"/>
          <p:cNvSpPr/>
          <p:nvPr/>
        </p:nvSpPr>
        <p:spPr>
          <a:xfrm>
            <a:off x="7178040" y="4709160"/>
            <a:ext cx="1417320" cy="41148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9"/>
          <p:cNvSpPr txBox="1"/>
          <p:nvPr/>
        </p:nvSpPr>
        <p:spPr>
          <a:xfrm>
            <a:off x="7223759" y="478231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</p:txBody>
      </p:sp>
      <p:cxnSp>
        <p:nvCxnSpPr>
          <p:cNvPr id="913" name="Google Shape;913;p19"/>
          <p:cNvCxnSpPr/>
          <p:nvPr/>
        </p:nvCxnSpPr>
        <p:spPr>
          <a:xfrm>
            <a:off x="8595360" y="4910328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4" name="Google Shape;914;p19"/>
          <p:cNvSpPr/>
          <p:nvPr/>
        </p:nvSpPr>
        <p:spPr>
          <a:xfrm>
            <a:off x="9235440" y="4709160"/>
            <a:ext cx="1417320" cy="41148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9"/>
          <p:cNvSpPr txBox="1"/>
          <p:nvPr/>
        </p:nvSpPr>
        <p:spPr>
          <a:xfrm>
            <a:off x="9281160" y="478231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916" name="Google Shape;916;p19"/>
          <p:cNvSpPr/>
          <p:nvPr/>
        </p:nvSpPr>
        <p:spPr>
          <a:xfrm>
            <a:off x="868680" y="5596128"/>
            <a:ext cx="10424160" cy="530352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522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9"/>
          <p:cNvSpPr txBox="1"/>
          <p:nvPr/>
        </p:nvSpPr>
        <p:spPr>
          <a:xfrm>
            <a:off x="960120" y="5705856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Analytics instrumentation becomes part of the production pipeline — not an afterthought.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2" name="Google Shape;9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117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0"/>
          <p:cNvSpPr/>
          <p:nvPr/>
        </p:nvSpPr>
        <p:spPr>
          <a:xfrm>
            <a:off x="0" y="109728"/>
            <a:ext cx="12191695" cy="3200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0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UNITY ANALYTICS INSTRUMENTATION</a:t>
            </a:r>
            <a:endParaRPr/>
          </a:p>
        </p:txBody>
      </p:sp>
      <p:sp>
        <p:nvSpPr>
          <p:cNvPr id="927" name="Google Shape;927;p20"/>
          <p:cNvSpPr/>
          <p:nvPr/>
        </p:nvSpPr>
        <p:spPr>
          <a:xfrm>
            <a:off x="292608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292608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0"/>
          <p:cNvSpPr/>
          <p:nvPr/>
        </p:nvSpPr>
        <p:spPr>
          <a:xfrm>
            <a:off x="11210544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0"/>
          <p:cNvSpPr/>
          <p:nvPr/>
        </p:nvSpPr>
        <p:spPr>
          <a:xfrm>
            <a:off x="11896344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0"/>
          <p:cNvSpPr/>
          <p:nvPr/>
        </p:nvSpPr>
        <p:spPr>
          <a:xfrm>
            <a:off x="292608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292608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0"/>
          <p:cNvSpPr/>
          <p:nvPr/>
        </p:nvSpPr>
        <p:spPr>
          <a:xfrm>
            <a:off x="11210544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0"/>
          <p:cNvSpPr/>
          <p:nvPr/>
        </p:nvSpPr>
        <p:spPr>
          <a:xfrm>
            <a:off x="11896344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0"/>
          <p:cNvSpPr/>
          <p:nvPr/>
        </p:nvSpPr>
        <p:spPr>
          <a:xfrm>
            <a:off x="576072" y="6428232"/>
            <a:ext cx="10881360" cy="9144"/>
          </a:xfrm>
          <a:prstGeom prst="rect">
            <a:avLst/>
          </a:prstGeom>
          <a:solidFill>
            <a:srgbClr val="00778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0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7D9198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937" name="Google Shape;937;p2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938" name="Google Shape;938;p20"/>
          <p:cNvSpPr txBox="1"/>
          <p:nvPr/>
        </p:nvSpPr>
        <p:spPr>
          <a:xfrm>
            <a:off x="658368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AI decides where tracking belongs — then proves it</a:t>
            </a:r>
            <a:endParaRPr/>
          </a:p>
        </p:txBody>
      </p:sp>
      <p:sp>
        <p:nvSpPr>
          <p:cNvPr id="939" name="Google Shape;939;p20"/>
          <p:cNvSpPr txBox="1"/>
          <p:nvPr/>
        </p:nvSpPr>
        <p:spPr>
          <a:xfrm>
            <a:off x="694944" y="10698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The agent should not randomly inject analytics calls. It proposes trigger points, event names, properties, and validation tests as a reviewable contract.</a:t>
            </a:r>
            <a:endParaRPr/>
          </a:p>
        </p:txBody>
      </p:sp>
      <p:sp>
        <p:nvSpPr>
          <p:cNvPr id="940" name="Google Shape;940;p20"/>
          <p:cNvSpPr txBox="1"/>
          <p:nvPr/>
        </p:nvSpPr>
        <p:spPr>
          <a:xfrm>
            <a:off x="841248" y="17556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Unity trigger map</a:t>
            </a:r>
            <a:endParaRPr/>
          </a:p>
        </p:txBody>
      </p:sp>
      <p:sp>
        <p:nvSpPr>
          <p:cNvPr id="941" name="Google Shape;941;p20"/>
          <p:cNvSpPr/>
          <p:nvPr/>
        </p:nvSpPr>
        <p:spPr>
          <a:xfrm>
            <a:off x="777240" y="2148840"/>
            <a:ext cx="3063240" cy="429768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14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0"/>
          <p:cNvSpPr txBox="1"/>
          <p:nvPr/>
        </p:nvSpPr>
        <p:spPr>
          <a:xfrm>
            <a:off x="914400" y="222199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UI action</a:t>
            </a:r>
            <a:endParaRPr/>
          </a:p>
        </p:txBody>
      </p:sp>
      <p:sp>
        <p:nvSpPr>
          <p:cNvPr id="943" name="Google Shape;943;p20"/>
          <p:cNvSpPr txBox="1"/>
          <p:nvPr/>
        </p:nvSpPr>
        <p:spPr>
          <a:xfrm>
            <a:off x="2057400" y="2221992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button click • screen enter</a:t>
            </a:r>
            <a:endParaRPr/>
          </a:p>
        </p:txBody>
      </p:sp>
      <p:sp>
        <p:nvSpPr>
          <p:cNvPr id="944" name="Google Shape;944;p20"/>
          <p:cNvSpPr/>
          <p:nvPr/>
        </p:nvSpPr>
        <p:spPr>
          <a:xfrm>
            <a:off x="777240" y="2724912"/>
            <a:ext cx="3063240" cy="429768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14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0"/>
          <p:cNvSpPr txBox="1"/>
          <p:nvPr/>
        </p:nvSpPr>
        <p:spPr>
          <a:xfrm>
            <a:off x="914400" y="27980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Tutorial gate</a:t>
            </a:r>
            <a:endParaRPr/>
          </a:p>
        </p:txBody>
      </p:sp>
      <p:sp>
        <p:nvSpPr>
          <p:cNvPr id="946" name="Google Shape;946;p20"/>
          <p:cNvSpPr txBox="1"/>
          <p:nvPr/>
        </p:nvSpPr>
        <p:spPr>
          <a:xfrm>
            <a:off x="2057400" y="279806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step start / complete / fail</a:t>
            </a:r>
            <a:endParaRPr/>
          </a:p>
        </p:txBody>
      </p:sp>
      <p:sp>
        <p:nvSpPr>
          <p:cNvPr id="947" name="Google Shape;947;p20"/>
          <p:cNvSpPr/>
          <p:nvPr/>
        </p:nvSpPr>
        <p:spPr>
          <a:xfrm>
            <a:off x="777240" y="3300984"/>
            <a:ext cx="3063240" cy="429768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0"/>
          <p:cNvSpPr txBox="1"/>
          <p:nvPr/>
        </p:nvSpPr>
        <p:spPr>
          <a:xfrm>
            <a:off x="914400" y="3374136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Mission state</a:t>
            </a:r>
            <a:endParaRPr/>
          </a:p>
        </p:txBody>
      </p:sp>
      <p:sp>
        <p:nvSpPr>
          <p:cNvPr id="949" name="Google Shape;949;p20"/>
          <p:cNvSpPr txBox="1"/>
          <p:nvPr/>
        </p:nvSpPr>
        <p:spPr>
          <a:xfrm>
            <a:off x="2057400" y="3374136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start • win • abandon • retry</a:t>
            </a:r>
            <a:endParaRPr/>
          </a:p>
        </p:txBody>
      </p:sp>
      <p:sp>
        <p:nvSpPr>
          <p:cNvPr id="950" name="Google Shape;950;p20"/>
          <p:cNvSpPr/>
          <p:nvPr/>
        </p:nvSpPr>
        <p:spPr>
          <a:xfrm>
            <a:off x="777240" y="3877056"/>
            <a:ext cx="3063240" cy="429768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0"/>
          <p:cNvSpPr txBox="1"/>
          <p:nvPr/>
        </p:nvSpPr>
        <p:spPr>
          <a:xfrm>
            <a:off x="914400" y="3950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Economy event</a:t>
            </a:r>
            <a:endParaRPr/>
          </a:p>
        </p:txBody>
      </p:sp>
      <p:sp>
        <p:nvSpPr>
          <p:cNvPr id="952" name="Google Shape;952;p20"/>
          <p:cNvSpPr txBox="1"/>
          <p:nvPr/>
        </p:nvSpPr>
        <p:spPr>
          <a:xfrm>
            <a:off x="2057400" y="3950208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reward • spend • unlock</a:t>
            </a:r>
            <a:endParaRPr/>
          </a:p>
        </p:txBody>
      </p:sp>
      <p:sp>
        <p:nvSpPr>
          <p:cNvPr id="953" name="Google Shape;953;p20"/>
          <p:cNvSpPr/>
          <p:nvPr/>
        </p:nvSpPr>
        <p:spPr>
          <a:xfrm>
            <a:off x="777240" y="4453128"/>
            <a:ext cx="3063240" cy="429768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0"/>
          <p:cNvSpPr txBox="1"/>
          <p:nvPr/>
        </p:nvSpPr>
        <p:spPr>
          <a:xfrm>
            <a:off x="914400" y="452628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Gameplay signal</a:t>
            </a:r>
            <a:endParaRPr/>
          </a:p>
        </p:txBody>
      </p:sp>
      <p:sp>
        <p:nvSpPr>
          <p:cNvPr id="955" name="Google Shape;955;p20"/>
          <p:cNvSpPr txBox="1"/>
          <p:nvPr/>
        </p:nvSpPr>
        <p:spPr>
          <a:xfrm>
            <a:off x="2057400" y="452628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unit deploy • objective captured</a:t>
            </a:r>
            <a:endParaRPr/>
          </a:p>
        </p:txBody>
      </p:sp>
      <p:sp>
        <p:nvSpPr>
          <p:cNvPr id="956" name="Google Shape;956;p20"/>
          <p:cNvSpPr/>
          <p:nvPr/>
        </p:nvSpPr>
        <p:spPr>
          <a:xfrm>
            <a:off x="4343400" y="1783080"/>
            <a:ext cx="3337560" cy="3246120"/>
          </a:xfrm>
          <a:prstGeom prst="rect">
            <a:avLst/>
          </a:prstGeom>
          <a:solidFill>
            <a:srgbClr val="06171B">
              <a:alpha val="92156"/>
            </a:srgbClr>
          </a:solidFill>
          <a:ln cap="flat" cmpd="sng" w="1522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0"/>
          <p:cNvSpPr txBox="1"/>
          <p:nvPr/>
        </p:nvSpPr>
        <p:spPr>
          <a:xfrm>
            <a:off x="4572000" y="199339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Event contract</a:t>
            </a:r>
            <a:endParaRPr/>
          </a:p>
        </p:txBody>
      </p:sp>
      <p:sp>
        <p:nvSpPr>
          <p:cNvPr id="958" name="Google Shape;958;p20"/>
          <p:cNvSpPr txBox="1"/>
          <p:nvPr/>
        </p:nvSpPr>
        <p:spPr>
          <a:xfrm>
            <a:off x="4617720" y="2423160"/>
            <a:ext cx="2788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  <a:t>mission_started</a:t>
            </a:r>
            <a:b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</a:br>
            <a: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  <a:t>mission_abandoned</a:t>
            </a:r>
            <a:b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</a:br>
            <a: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  <a:t>tutorial_step_completed</a:t>
            </a:r>
            <a:b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</a:br>
            <a: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  <a:t>unit_deployed</a:t>
            </a:r>
            <a:b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</a:br>
            <a:r>
              <a:rPr b="0" i="0" lang="en-US" sz="1350">
                <a:solidFill>
                  <a:srgbClr val="ECFAFF"/>
                </a:solidFill>
                <a:latin typeface="Cascadia Mono"/>
                <a:ea typeface="Cascadia Mono"/>
                <a:cs typeface="Cascadia Mono"/>
                <a:sym typeface="Cascadia Mono"/>
              </a:rPr>
              <a:t>reward_claimed</a:t>
            </a:r>
            <a:endParaRPr/>
          </a:p>
        </p:txBody>
      </p:sp>
      <p:sp>
        <p:nvSpPr>
          <p:cNvPr id="959" name="Google Shape;959;p20"/>
          <p:cNvSpPr txBox="1"/>
          <p:nvPr/>
        </p:nvSpPr>
        <p:spPr>
          <a:xfrm>
            <a:off x="4617720" y="38862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Required properties: mission_id, step_id, player_level, attempt_no, build_version, session_id</a:t>
            </a:r>
            <a:endParaRPr/>
          </a:p>
        </p:txBody>
      </p:sp>
      <p:sp>
        <p:nvSpPr>
          <p:cNvPr id="960" name="Google Shape;960;p20"/>
          <p:cNvSpPr/>
          <p:nvPr/>
        </p:nvSpPr>
        <p:spPr>
          <a:xfrm>
            <a:off x="8183879" y="1783080"/>
            <a:ext cx="3337560" cy="3246120"/>
          </a:xfrm>
          <a:prstGeom prst="rect">
            <a:avLst/>
          </a:prstGeom>
          <a:solidFill>
            <a:srgbClr val="031912">
              <a:alpha val="90980"/>
            </a:srgbClr>
          </a:solidFill>
          <a:ln cap="flat" cmpd="sng" w="15225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0"/>
          <p:cNvSpPr/>
          <p:nvPr/>
        </p:nvSpPr>
        <p:spPr>
          <a:xfrm>
            <a:off x="8257031" y="1865376"/>
            <a:ext cx="256032" cy="9144"/>
          </a:xfrm>
          <a:prstGeom prst="rect">
            <a:avLst/>
          </a:prstGeom>
          <a:solidFill>
            <a:srgbClr val="62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0"/>
          <p:cNvSpPr/>
          <p:nvPr/>
        </p:nvSpPr>
        <p:spPr>
          <a:xfrm>
            <a:off x="11173967" y="4919472"/>
            <a:ext cx="256032" cy="9144"/>
          </a:xfrm>
          <a:prstGeom prst="rect">
            <a:avLst/>
          </a:prstGeom>
          <a:solidFill>
            <a:srgbClr val="62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0"/>
          <p:cNvSpPr txBox="1"/>
          <p:nvPr/>
        </p:nvSpPr>
        <p:spPr>
          <a:xfrm>
            <a:off x="8348471" y="1947672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/>
          </a:p>
        </p:txBody>
      </p:sp>
      <p:sp>
        <p:nvSpPr>
          <p:cNvPr id="964" name="Google Shape;964;p20"/>
          <p:cNvSpPr txBox="1"/>
          <p:nvPr/>
        </p:nvSpPr>
        <p:spPr>
          <a:xfrm>
            <a:off x="8348471" y="2286000"/>
            <a:ext cx="300837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PM approves schema before code changes</a:t>
            </a:r>
            <a:b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Privacy / consent rules checked</a:t>
            </a:r>
            <a:b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No missing or duplicate events</a:t>
            </a:r>
            <a:b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Required properties validated</a:t>
            </a:r>
            <a:b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Test fails if event coverage breaks</a:t>
            </a:r>
            <a:b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• Dashboards show data-quality warnings</a:t>
            </a:r>
            <a:endParaRPr/>
          </a:p>
        </p:txBody>
      </p:sp>
      <p:cxnSp>
        <p:nvCxnSpPr>
          <p:cNvPr id="965" name="Google Shape;965;p20"/>
          <p:cNvCxnSpPr/>
          <p:nvPr/>
        </p:nvCxnSpPr>
        <p:spPr>
          <a:xfrm>
            <a:off x="3840480" y="3291840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20"/>
          <p:cNvCxnSpPr/>
          <p:nvPr/>
        </p:nvCxnSpPr>
        <p:spPr>
          <a:xfrm>
            <a:off x="7680960" y="3291840"/>
            <a:ext cx="502919" cy="0"/>
          </a:xfrm>
          <a:prstGeom prst="straightConnector1">
            <a:avLst/>
          </a:prstGeom>
          <a:noFill/>
          <a:ln cap="flat" cmpd="sng" w="17775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7" name="Google Shape;967;p20"/>
          <p:cNvSpPr/>
          <p:nvPr/>
        </p:nvSpPr>
        <p:spPr>
          <a:xfrm>
            <a:off x="868680" y="5577840"/>
            <a:ext cx="10424160" cy="530352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522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0"/>
          <p:cNvSpPr txBox="1"/>
          <p:nvPr/>
        </p:nvSpPr>
        <p:spPr>
          <a:xfrm>
            <a:off x="960120" y="568756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Codex can add the tracking calls, but the analytics contract, privacy boundary, and acceptance tests stay human-reviewable.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3" name="Google Shape;9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117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1"/>
          <p:cNvSpPr/>
          <p:nvPr/>
        </p:nvSpPr>
        <p:spPr>
          <a:xfrm>
            <a:off x="0" y="109728"/>
            <a:ext cx="12191695" cy="3200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1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PRODUCT INTELLIGENCE LOOP</a:t>
            </a:r>
            <a:endParaRPr/>
          </a:p>
        </p:txBody>
      </p:sp>
      <p:sp>
        <p:nvSpPr>
          <p:cNvPr id="978" name="Google Shape;978;p21"/>
          <p:cNvSpPr/>
          <p:nvPr/>
        </p:nvSpPr>
        <p:spPr>
          <a:xfrm>
            <a:off x="292608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1"/>
          <p:cNvSpPr/>
          <p:nvPr/>
        </p:nvSpPr>
        <p:spPr>
          <a:xfrm>
            <a:off x="292608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1"/>
          <p:cNvSpPr/>
          <p:nvPr/>
        </p:nvSpPr>
        <p:spPr>
          <a:xfrm>
            <a:off x="11210544" y="292608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1"/>
          <p:cNvSpPr/>
          <p:nvPr/>
        </p:nvSpPr>
        <p:spPr>
          <a:xfrm>
            <a:off x="11896344" y="292608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21"/>
          <p:cNvSpPr/>
          <p:nvPr/>
        </p:nvSpPr>
        <p:spPr>
          <a:xfrm>
            <a:off x="292608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21"/>
          <p:cNvSpPr/>
          <p:nvPr/>
        </p:nvSpPr>
        <p:spPr>
          <a:xfrm>
            <a:off x="292608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1"/>
          <p:cNvSpPr/>
          <p:nvPr/>
        </p:nvSpPr>
        <p:spPr>
          <a:xfrm>
            <a:off x="11210544" y="6126480"/>
            <a:ext cx="685800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1"/>
          <p:cNvSpPr/>
          <p:nvPr/>
        </p:nvSpPr>
        <p:spPr>
          <a:xfrm>
            <a:off x="11896344" y="6126480"/>
            <a:ext cx="9144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1"/>
          <p:cNvSpPr/>
          <p:nvPr/>
        </p:nvSpPr>
        <p:spPr>
          <a:xfrm>
            <a:off x="576072" y="6428232"/>
            <a:ext cx="10881360" cy="9144"/>
          </a:xfrm>
          <a:prstGeom prst="rect">
            <a:avLst/>
          </a:prstGeom>
          <a:solidFill>
            <a:srgbClr val="00778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1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7D9198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988" name="Google Shape;988;p2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989" name="Google Shape;989;p21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From telemetry to design fixes</a:t>
            </a:r>
            <a:endParaRPr/>
          </a:p>
        </p:txBody>
      </p:sp>
      <p:sp>
        <p:nvSpPr>
          <p:cNvPr id="990" name="Google Shape;990;p21"/>
          <p:cNvSpPr txBox="1"/>
          <p:nvPr/>
        </p:nvSpPr>
        <p:spPr>
          <a:xfrm>
            <a:off x="694944" y="1078992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Analytics Agent reads Mixpanel, Firebase, BigQuery, playtest notes, and build telemetry; then turns player behavior into hypotheses, experiments, and implementation tasks.</a:t>
            </a:r>
            <a:endParaRPr/>
          </a:p>
        </p:txBody>
      </p:sp>
      <p:sp>
        <p:nvSpPr>
          <p:cNvPr id="991" name="Google Shape;991;p21"/>
          <p:cNvSpPr/>
          <p:nvPr/>
        </p:nvSpPr>
        <p:spPr>
          <a:xfrm>
            <a:off x="868680" y="1691640"/>
            <a:ext cx="2011680" cy="45720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1"/>
          <p:cNvSpPr txBox="1"/>
          <p:nvPr/>
        </p:nvSpPr>
        <p:spPr>
          <a:xfrm>
            <a:off x="914400" y="1764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Mixpanel</a:t>
            </a:r>
            <a:endParaRPr/>
          </a:p>
        </p:txBody>
      </p:sp>
      <p:cxnSp>
        <p:nvCxnSpPr>
          <p:cNvPr id="993" name="Google Shape;993;p21"/>
          <p:cNvCxnSpPr/>
          <p:nvPr/>
        </p:nvCxnSpPr>
        <p:spPr>
          <a:xfrm>
            <a:off x="1874519" y="2148840"/>
            <a:ext cx="4206241" cy="484632"/>
          </a:xfrm>
          <a:prstGeom prst="straightConnector1">
            <a:avLst/>
          </a:prstGeom>
          <a:noFill/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4" name="Google Shape;994;p21"/>
          <p:cNvSpPr/>
          <p:nvPr/>
        </p:nvSpPr>
        <p:spPr>
          <a:xfrm>
            <a:off x="3383280" y="1691640"/>
            <a:ext cx="2011680" cy="45720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1"/>
          <p:cNvSpPr txBox="1"/>
          <p:nvPr/>
        </p:nvSpPr>
        <p:spPr>
          <a:xfrm>
            <a:off x="3429000" y="1764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Firebase</a:t>
            </a:r>
            <a:endParaRPr/>
          </a:p>
        </p:txBody>
      </p:sp>
      <p:cxnSp>
        <p:nvCxnSpPr>
          <p:cNvPr id="996" name="Google Shape;996;p21"/>
          <p:cNvCxnSpPr/>
          <p:nvPr/>
        </p:nvCxnSpPr>
        <p:spPr>
          <a:xfrm>
            <a:off x="4389120" y="2148840"/>
            <a:ext cx="1691640" cy="484632"/>
          </a:xfrm>
          <a:prstGeom prst="straightConnector1">
            <a:avLst/>
          </a:prstGeom>
          <a:noFill/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7" name="Google Shape;997;p21"/>
          <p:cNvSpPr/>
          <p:nvPr/>
        </p:nvSpPr>
        <p:spPr>
          <a:xfrm>
            <a:off x="5897880" y="1691640"/>
            <a:ext cx="2011680" cy="45720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1"/>
          <p:cNvSpPr txBox="1"/>
          <p:nvPr/>
        </p:nvSpPr>
        <p:spPr>
          <a:xfrm>
            <a:off x="5943600" y="1764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/>
          </a:p>
        </p:txBody>
      </p:sp>
      <p:cxnSp>
        <p:nvCxnSpPr>
          <p:cNvPr id="999" name="Google Shape;999;p21"/>
          <p:cNvCxnSpPr/>
          <p:nvPr/>
        </p:nvCxnSpPr>
        <p:spPr>
          <a:xfrm flipH="1">
            <a:off x="6080760" y="2148840"/>
            <a:ext cx="822960" cy="484632"/>
          </a:xfrm>
          <a:prstGeom prst="straightConnector1">
            <a:avLst/>
          </a:prstGeom>
          <a:noFill/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0" name="Google Shape;1000;p21"/>
          <p:cNvSpPr/>
          <p:nvPr/>
        </p:nvSpPr>
        <p:spPr>
          <a:xfrm>
            <a:off x="8412480" y="1691640"/>
            <a:ext cx="2011680" cy="457200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395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1"/>
          <p:cNvSpPr txBox="1"/>
          <p:nvPr/>
        </p:nvSpPr>
        <p:spPr>
          <a:xfrm>
            <a:off x="8458200" y="1764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Playtest notes</a:t>
            </a:r>
            <a:endParaRPr/>
          </a:p>
        </p:txBody>
      </p:sp>
      <p:cxnSp>
        <p:nvCxnSpPr>
          <p:cNvPr id="1002" name="Google Shape;1002;p21"/>
          <p:cNvCxnSpPr/>
          <p:nvPr/>
        </p:nvCxnSpPr>
        <p:spPr>
          <a:xfrm flipH="1">
            <a:off x="6080760" y="2148840"/>
            <a:ext cx="3337559" cy="484632"/>
          </a:xfrm>
          <a:prstGeom prst="straightConnector1">
            <a:avLst/>
          </a:prstGeom>
          <a:noFill/>
          <a:ln cap="flat" cmpd="sng" w="11425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3" name="Google Shape;1003;p21"/>
          <p:cNvSpPr/>
          <p:nvPr/>
        </p:nvSpPr>
        <p:spPr>
          <a:xfrm>
            <a:off x="4160520" y="2651760"/>
            <a:ext cx="3886200" cy="749808"/>
          </a:xfrm>
          <a:prstGeom prst="rect">
            <a:avLst/>
          </a:prstGeom>
          <a:solidFill>
            <a:srgbClr val="111508">
              <a:alpha val="92941"/>
            </a:srgbClr>
          </a:solidFill>
          <a:ln cap="flat" cmpd="sng" w="1777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1"/>
          <p:cNvSpPr txBox="1"/>
          <p:nvPr/>
        </p:nvSpPr>
        <p:spPr>
          <a:xfrm>
            <a:off x="4343400" y="2816352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Analytics Agent</a:t>
            </a:r>
            <a:endParaRPr/>
          </a:p>
        </p:txBody>
      </p:sp>
      <p:sp>
        <p:nvSpPr>
          <p:cNvPr id="1005" name="Google Shape;1005;p21"/>
          <p:cNvSpPr/>
          <p:nvPr/>
        </p:nvSpPr>
        <p:spPr>
          <a:xfrm>
            <a:off x="640080" y="3794760"/>
            <a:ext cx="1920240" cy="822960"/>
          </a:xfrm>
          <a:prstGeom prst="rect">
            <a:avLst/>
          </a:prstGeom>
          <a:solidFill>
            <a:srgbClr val="041B22">
              <a:alpha val="90980"/>
            </a:srgbClr>
          </a:solidFill>
          <a:ln cap="flat" cmpd="sng" w="12700">
            <a:solidFill>
              <a:srgbClr val="FF5A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1"/>
          <p:cNvSpPr txBox="1"/>
          <p:nvPr/>
        </p:nvSpPr>
        <p:spPr>
          <a:xfrm>
            <a:off x="731519" y="395020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Detect issue</a:t>
            </a:r>
            <a:endParaRPr/>
          </a:p>
        </p:txBody>
      </p:sp>
      <p:sp>
        <p:nvSpPr>
          <p:cNvPr id="1007" name="Google Shape;1007;p21"/>
          <p:cNvSpPr txBox="1"/>
          <p:nvPr/>
        </p:nvSpPr>
        <p:spPr>
          <a:xfrm>
            <a:off x="731519" y="41879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drop-off • churn</a:t>
            </a:r>
            <a:b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friction • failure</a:t>
            </a:r>
            <a:endParaRPr/>
          </a:p>
        </p:txBody>
      </p:sp>
      <p:cxnSp>
        <p:nvCxnSpPr>
          <p:cNvPr id="1008" name="Google Shape;1008;p21"/>
          <p:cNvCxnSpPr/>
          <p:nvPr/>
        </p:nvCxnSpPr>
        <p:spPr>
          <a:xfrm>
            <a:off x="2560320" y="4206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9" name="Google Shape;1009;p21"/>
          <p:cNvSpPr/>
          <p:nvPr/>
        </p:nvSpPr>
        <p:spPr>
          <a:xfrm>
            <a:off x="2926080" y="3794760"/>
            <a:ext cx="1920240" cy="822960"/>
          </a:xfrm>
          <a:prstGeom prst="rect">
            <a:avLst/>
          </a:prstGeom>
          <a:solidFill>
            <a:srgbClr val="041B22">
              <a:alpha val="90980"/>
            </a:srgbClr>
          </a:solidFill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1"/>
          <p:cNvSpPr txBox="1"/>
          <p:nvPr/>
        </p:nvSpPr>
        <p:spPr>
          <a:xfrm>
            <a:off x="3017520" y="395020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/>
          </a:p>
        </p:txBody>
      </p:sp>
      <p:sp>
        <p:nvSpPr>
          <p:cNvPr id="1011" name="Google Shape;1011;p21"/>
          <p:cNvSpPr txBox="1"/>
          <p:nvPr/>
        </p:nvSpPr>
        <p:spPr>
          <a:xfrm>
            <a:off x="3017520" y="41879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cohort + funnel</a:t>
            </a:r>
            <a:b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/>
          </a:p>
        </p:txBody>
      </p:sp>
      <p:cxnSp>
        <p:nvCxnSpPr>
          <p:cNvPr id="1012" name="Google Shape;1012;p21"/>
          <p:cNvCxnSpPr/>
          <p:nvPr/>
        </p:nvCxnSpPr>
        <p:spPr>
          <a:xfrm>
            <a:off x="4846320" y="4206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3" name="Google Shape;1013;p21"/>
          <p:cNvSpPr/>
          <p:nvPr/>
        </p:nvSpPr>
        <p:spPr>
          <a:xfrm>
            <a:off x="5212080" y="3794760"/>
            <a:ext cx="1920240" cy="822960"/>
          </a:xfrm>
          <a:prstGeom prst="rect">
            <a:avLst/>
          </a:prstGeom>
          <a:solidFill>
            <a:srgbClr val="041B22">
              <a:alpha val="90980"/>
            </a:srgbClr>
          </a:solidFill>
          <a:ln cap="flat" cmpd="sng" w="12700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1"/>
          <p:cNvSpPr txBox="1"/>
          <p:nvPr/>
        </p:nvSpPr>
        <p:spPr>
          <a:xfrm>
            <a:off x="5303520" y="395020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Propose fix</a:t>
            </a:r>
            <a:endParaRPr/>
          </a:p>
        </p:txBody>
      </p:sp>
      <p:sp>
        <p:nvSpPr>
          <p:cNvPr id="1015" name="Google Shape;1015;p21"/>
          <p:cNvSpPr txBox="1"/>
          <p:nvPr/>
        </p:nvSpPr>
        <p:spPr>
          <a:xfrm>
            <a:off x="5303520" y="41879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design task</a:t>
            </a:r>
            <a:b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A/B candidate</a:t>
            </a:r>
            <a:endParaRPr/>
          </a:p>
        </p:txBody>
      </p:sp>
      <p:cxnSp>
        <p:nvCxnSpPr>
          <p:cNvPr id="1016" name="Google Shape;1016;p21"/>
          <p:cNvCxnSpPr/>
          <p:nvPr/>
        </p:nvCxnSpPr>
        <p:spPr>
          <a:xfrm>
            <a:off x="7132320" y="4206240"/>
            <a:ext cx="320039" cy="0"/>
          </a:xfrm>
          <a:prstGeom prst="straightConnector1">
            <a:avLst/>
          </a:prstGeom>
          <a:noFill/>
          <a:ln cap="flat" cmpd="sng" w="1270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7" name="Google Shape;1017;p21"/>
          <p:cNvSpPr/>
          <p:nvPr/>
        </p:nvSpPr>
        <p:spPr>
          <a:xfrm>
            <a:off x="7498079" y="3794760"/>
            <a:ext cx="1920240" cy="822960"/>
          </a:xfrm>
          <a:prstGeom prst="rect">
            <a:avLst/>
          </a:prstGeom>
          <a:solidFill>
            <a:srgbClr val="041B22">
              <a:alpha val="90980"/>
            </a:srgbClr>
          </a:solidFill>
          <a:ln cap="flat" cmpd="sng" w="12700">
            <a:solidFill>
              <a:srgbClr val="62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1"/>
          <p:cNvSpPr txBox="1"/>
          <p:nvPr/>
        </p:nvSpPr>
        <p:spPr>
          <a:xfrm>
            <a:off x="7589519" y="395020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Implement</a:t>
            </a:r>
            <a:endParaRPr/>
          </a:p>
        </p:txBody>
      </p:sp>
      <p:sp>
        <p:nvSpPr>
          <p:cNvPr id="1019" name="Google Shape;1019;p21"/>
          <p:cNvSpPr txBox="1"/>
          <p:nvPr/>
        </p:nvSpPr>
        <p:spPr>
          <a:xfrm>
            <a:off x="7589519" y="41879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Designer + Codex</a:t>
            </a:r>
            <a:b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QA validates</a:t>
            </a:r>
            <a:endParaRPr/>
          </a:p>
        </p:txBody>
      </p:sp>
      <p:cxnSp>
        <p:nvCxnSpPr>
          <p:cNvPr id="1020" name="Google Shape;1020;p21"/>
          <p:cNvCxnSpPr/>
          <p:nvPr/>
        </p:nvCxnSpPr>
        <p:spPr>
          <a:xfrm>
            <a:off x="9418319" y="4206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077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1" name="Google Shape;1021;p21"/>
          <p:cNvSpPr/>
          <p:nvPr/>
        </p:nvSpPr>
        <p:spPr>
          <a:xfrm>
            <a:off x="9784080" y="3794760"/>
            <a:ext cx="1920240" cy="822960"/>
          </a:xfrm>
          <a:prstGeom prst="rect">
            <a:avLst/>
          </a:prstGeom>
          <a:solidFill>
            <a:srgbClr val="041B22">
              <a:alpha val="90980"/>
            </a:srgbClr>
          </a:solidFill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21"/>
          <p:cNvSpPr txBox="1"/>
          <p:nvPr/>
        </p:nvSpPr>
        <p:spPr>
          <a:xfrm>
            <a:off x="9875519" y="395020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/>
          </a:p>
        </p:txBody>
      </p:sp>
      <p:sp>
        <p:nvSpPr>
          <p:cNvPr id="1023" name="Google Shape;1023;p21"/>
          <p:cNvSpPr txBox="1"/>
          <p:nvPr/>
        </p:nvSpPr>
        <p:spPr>
          <a:xfrm>
            <a:off x="9875519" y="41879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retention + completion</a:t>
            </a:r>
            <a:b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4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impact report</a:t>
            </a:r>
            <a:endParaRPr/>
          </a:p>
        </p:txBody>
      </p:sp>
      <p:sp>
        <p:nvSpPr>
          <p:cNvPr id="1024" name="Google Shape;1024;p21"/>
          <p:cNvSpPr/>
          <p:nvPr/>
        </p:nvSpPr>
        <p:spPr>
          <a:xfrm>
            <a:off x="868680" y="5166360"/>
            <a:ext cx="10424160" cy="804672"/>
          </a:xfrm>
          <a:prstGeom prst="rect">
            <a:avLst/>
          </a:prstGeom>
          <a:solidFill>
            <a:srgbClr val="041B22">
              <a:alpha val="90196"/>
            </a:srgbClr>
          </a:solidFill>
          <a:ln cap="flat" cmpd="sng" w="15225">
            <a:solidFill>
              <a:srgbClr val="FFC4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1"/>
          <p:cNvSpPr txBox="1"/>
          <p:nvPr/>
        </p:nvSpPr>
        <p:spPr>
          <a:xfrm>
            <a:off x="1024128" y="530352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026" name="Google Shape;1026;p21"/>
          <p:cNvSpPr txBox="1"/>
          <p:nvPr/>
        </p:nvSpPr>
        <p:spPr>
          <a:xfrm>
            <a:off x="1874519" y="5266944"/>
            <a:ext cx="9235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Mission-2 drop-off detected → simplify objective, add guided UI hint, reduce first enemy wave pressure, ship A/B test, measure mission completion + D1 retention.</a:t>
            </a:r>
            <a:endParaRPr/>
          </a:p>
        </p:txBody>
      </p:sp>
      <p:sp>
        <p:nvSpPr>
          <p:cNvPr id="1027" name="Google Shape;1027;p21"/>
          <p:cNvSpPr txBox="1"/>
          <p:nvPr/>
        </p:nvSpPr>
        <p:spPr>
          <a:xfrm>
            <a:off x="1874519" y="5687568"/>
            <a:ext cx="9189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DB4BC"/>
                </a:solidFill>
                <a:latin typeface="Arial"/>
                <a:ea typeface="Arial"/>
                <a:cs typeface="Arial"/>
                <a:sym typeface="Arial"/>
              </a:rPr>
              <a:t>The PM agent receives the insight, risk, proposed experiment, owner agents, and success metric before work starts.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2" name="Google Shape;10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19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22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FFB000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6" name="Google Shape;1036;p22"/>
          <p:cNvCxnSpPr/>
          <p:nvPr/>
        </p:nvCxnSpPr>
        <p:spPr>
          <a:xfrm>
            <a:off x="292608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7" name="Google Shape;1037;p22"/>
          <p:cNvCxnSpPr/>
          <p:nvPr/>
        </p:nvCxnSpPr>
        <p:spPr>
          <a:xfrm>
            <a:off x="292608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8" name="Google Shape;1038;p22"/>
          <p:cNvCxnSpPr/>
          <p:nvPr/>
        </p:nvCxnSpPr>
        <p:spPr>
          <a:xfrm>
            <a:off x="11338560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9" name="Google Shape;1039;p22"/>
          <p:cNvCxnSpPr/>
          <p:nvPr/>
        </p:nvCxnSpPr>
        <p:spPr>
          <a:xfrm>
            <a:off x="11887200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0" name="Google Shape;1040;p22"/>
          <p:cNvCxnSpPr/>
          <p:nvPr/>
        </p:nvCxnSpPr>
        <p:spPr>
          <a:xfrm>
            <a:off x="292608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1" name="Google Shape;1041;p22"/>
          <p:cNvCxnSpPr/>
          <p:nvPr/>
        </p:nvCxnSpPr>
        <p:spPr>
          <a:xfrm>
            <a:off x="292608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2" name="Google Shape;1042;p22"/>
          <p:cNvCxnSpPr/>
          <p:nvPr/>
        </p:nvCxnSpPr>
        <p:spPr>
          <a:xfrm>
            <a:off x="11338560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" name="Google Shape;1043;p22"/>
          <p:cNvCxnSpPr/>
          <p:nvPr/>
        </p:nvCxnSpPr>
        <p:spPr>
          <a:xfrm>
            <a:off x="11887200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4" name="Google Shape;1044;p22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0F0FF"/>
                </a:solidFill>
                <a:latin typeface="Play"/>
                <a:ea typeface="Play"/>
                <a:cs typeface="Play"/>
                <a:sym typeface="Play"/>
              </a:rPr>
              <a:t>MATURE PROJECTS</a:t>
            </a:r>
            <a:endParaRPr/>
          </a:p>
        </p:txBody>
      </p:sp>
      <p:sp>
        <p:nvSpPr>
          <p:cNvPr id="1045" name="Google Shape;1045;p22"/>
          <p:cNvSpPr txBox="1"/>
          <p:nvPr/>
        </p:nvSpPr>
        <p:spPr>
          <a:xfrm>
            <a:off x="658368" y="56692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Existing projects: AI as recovery layer</a:t>
            </a:r>
            <a:endParaRPr/>
          </a:p>
        </p:txBody>
      </p:sp>
      <p:sp>
        <p:nvSpPr>
          <p:cNvPr id="1046" name="Google Shape;1046;p22"/>
          <p:cNvSpPr txBox="1"/>
          <p:nvPr/>
        </p:nvSpPr>
        <p:spPr>
          <a:xfrm>
            <a:off x="694944" y="1133856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AB0B7"/>
                </a:solidFill>
                <a:latin typeface="Arial"/>
                <a:ea typeface="Arial"/>
                <a:cs typeface="Arial"/>
                <a:sym typeface="Arial"/>
              </a:rPr>
              <a:t>When a large Unity project has release candidates but weak DAU/MAU, AI shifts from creation to diagnosis, stabilization, and measured iteration.</a:t>
            </a:r>
            <a:endParaRPr/>
          </a:p>
        </p:txBody>
      </p:sp>
      <p:sp>
        <p:nvSpPr>
          <p:cNvPr id="1047" name="Google Shape;1047;p22"/>
          <p:cNvSpPr/>
          <p:nvPr/>
        </p:nvSpPr>
        <p:spPr>
          <a:xfrm>
            <a:off x="749808" y="1874519"/>
            <a:ext cx="3429000" cy="2395728"/>
          </a:xfrm>
          <a:prstGeom prst="rect">
            <a:avLst/>
          </a:prstGeom>
          <a:solidFill>
            <a:srgbClr val="041A20">
              <a:alpha val="81960"/>
            </a:srgbClr>
          </a:solidFill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8" name="Google Shape;1048;p22"/>
          <p:cNvCxnSpPr/>
          <p:nvPr/>
        </p:nvCxnSpPr>
        <p:spPr>
          <a:xfrm>
            <a:off x="859536" y="198424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9" name="Google Shape;1049;p22"/>
          <p:cNvCxnSpPr/>
          <p:nvPr/>
        </p:nvCxnSpPr>
        <p:spPr>
          <a:xfrm>
            <a:off x="3794760" y="4160520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0" name="Google Shape;1050;p22"/>
          <p:cNvSpPr txBox="1"/>
          <p:nvPr/>
        </p:nvSpPr>
        <p:spPr>
          <a:xfrm>
            <a:off x="950976" y="2020824"/>
            <a:ext cx="3026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1. Audit what exists</a:t>
            </a:r>
            <a:endParaRPr/>
          </a:p>
        </p:txBody>
      </p:sp>
      <p:sp>
        <p:nvSpPr>
          <p:cNvPr id="1051" name="Google Shape;1051;p22"/>
          <p:cNvSpPr txBox="1"/>
          <p:nvPr/>
        </p:nvSpPr>
        <p:spPr>
          <a:xfrm>
            <a:off x="950976" y="2350008"/>
            <a:ext cx="302666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RC builds + change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Unity code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analytics coverage gaps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crash / performance logs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playtest notes and reviews</a:t>
            </a:r>
            <a:endParaRPr/>
          </a:p>
        </p:txBody>
      </p:sp>
      <p:sp>
        <p:nvSpPr>
          <p:cNvPr id="1052" name="Google Shape;1052;p22"/>
          <p:cNvSpPr/>
          <p:nvPr/>
        </p:nvSpPr>
        <p:spPr>
          <a:xfrm>
            <a:off x="4279392" y="1874519"/>
            <a:ext cx="3429000" cy="2395728"/>
          </a:xfrm>
          <a:prstGeom prst="rect">
            <a:avLst/>
          </a:prstGeom>
          <a:solidFill>
            <a:srgbClr val="041A20">
              <a:alpha val="81960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3" name="Google Shape;1053;p22"/>
          <p:cNvCxnSpPr/>
          <p:nvPr/>
        </p:nvCxnSpPr>
        <p:spPr>
          <a:xfrm>
            <a:off x="4389120" y="198424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22"/>
          <p:cNvCxnSpPr/>
          <p:nvPr/>
        </p:nvCxnSpPr>
        <p:spPr>
          <a:xfrm>
            <a:off x="7324344" y="4160520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5" name="Google Shape;1055;p22"/>
          <p:cNvSpPr txBox="1"/>
          <p:nvPr/>
        </p:nvSpPr>
        <p:spPr>
          <a:xfrm>
            <a:off x="4480559" y="2020824"/>
            <a:ext cx="3026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2. Diagnose the break</a:t>
            </a:r>
            <a:endParaRPr/>
          </a:p>
        </p:txBody>
      </p:sp>
      <p:sp>
        <p:nvSpPr>
          <p:cNvPr id="1056" name="Google Shape;1056;p22"/>
          <p:cNvSpPr txBox="1"/>
          <p:nvPr/>
        </p:nvSpPr>
        <p:spPr>
          <a:xfrm>
            <a:off x="4480559" y="2350008"/>
            <a:ext cx="302666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onboarding and tutorial drop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difficulty spikes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unclear UI / goals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economy bottlenecks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churn after screens, missions, rewards</a:t>
            </a:r>
            <a:endParaRPr/>
          </a:p>
        </p:txBody>
      </p:sp>
      <p:sp>
        <p:nvSpPr>
          <p:cNvPr id="1057" name="Google Shape;1057;p22"/>
          <p:cNvSpPr/>
          <p:nvPr/>
        </p:nvSpPr>
        <p:spPr>
          <a:xfrm>
            <a:off x="7808975" y="1874519"/>
            <a:ext cx="3429000" cy="2395728"/>
          </a:xfrm>
          <a:prstGeom prst="rect">
            <a:avLst/>
          </a:prstGeom>
          <a:solidFill>
            <a:srgbClr val="041A20">
              <a:alpha val="81960"/>
            </a:srgbClr>
          </a:solidFill>
          <a:ln cap="flat" cmpd="sng" w="1270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22"/>
          <p:cNvCxnSpPr/>
          <p:nvPr/>
        </p:nvCxnSpPr>
        <p:spPr>
          <a:xfrm>
            <a:off x="7918703" y="198424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" name="Google Shape;1059;p22"/>
          <p:cNvCxnSpPr/>
          <p:nvPr/>
        </p:nvCxnSpPr>
        <p:spPr>
          <a:xfrm>
            <a:off x="10853928" y="4160520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0" name="Google Shape;1060;p22"/>
          <p:cNvSpPr txBox="1"/>
          <p:nvPr/>
        </p:nvSpPr>
        <p:spPr>
          <a:xfrm>
            <a:off x="8010144" y="2020824"/>
            <a:ext cx="3026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3. Intervene safely</a:t>
            </a:r>
            <a:endParaRPr/>
          </a:p>
        </p:txBody>
      </p:sp>
      <p:sp>
        <p:nvSpPr>
          <p:cNvPr id="1061" name="Google Shape;1061;p22"/>
          <p:cNvSpPr txBox="1"/>
          <p:nvPr/>
        </p:nvSpPr>
        <p:spPr>
          <a:xfrm>
            <a:off x="8010144" y="2350008"/>
            <a:ext cx="302666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small reversible changes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approved tracking additions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scoped Codex PRs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Play Mode + regression tests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A/B or soft-launch validation</a:t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868680" y="5285232"/>
            <a:ext cx="10469880" cy="694944"/>
          </a:xfrm>
          <a:prstGeom prst="rect">
            <a:avLst/>
          </a:prstGeom>
          <a:solidFill>
            <a:srgbClr val="041A20">
              <a:alpha val="90196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2"/>
          <p:cNvSpPr txBox="1"/>
          <p:nvPr/>
        </p:nvSpPr>
        <p:spPr>
          <a:xfrm>
            <a:off x="1024128" y="5449824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B000"/>
                </a:solidFill>
                <a:latin typeface="Play"/>
                <a:ea typeface="Play"/>
                <a:cs typeface="Play"/>
                <a:sym typeface="Play"/>
              </a:rPr>
              <a:t>For late-stage games, AI should start as an auditor — not as an uncontrolled rewriter.</a:t>
            </a:r>
            <a:endParaRPr/>
          </a:p>
        </p:txBody>
      </p:sp>
      <p:cxnSp>
        <p:nvCxnSpPr>
          <p:cNvPr id="1064" name="Google Shape;1064;p22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6535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5" name="Google Shape;1065;p22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69868E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066" name="Google Shape;1066;p2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1" name="Google Shape;10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3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FFB000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23"/>
          <p:cNvCxnSpPr/>
          <p:nvPr/>
        </p:nvCxnSpPr>
        <p:spPr>
          <a:xfrm>
            <a:off x="292608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6" name="Google Shape;1076;p23"/>
          <p:cNvCxnSpPr/>
          <p:nvPr/>
        </p:nvCxnSpPr>
        <p:spPr>
          <a:xfrm>
            <a:off x="292608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23"/>
          <p:cNvCxnSpPr/>
          <p:nvPr/>
        </p:nvCxnSpPr>
        <p:spPr>
          <a:xfrm>
            <a:off x="11338560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8" name="Google Shape;1078;p23"/>
          <p:cNvCxnSpPr/>
          <p:nvPr/>
        </p:nvCxnSpPr>
        <p:spPr>
          <a:xfrm>
            <a:off x="11887200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9" name="Google Shape;1079;p23"/>
          <p:cNvCxnSpPr/>
          <p:nvPr/>
        </p:nvCxnSpPr>
        <p:spPr>
          <a:xfrm>
            <a:off x="292608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0" name="Google Shape;1080;p23"/>
          <p:cNvCxnSpPr/>
          <p:nvPr/>
        </p:nvCxnSpPr>
        <p:spPr>
          <a:xfrm>
            <a:off x="292608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1" name="Google Shape;1081;p23"/>
          <p:cNvCxnSpPr/>
          <p:nvPr/>
        </p:nvCxnSpPr>
        <p:spPr>
          <a:xfrm>
            <a:off x="11338560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2" name="Google Shape;1082;p23"/>
          <p:cNvCxnSpPr/>
          <p:nvPr/>
        </p:nvCxnSpPr>
        <p:spPr>
          <a:xfrm>
            <a:off x="11887200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3" name="Google Shape;1083;p23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0F0FF"/>
                </a:solidFill>
                <a:latin typeface="Play"/>
                <a:ea typeface="Play"/>
                <a:cs typeface="Play"/>
                <a:sym typeface="Play"/>
              </a:rPr>
              <a:t>RECOVERY LOOP</a:t>
            </a:r>
            <a:endParaRPr/>
          </a:p>
        </p:txBody>
      </p:sp>
      <p:sp>
        <p:nvSpPr>
          <p:cNvPr id="1084" name="Google Shape;1084;p23"/>
          <p:cNvSpPr txBox="1"/>
          <p:nvPr/>
        </p:nvSpPr>
        <p:spPr>
          <a:xfrm>
            <a:off x="658368" y="56692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RC → DAU/MAU recovery loop</a:t>
            </a:r>
            <a:endParaRPr/>
          </a:p>
        </p:txBody>
      </p:sp>
      <p:sp>
        <p:nvSpPr>
          <p:cNvPr id="1085" name="Google Shape;1085;p23"/>
          <p:cNvSpPr txBox="1"/>
          <p:nvPr/>
        </p:nvSpPr>
        <p:spPr>
          <a:xfrm>
            <a:off x="694944" y="1133856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AB0B7"/>
                </a:solidFill>
                <a:latin typeface="Arial"/>
                <a:ea typeface="Arial"/>
                <a:cs typeface="Arial"/>
                <a:sym typeface="Arial"/>
              </a:rPr>
              <a:t>For mature projects, the workflow becomes evidence-led: diagnose the metric gap, ship small reversible fixes, and re-measure before scaling.</a:t>
            </a:r>
            <a:endParaRPr/>
          </a:p>
        </p:txBody>
      </p:sp>
      <p:cxnSp>
        <p:nvCxnSpPr>
          <p:cNvPr id="1086" name="Google Shape;1086;p23"/>
          <p:cNvCxnSpPr/>
          <p:nvPr/>
        </p:nvCxnSpPr>
        <p:spPr>
          <a:xfrm>
            <a:off x="3520440" y="3054096"/>
            <a:ext cx="274320" cy="0"/>
          </a:xfrm>
          <a:prstGeom prst="straightConnector1">
            <a:avLst/>
          </a:prstGeom>
          <a:noFill/>
          <a:ln cap="flat" cmpd="sng" w="16500">
            <a:solidFill>
              <a:srgbClr val="4B7E8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7" name="Google Shape;1087;p23"/>
          <p:cNvCxnSpPr/>
          <p:nvPr/>
        </p:nvCxnSpPr>
        <p:spPr>
          <a:xfrm>
            <a:off x="6629400" y="3054096"/>
            <a:ext cx="274320" cy="0"/>
          </a:xfrm>
          <a:prstGeom prst="straightConnector1">
            <a:avLst/>
          </a:prstGeom>
          <a:noFill/>
          <a:ln cap="flat" cmpd="sng" w="16500">
            <a:solidFill>
              <a:srgbClr val="4B7E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8" name="Google Shape;1088;p23"/>
          <p:cNvSpPr/>
          <p:nvPr/>
        </p:nvSpPr>
        <p:spPr>
          <a:xfrm>
            <a:off x="749808" y="2057400"/>
            <a:ext cx="3429000" cy="2011680"/>
          </a:xfrm>
          <a:prstGeom prst="rect">
            <a:avLst/>
          </a:prstGeom>
          <a:solidFill>
            <a:srgbClr val="041A20">
              <a:alpha val="85882"/>
            </a:srgbClr>
          </a:solidFill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23"/>
          <p:cNvCxnSpPr/>
          <p:nvPr/>
        </p:nvCxnSpPr>
        <p:spPr>
          <a:xfrm>
            <a:off x="859536" y="216712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0" name="Google Shape;1090;p23"/>
          <p:cNvCxnSpPr/>
          <p:nvPr/>
        </p:nvCxnSpPr>
        <p:spPr>
          <a:xfrm>
            <a:off x="3794760" y="395935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1" name="Google Shape;1091;p23"/>
          <p:cNvSpPr txBox="1"/>
          <p:nvPr/>
        </p:nvSpPr>
        <p:spPr>
          <a:xfrm>
            <a:off x="950976" y="2203704"/>
            <a:ext cx="3026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1. Evidence intake</a:t>
            </a:r>
            <a:endParaRPr/>
          </a:p>
        </p:txBody>
      </p:sp>
      <p:sp>
        <p:nvSpPr>
          <p:cNvPr id="1092" name="Google Shape;1092;p23"/>
          <p:cNvSpPr txBox="1"/>
          <p:nvPr/>
        </p:nvSpPr>
        <p:spPr>
          <a:xfrm>
            <a:off x="950976" y="2587752"/>
            <a:ext cx="30266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RC build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Mixpanel / Firebase / BigQuery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crash + performance logs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playtest notes and reviews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existing event coverage</a:t>
            </a:r>
            <a:endParaRPr/>
          </a:p>
        </p:txBody>
      </p:sp>
      <p:sp>
        <p:nvSpPr>
          <p:cNvPr id="1093" name="Google Shape;1093;p23"/>
          <p:cNvSpPr/>
          <p:nvPr/>
        </p:nvSpPr>
        <p:spPr>
          <a:xfrm>
            <a:off x="4279392" y="2057400"/>
            <a:ext cx="3429000" cy="2011680"/>
          </a:xfrm>
          <a:prstGeom prst="rect">
            <a:avLst/>
          </a:prstGeom>
          <a:solidFill>
            <a:srgbClr val="041A20">
              <a:alpha val="85882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4" name="Google Shape;1094;p23"/>
          <p:cNvCxnSpPr/>
          <p:nvPr/>
        </p:nvCxnSpPr>
        <p:spPr>
          <a:xfrm>
            <a:off x="4389120" y="216712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5" name="Google Shape;1095;p23"/>
          <p:cNvCxnSpPr/>
          <p:nvPr/>
        </p:nvCxnSpPr>
        <p:spPr>
          <a:xfrm>
            <a:off x="7324344" y="395935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6" name="Google Shape;1096;p23"/>
          <p:cNvSpPr txBox="1"/>
          <p:nvPr/>
        </p:nvSpPr>
        <p:spPr>
          <a:xfrm>
            <a:off x="4480559" y="2203704"/>
            <a:ext cx="3026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2. AI diagnosis</a:t>
            </a:r>
            <a:endParaRPr/>
          </a:p>
        </p:txBody>
      </p:sp>
      <p:sp>
        <p:nvSpPr>
          <p:cNvPr id="1097" name="Google Shape;1097;p23"/>
          <p:cNvSpPr txBox="1"/>
          <p:nvPr/>
        </p:nvSpPr>
        <p:spPr>
          <a:xfrm>
            <a:off x="4480559" y="2587752"/>
            <a:ext cx="30266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find broken funnels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detect missing tracking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identify likely causes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rank impact / risk / effort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propose success metrics</a:t>
            </a:r>
            <a:endParaRPr/>
          </a:p>
        </p:txBody>
      </p:sp>
      <p:sp>
        <p:nvSpPr>
          <p:cNvPr id="1098" name="Google Shape;1098;p23"/>
          <p:cNvSpPr/>
          <p:nvPr/>
        </p:nvSpPr>
        <p:spPr>
          <a:xfrm>
            <a:off x="7808975" y="2057400"/>
            <a:ext cx="3429000" cy="2011680"/>
          </a:xfrm>
          <a:prstGeom prst="rect">
            <a:avLst/>
          </a:prstGeom>
          <a:solidFill>
            <a:srgbClr val="041A20">
              <a:alpha val="85882"/>
            </a:srgbClr>
          </a:solidFill>
          <a:ln cap="flat" cmpd="sng" w="1270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9" name="Google Shape;1099;p23"/>
          <p:cNvCxnSpPr/>
          <p:nvPr/>
        </p:nvCxnSpPr>
        <p:spPr>
          <a:xfrm>
            <a:off x="7918703" y="216712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0" name="Google Shape;1100;p23"/>
          <p:cNvCxnSpPr/>
          <p:nvPr/>
        </p:nvCxnSpPr>
        <p:spPr>
          <a:xfrm>
            <a:off x="10853928" y="395935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1" name="Google Shape;1101;p23"/>
          <p:cNvSpPr txBox="1"/>
          <p:nvPr/>
        </p:nvSpPr>
        <p:spPr>
          <a:xfrm>
            <a:off x="8010144" y="2203704"/>
            <a:ext cx="3026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3. Controlled experiment</a:t>
            </a:r>
            <a:endParaRPr/>
          </a:p>
        </p:txBody>
      </p:sp>
      <p:sp>
        <p:nvSpPr>
          <p:cNvPr id="1102" name="Google Shape;1102;p23"/>
          <p:cNvSpPr txBox="1"/>
          <p:nvPr/>
        </p:nvSpPr>
        <p:spPr>
          <a:xfrm>
            <a:off x="8010144" y="2587752"/>
            <a:ext cx="30266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scoped Codex PR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analytics validation tests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Play Mode regression checks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A/B or soft-launch variant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post-change metric review</a:t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868680" y="4992624"/>
            <a:ext cx="10469880" cy="65836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270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3"/>
          <p:cNvSpPr txBox="1"/>
          <p:nvPr/>
        </p:nvSpPr>
        <p:spPr>
          <a:xfrm>
            <a:off x="987552" y="5157216"/>
            <a:ext cx="1019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6EFF9A"/>
                </a:solidFill>
                <a:latin typeface="Play"/>
                <a:ea typeface="Play"/>
                <a:cs typeface="Play"/>
                <a:sym typeface="Play"/>
              </a:rPr>
              <a:t>Repeat loop: measure → learn → prioritize → ship → re-measure. Every fix must be testable, reversible, and tied to a target metric.</a:t>
            </a:r>
            <a:endParaRPr/>
          </a:p>
        </p:txBody>
      </p:sp>
      <p:cxnSp>
        <p:nvCxnSpPr>
          <p:cNvPr id="1105" name="Google Shape;1105;p23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6535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6" name="Google Shape;1106;p23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69868E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107" name="Google Shape;1107;p2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2" name="Google Shape;11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313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4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FFB000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6" name="Google Shape;1116;p24"/>
          <p:cNvCxnSpPr/>
          <p:nvPr/>
        </p:nvCxnSpPr>
        <p:spPr>
          <a:xfrm>
            <a:off x="292608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24"/>
          <p:cNvCxnSpPr/>
          <p:nvPr/>
        </p:nvCxnSpPr>
        <p:spPr>
          <a:xfrm>
            <a:off x="292608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24"/>
          <p:cNvCxnSpPr/>
          <p:nvPr/>
        </p:nvCxnSpPr>
        <p:spPr>
          <a:xfrm>
            <a:off x="11338560" y="292608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24"/>
          <p:cNvCxnSpPr/>
          <p:nvPr/>
        </p:nvCxnSpPr>
        <p:spPr>
          <a:xfrm>
            <a:off x="11887200" y="29260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24"/>
          <p:cNvCxnSpPr/>
          <p:nvPr/>
        </p:nvCxnSpPr>
        <p:spPr>
          <a:xfrm>
            <a:off x="292608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24"/>
          <p:cNvCxnSpPr/>
          <p:nvPr/>
        </p:nvCxnSpPr>
        <p:spPr>
          <a:xfrm>
            <a:off x="292608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24"/>
          <p:cNvCxnSpPr/>
          <p:nvPr/>
        </p:nvCxnSpPr>
        <p:spPr>
          <a:xfrm>
            <a:off x="11338560" y="656539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3" name="Google Shape;1123;p24"/>
          <p:cNvCxnSpPr/>
          <p:nvPr/>
        </p:nvCxnSpPr>
        <p:spPr>
          <a:xfrm>
            <a:off x="11887200" y="6144768"/>
            <a:ext cx="0" cy="420624"/>
          </a:xfrm>
          <a:prstGeom prst="straightConnector1">
            <a:avLst/>
          </a:prstGeom>
          <a:noFill/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4" name="Google Shape;1124;p24"/>
          <p:cNvSpPr txBox="1"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0F0FF"/>
                </a:solidFill>
                <a:latin typeface="Play"/>
                <a:ea typeface="Play"/>
                <a:cs typeface="Play"/>
                <a:sym typeface="Play"/>
              </a:rPr>
              <a:t>SYNTHETIC PLAYTESTING</a:t>
            </a:r>
            <a:endParaRPr/>
          </a:p>
        </p:txBody>
      </p:sp>
      <p:sp>
        <p:nvSpPr>
          <p:cNvPr id="1125" name="Google Shape;1125;p24"/>
          <p:cNvSpPr txBox="1"/>
          <p:nvPr/>
        </p:nvSpPr>
        <p:spPr>
          <a:xfrm>
            <a:off x="658368" y="56692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AI playtester agents before real playtests</a:t>
            </a:r>
            <a:endParaRPr/>
          </a:p>
        </p:txBody>
      </p:sp>
      <p:sp>
        <p:nvSpPr>
          <p:cNvPr id="1126" name="Google Shape;1126;p24"/>
          <p:cNvSpPr txBox="1"/>
          <p:nvPr/>
        </p:nvSpPr>
        <p:spPr>
          <a:xfrm>
            <a:off x="694944" y="1133856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AB0B7"/>
                </a:solidFill>
                <a:latin typeface="Arial"/>
                <a:ea typeface="Arial"/>
                <a:cs typeface="Arial"/>
                <a:sym typeface="Arial"/>
              </a:rPr>
              <a:t>Agents can simulate different player groups in Unity, produce pre-release telemetry, and expose obvious UX problems before real users arrive.</a:t>
            </a:r>
            <a:endParaRPr/>
          </a:p>
        </p:txBody>
      </p:sp>
      <p:sp>
        <p:nvSpPr>
          <p:cNvPr id="1127" name="Google Shape;1127;p24"/>
          <p:cNvSpPr/>
          <p:nvPr/>
        </p:nvSpPr>
        <p:spPr>
          <a:xfrm>
            <a:off x="868680" y="1627632"/>
            <a:ext cx="123444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4"/>
          <p:cNvSpPr txBox="1"/>
          <p:nvPr/>
        </p:nvSpPr>
        <p:spPr>
          <a:xfrm>
            <a:off x="905256" y="1691640"/>
            <a:ext cx="11612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F0FF"/>
                </a:solidFill>
                <a:latin typeface="Play"/>
                <a:ea typeface="Play"/>
                <a:cs typeface="Play"/>
                <a:sym typeface="Play"/>
              </a:rPr>
              <a:t>new player</a:t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2240280" y="1627632"/>
            <a:ext cx="114300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FF52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4"/>
          <p:cNvSpPr txBox="1"/>
          <p:nvPr/>
        </p:nvSpPr>
        <p:spPr>
          <a:xfrm>
            <a:off x="2276856" y="1691640"/>
            <a:ext cx="10698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524B"/>
                </a:solidFill>
                <a:latin typeface="Play"/>
                <a:ea typeface="Play"/>
                <a:cs typeface="Play"/>
                <a:sym typeface="Play"/>
              </a:rPr>
              <a:t>impatient</a:t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3520440" y="1627632"/>
            <a:ext cx="141732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4"/>
          <p:cNvSpPr txBox="1"/>
          <p:nvPr/>
        </p:nvSpPr>
        <p:spPr>
          <a:xfrm>
            <a:off x="3557016" y="1691640"/>
            <a:ext cx="1344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B000"/>
                </a:solidFill>
                <a:latin typeface="Play"/>
                <a:ea typeface="Play"/>
                <a:cs typeface="Play"/>
                <a:sym typeface="Play"/>
              </a:rPr>
              <a:t>strategy expert</a:t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5074920" y="1627632"/>
            <a:ext cx="182880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4"/>
          <p:cNvSpPr txBox="1"/>
          <p:nvPr/>
        </p:nvSpPr>
        <p:spPr>
          <a:xfrm>
            <a:off x="5111496" y="1691640"/>
            <a:ext cx="17556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6EFF9A"/>
                </a:solidFill>
                <a:latin typeface="Play"/>
                <a:ea typeface="Play"/>
                <a:cs typeface="Play"/>
                <a:sym typeface="Play"/>
              </a:rPr>
              <a:t>spender / non-spender</a:t>
            </a:r>
            <a:endParaRPr/>
          </a:p>
        </p:txBody>
      </p:sp>
      <p:sp>
        <p:nvSpPr>
          <p:cNvPr id="1135" name="Google Shape;1135;p24"/>
          <p:cNvSpPr/>
          <p:nvPr/>
        </p:nvSpPr>
        <p:spPr>
          <a:xfrm>
            <a:off x="7040880" y="1627632"/>
            <a:ext cx="141732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4"/>
          <p:cNvSpPr txBox="1"/>
          <p:nvPr/>
        </p:nvSpPr>
        <p:spPr>
          <a:xfrm>
            <a:off x="7077456" y="1691640"/>
            <a:ext cx="1344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F0FF"/>
                </a:solidFill>
                <a:latin typeface="Play"/>
                <a:ea typeface="Play"/>
                <a:cs typeface="Play"/>
                <a:sym typeface="Play"/>
              </a:rPr>
              <a:t>low-end device</a:t>
            </a:r>
            <a:endParaRPr/>
          </a:p>
        </p:txBody>
      </p:sp>
      <p:sp>
        <p:nvSpPr>
          <p:cNvPr id="1137" name="Google Shape;1137;p24"/>
          <p:cNvSpPr/>
          <p:nvPr/>
        </p:nvSpPr>
        <p:spPr>
          <a:xfrm>
            <a:off x="8595360" y="1627632"/>
            <a:ext cx="123444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FF52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4"/>
          <p:cNvSpPr txBox="1"/>
          <p:nvPr/>
        </p:nvSpPr>
        <p:spPr>
          <a:xfrm>
            <a:off x="8631936" y="1691640"/>
            <a:ext cx="11612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524B"/>
                </a:solidFill>
                <a:latin typeface="Play"/>
                <a:ea typeface="Play"/>
                <a:cs typeface="Play"/>
                <a:sym typeface="Play"/>
              </a:rPr>
              <a:t>confused UI</a:t>
            </a:r>
            <a:endParaRPr/>
          </a:p>
        </p:txBody>
      </p:sp>
      <p:sp>
        <p:nvSpPr>
          <p:cNvPr id="1139" name="Google Shape;1139;p24"/>
          <p:cNvSpPr/>
          <p:nvPr/>
        </p:nvSpPr>
        <p:spPr>
          <a:xfrm>
            <a:off x="9966960" y="1627632"/>
            <a:ext cx="1325880" cy="29260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01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4"/>
          <p:cNvSpPr txBox="1"/>
          <p:nvPr/>
        </p:nvSpPr>
        <p:spPr>
          <a:xfrm>
            <a:off x="10003536" y="1691640"/>
            <a:ext cx="1252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B000"/>
                </a:solidFill>
                <a:latin typeface="Play"/>
                <a:ea typeface="Play"/>
                <a:cs typeface="Play"/>
                <a:sym typeface="Play"/>
              </a:rPr>
              <a:t>completionist</a:t>
            </a:r>
            <a:endParaRPr/>
          </a:p>
        </p:txBody>
      </p:sp>
      <p:sp>
        <p:nvSpPr>
          <p:cNvPr id="1141" name="Google Shape;1141;p24"/>
          <p:cNvSpPr/>
          <p:nvPr/>
        </p:nvSpPr>
        <p:spPr>
          <a:xfrm>
            <a:off x="786384" y="2148840"/>
            <a:ext cx="5074920" cy="2084831"/>
          </a:xfrm>
          <a:prstGeom prst="rect">
            <a:avLst/>
          </a:prstGeom>
          <a:solidFill>
            <a:srgbClr val="041A20">
              <a:alpha val="81960"/>
            </a:srgbClr>
          </a:solidFill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2" name="Google Shape;1142;p24"/>
          <p:cNvCxnSpPr/>
          <p:nvPr/>
        </p:nvCxnSpPr>
        <p:spPr>
          <a:xfrm>
            <a:off x="896112" y="225856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3" name="Google Shape;1143;p24"/>
          <p:cNvCxnSpPr/>
          <p:nvPr/>
        </p:nvCxnSpPr>
        <p:spPr>
          <a:xfrm>
            <a:off x="5477256" y="4123944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4" name="Google Shape;1144;p24"/>
          <p:cNvSpPr txBox="1"/>
          <p:nvPr/>
        </p:nvSpPr>
        <p:spPr>
          <a:xfrm>
            <a:off x="987552" y="2295144"/>
            <a:ext cx="4672583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How to make / train them</a:t>
            </a:r>
            <a:endParaRPr/>
          </a:p>
        </p:txBody>
      </p:sp>
      <p:sp>
        <p:nvSpPr>
          <p:cNvPr id="1145" name="Google Shape;1145;p24"/>
          <p:cNvSpPr txBox="1"/>
          <p:nvPr/>
        </p:nvSpPr>
        <p:spPr>
          <a:xfrm>
            <a:off x="987552" y="2624328"/>
            <a:ext cx="4672583" cy="151790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Define cohorts and play styles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Condition agents with GDD, controls, goals, tutorial rules, telemetry schema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Run scripted + exploratory Unity 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Log action traces, screenshots, failures, confusion, and timing</a:t>
            </a:r>
            <a:endParaRPr/>
          </a:p>
        </p:txBody>
      </p:sp>
      <p:sp>
        <p:nvSpPr>
          <p:cNvPr id="1146" name="Google Shape;1146;p24"/>
          <p:cNvSpPr/>
          <p:nvPr/>
        </p:nvSpPr>
        <p:spPr>
          <a:xfrm>
            <a:off x="6236208" y="2148840"/>
            <a:ext cx="5074920" cy="2084831"/>
          </a:xfrm>
          <a:prstGeom prst="rect">
            <a:avLst/>
          </a:prstGeom>
          <a:solidFill>
            <a:srgbClr val="041A20">
              <a:alpha val="81960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7" name="Google Shape;1147;p24"/>
          <p:cNvCxnSpPr/>
          <p:nvPr/>
        </p:nvCxnSpPr>
        <p:spPr>
          <a:xfrm>
            <a:off x="6345936" y="2258568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8" name="Google Shape;1148;p24"/>
          <p:cNvCxnSpPr/>
          <p:nvPr/>
        </p:nvCxnSpPr>
        <p:spPr>
          <a:xfrm>
            <a:off x="10927080" y="4123944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9" name="Google Shape;1149;p24"/>
          <p:cNvSpPr txBox="1"/>
          <p:nvPr/>
        </p:nvSpPr>
        <p:spPr>
          <a:xfrm>
            <a:off x="6437376" y="2295144"/>
            <a:ext cx="4672583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What they generate</a:t>
            </a:r>
            <a:endParaRPr/>
          </a:p>
        </p:txBody>
      </p:sp>
      <p:sp>
        <p:nvSpPr>
          <p:cNvPr id="1150" name="Google Shape;1150;p24"/>
          <p:cNvSpPr txBox="1"/>
          <p:nvPr/>
        </p:nvSpPr>
        <p:spPr>
          <a:xfrm>
            <a:off x="6437376" y="2624328"/>
            <a:ext cx="4672583" cy="151790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pre-release funnel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tutorial step friction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failure and abandon points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heatmaps / action traces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bug repro steps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• design recommendations for PM + Designer</a:t>
            </a:r>
            <a:endParaRPr/>
          </a:p>
        </p:txBody>
      </p:sp>
      <p:sp>
        <p:nvSpPr>
          <p:cNvPr id="1151" name="Google Shape;1151;p24"/>
          <p:cNvSpPr/>
          <p:nvPr/>
        </p:nvSpPr>
        <p:spPr>
          <a:xfrm>
            <a:off x="868680" y="4773168"/>
            <a:ext cx="10469880" cy="566928"/>
          </a:xfrm>
          <a:prstGeom prst="rect">
            <a:avLst/>
          </a:prstGeom>
          <a:solidFill>
            <a:srgbClr val="041A20">
              <a:alpha val="92156"/>
            </a:srgbClr>
          </a:solidFill>
          <a:ln cap="flat" cmpd="sng" w="12700">
            <a:solidFill>
              <a:srgbClr val="6E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4"/>
          <p:cNvSpPr txBox="1"/>
          <p:nvPr/>
        </p:nvSpPr>
        <p:spPr>
          <a:xfrm>
            <a:off x="960120" y="4919472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6EFF9A"/>
                </a:solidFill>
                <a:latin typeface="Play"/>
                <a:ea typeface="Play"/>
                <a:cs typeface="Play"/>
                <a:sym typeface="Play"/>
              </a:rPr>
              <a:t>Personas → Unity play sessions → events to Firebase / Mixpanel / BigQuery → Analytics Agent → design fixes</a:t>
            </a:r>
            <a:endParaRPr/>
          </a:p>
        </p:txBody>
      </p:sp>
      <p:sp>
        <p:nvSpPr>
          <p:cNvPr id="1153" name="Google Shape;1153;p24"/>
          <p:cNvSpPr/>
          <p:nvPr/>
        </p:nvSpPr>
        <p:spPr>
          <a:xfrm>
            <a:off x="1143000" y="5632704"/>
            <a:ext cx="9921240" cy="438912"/>
          </a:xfrm>
          <a:prstGeom prst="rect">
            <a:avLst/>
          </a:prstGeom>
          <a:solidFill>
            <a:srgbClr val="140C00">
              <a:alpha val="90196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4"/>
          <p:cNvSpPr txBox="1"/>
          <p:nvPr/>
        </p:nvSpPr>
        <p:spPr>
          <a:xfrm>
            <a:off x="1234440" y="5742432"/>
            <a:ext cx="9738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B000"/>
                </a:solidFill>
                <a:latin typeface="Play"/>
                <a:ea typeface="Play"/>
                <a:cs typeface="Play"/>
                <a:sym typeface="Play"/>
              </a:rPr>
              <a:t>Synthetic agents do not replace real users — they reduce noise and improve the first real playtest.</a:t>
            </a:r>
            <a:endParaRPr/>
          </a:p>
        </p:txBody>
      </p:sp>
      <p:cxnSp>
        <p:nvCxnSpPr>
          <p:cNvPr id="1155" name="Google Shape;1155;p24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6535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6" name="Google Shape;1156;p24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69868E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157" name="Google Shape;1157;p2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2" name="Google Shape;11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0196"/>
            </a:srgbClr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5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E00"/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6" name="Google Shape;1166;p25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7" name="Google Shape;1167;p25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8" name="Google Shape;1168;p25"/>
          <p:cNvCxnSpPr/>
          <p:nvPr/>
        </p:nvCxnSpPr>
        <p:spPr>
          <a:xfrm>
            <a:off x="11210544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9" name="Google Shape;1169;p25"/>
          <p:cNvCxnSpPr/>
          <p:nvPr/>
        </p:nvCxnSpPr>
        <p:spPr>
          <a:xfrm>
            <a:off x="11896344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0" name="Google Shape;1170;p25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25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25"/>
          <p:cNvCxnSpPr/>
          <p:nvPr/>
        </p:nvCxnSpPr>
        <p:spPr>
          <a:xfrm>
            <a:off x="11210544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3" name="Google Shape;1173;p25"/>
          <p:cNvCxnSpPr/>
          <p:nvPr/>
        </p:nvCxnSpPr>
        <p:spPr>
          <a:xfrm>
            <a:off x="11896344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4" name="Google Shape;1174;p25"/>
          <p:cNvSpPr txBox="1"/>
          <p:nvPr/>
        </p:nvSpPr>
        <p:spPr>
          <a:xfrm>
            <a:off x="566928" y="201168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ENTERPRISE SCALE</a:t>
            </a:r>
            <a:endParaRPr/>
          </a:p>
        </p:txBody>
      </p:sp>
      <p:sp>
        <p:nvSpPr>
          <p:cNvPr id="1175" name="Google Shape;1175;p25"/>
          <p:cNvSpPr txBox="1"/>
          <p:nvPr/>
        </p:nvSpPr>
        <p:spPr>
          <a:xfrm>
            <a:off x="658368" y="53035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6F8"/>
                </a:solidFill>
                <a:latin typeface="Play"/>
                <a:ea typeface="Play"/>
                <a:cs typeface="Play"/>
                <a:sym typeface="Play"/>
              </a:rPr>
              <a:t>From one-account workflow to enterprise AI studio</a:t>
            </a:r>
            <a:endParaRPr/>
          </a:p>
        </p:txBody>
      </p:sp>
      <p:sp>
        <p:nvSpPr>
          <p:cNvPr id="1176" name="Google Shape;1176;p25"/>
          <p:cNvSpPr txBox="1"/>
          <p:nvPr/>
        </p:nvSpPr>
        <p:spPr>
          <a:xfrm>
            <a:off x="713232" y="106984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WarlineCapture is the smallest working unit of a scalable, role-based AI production model.</a:t>
            </a:r>
            <a:endParaRPr/>
          </a:p>
        </p:txBody>
      </p:sp>
      <p:sp>
        <p:nvSpPr>
          <p:cNvPr id="1177" name="Google Shape;1177;p25"/>
          <p:cNvSpPr/>
          <p:nvPr/>
        </p:nvSpPr>
        <p:spPr>
          <a:xfrm>
            <a:off x="868680" y="1417320"/>
            <a:ext cx="3291840" cy="256032"/>
          </a:xfrm>
          <a:prstGeom prst="rect">
            <a:avLst/>
          </a:prstGeom>
          <a:solidFill>
            <a:srgbClr val="011217">
              <a:alpha val="96078"/>
            </a:srgbClr>
          </a:solidFill>
          <a:ln cap="flat" cmpd="sng" w="114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5"/>
          <p:cNvSpPr txBox="1"/>
          <p:nvPr/>
        </p:nvSpPr>
        <p:spPr>
          <a:xfrm>
            <a:off x="905256" y="1449324"/>
            <a:ext cx="3218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PERSONAL ACCOUNT PIPELINE</a:t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7909560" y="1417320"/>
            <a:ext cx="3291840" cy="256032"/>
          </a:xfrm>
          <a:prstGeom prst="rect">
            <a:avLst/>
          </a:prstGeom>
          <a:solidFill>
            <a:srgbClr val="011217">
              <a:alpha val="96078"/>
            </a:srgbClr>
          </a:solidFill>
          <a:ln cap="flat" cmpd="sng" w="114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5"/>
          <p:cNvSpPr txBox="1"/>
          <p:nvPr/>
        </p:nvSpPr>
        <p:spPr>
          <a:xfrm>
            <a:off x="7946136" y="1449324"/>
            <a:ext cx="3218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FFBE00"/>
                </a:solidFill>
                <a:latin typeface="Arial"/>
                <a:ea typeface="Arial"/>
                <a:cs typeface="Arial"/>
                <a:sym typeface="Arial"/>
              </a:rPr>
              <a:t>ENTERPRISE STUDIO PATTERN</a:t>
            </a:r>
            <a:endParaRPr/>
          </a:p>
        </p:txBody>
      </p:sp>
      <p:cxnSp>
        <p:nvCxnSpPr>
          <p:cNvPr id="1181" name="Google Shape;1181;p25"/>
          <p:cNvCxnSpPr/>
          <p:nvPr/>
        </p:nvCxnSpPr>
        <p:spPr>
          <a:xfrm>
            <a:off x="2514600" y="2514600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2" name="Google Shape;1182;p25"/>
          <p:cNvCxnSpPr/>
          <p:nvPr/>
        </p:nvCxnSpPr>
        <p:spPr>
          <a:xfrm>
            <a:off x="2514600" y="3502152"/>
            <a:ext cx="0" cy="246887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3" name="Google Shape;1183;p25"/>
          <p:cNvCxnSpPr/>
          <p:nvPr/>
        </p:nvCxnSpPr>
        <p:spPr>
          <a:xfrm>
            <a:off x="9555480" y="2514600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4" name="Google Shape;1184;p25"/>
          <p:cNvCxnSpPr/>
          <p:nvPr/>
        </p:nvCxnSpPr>
        <p:spPr>
          <a:xfrm>
            <a:off x="9555480" y="3502152"/>
            <a:ext cx="0" cy="246887"/>
          </a:xfrm>
          <a:prstGeom prst="straightConnector1">
            <a:avLst/>
          </a:prstGeom>
          <a:noFill/>
          <a:ln cap="flat" cmpd="sng" w="12700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5" name="Google Shape;1185;p25"/>
          <p:cNvCxnSpPr/>
          <p:nvPr/>
        </p:nvCxnSpPr>
        <p:spPr>
          <a:xfrm>
            <a:off x="4160520" y="3136392"/>
            <a:ext cx="3566159" cy="0"/>
          </a:xfrm>
          <a:prstGeom prst="straightConnector1">
            <a:avLst/>
          </a:prstGeom>
          <a:noFill/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6" name="Google Shape;1186;p25"/>
          <p:cNvSpPr txBox="1"/>
          <p:nvPr/>
        </p:nvSpPr>
        <p:spPr>
          <a:xfrm>
            <a:off x="4663450" y="2133881"/>
            <a:ext cx="2560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6DFF9A"/>
                </a:solidFill>
                <a:latin typeface="Arial"/>
                <a:ea typeface="Arial"/>
                <a:cs typeface="Arial"/>
                <a:sym typeface="Arial"/>
              </a:rPr>
              <a:t>same orchestration pattern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320">
                <a:solidFill>
                  <a:srgbClr val="6DFF9A"/>
                </a:solidFill>
                <a:latin typeface="Arial"/>
                <a:ea typeface="Arial"/>
                <a:cs typeface="Arial"/>
                <a:sym typeface="Arial"/>
              </a:rPr>
              <a:t>more owners + scoped permissions</a:t>
            </a:r>
            <a:endParaRPr/>
          </a:p>
        </p:txBody>
      </p:sp>
      <p:sp>
        <p:nvSpPr>
          <p:cNvPr id="1187" name="Google Shape;1187;p25"/>
          <p:cNvSpPr/>
          <p:nvPr/>
        </p:nvSpPr>
        <p:spPr>
          <a:xfrm>
            <a:off x="960120" y="1783080"/>
            <a:ext cx="320040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8" name="Google Shape;1188;p25"/>
          <p:cNvCxnSpPr/>
          <p:nvPr/>
        </p:nvCxnSpPr>
        <p:spPr>
          <a:xfrm>
            <a:off x="1051560" y="1892807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9" name="Google Shape;1189;p25"/>
          <p:cNvSpPr txBox="1"/>
          <p:nvPr/>
        </p:nvSpPr>
        <p:spPr>
          <a:xfrm>
            <a:off x="1078992" y="1920240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Human Director</a:t>
            </a:r>
            <a:endParaRPr/>
          </a:p>
        </p:txBody>
      </p:sp>
      <p:sp>
        <p:nvSpPr>
          <p:cNvPr id="1190" name="Google Shape;1190;p25"/>
          <p:cNvSpPr txBox="1"/>
          <p:nvPr/>
        </p:nvSpPr>
        <p:spPr>
          <a:xfrm>
            <a:off x="1088136" y="2212848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vision • architecture • approvals</a:t>
            </a:r>
            <a:endParaRPr/>
          </a:p>
        </p:txBody>
      </p:sp>
      <p:sp>
        <p:nvSpPr>
          <p:cNvPr id="1191" name="Google Shape;1191;p25"/>
          <p:cNvSpPr/>
          <p:nvPr/>
        </p:nvSpPr>
        <p:spPr>
          <a:xfrm>
            <a:off x="960120" y="2770632"/>
            <a:ext cx="320040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25"/>
          <p:cNvCxnSpPr/>
          <p:nvPr/>
        </p:nvCxnSpPr>
        <p:spPr>
          <a:xfrm>
            <a:off x="1051560" y="288036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3" name="Google Shape;1193;p25"/>
          <p:cNvSpPr txBox="1"/>
          <p:nvPr/>
        </p:nvSpPr>
        <p:spPr>
          <a:xfrm>
            <a:off x="1078992" y="2907791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PM Agent</a:t>
            </a:r>
            <a:endParaRPr/>
          </a:p>
        </p:txBody>
      </p:sp>
      <p:sp>
        <p:nvSpPr>
          <p:cNvPr id="1194" name="Google Shape;1194;p25"/>
          <p:cNvSpPr txBox="1"/>
          <p:nvPr/>
        </p:nvSpPr>
        <p:spPr>
          <a:xfrm>
            <a:off x="1088136" y="3200400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milestones • blockers • source-of-truth sync</a:t>
            </a:r>
            <a:endParaRPr/>
          </a:p>
        </p:txBody>
      </p:sp>
      <p:sp>
        <p:nvSpPr>
          <p:cNvPr id="1195" name="Google Shape;1195;p25"/>
          <p:cNvSpPr/>
          <p:nvPr/>
        </p:nvSpPr>
        <p:spPr>
          <a:xfrm>
            <a:off x="960120" y="3749039"/>
            <a:ext cx="320040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p25"/>
          <p:cNvCxnSpPr/>
          <p:nvPr/>
        </p:nvCxnSpPr>
        <p:spPr>
          <a:xfrm>
            <a:off x="1051560" y="385876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7" name="Google Shape;1197;p25"/>
          <p:cNvSpPr txBox="1"/>
          <p:nvPr/>
        </p:nvSpPr>
        <p:spPr>
          <a:xfrm>
            <a:off x="1078992" y="3886200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Codex + Agents</a:t>
            </a:r>
            <a:endParaRPr/>
          </a:p>
        </p:txBody>
      </p:sp>
      <p:sp>
        <p:nvSpPr>
          <p:cNvPr id="1198" name="Google Shape;1198;p25"/>
          <p:cNvSpPr txBox="1"/>
          <p:nvPr/>
        </p:nvSpPr>
        <p:spPr>
          <a:xfrm>
            <a:off x="1088136" y="4178807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design • art • dev • QA • build loop</a:t>
            </a:r>
            <a:endParaRPr/>
          </a:p>
        </p:txBody>
      </p:sp>
      <p:sp>
        <p:nvSpPr>
          <p:cNvPr id="1199" name="Google Shape;1199;p25"/>
          <p:cNvSpPr/>
          <p:nvPr/>
        </p:nvSpPr>
        <p:spPr>
          <a:xfrm>
            <a:off x="7909560" y="1783080"/>
            <a:ext cx="329184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0" name="Google Shape;1200;p25"/>
          <p:cNvCxnSpPr/>
          <p:nvPr/>
        </p:nvCxnSpPr>
        <p:spPr>
          <a:xfrm>
            <a:off x="8001000" y="1892807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1" name="Google Shape;1201;p25"/>
          <p:cNvSpPr txBox="1"/>
          <p:nvPr/>
        </p:nvSpPr>
        <p:spPr>
          <a:xfrm>
            <a:off x="8028432" y="1920240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Game Director + Leads</a:t>
            </a:r>
            <a:endParaRPr/>
          </a:p>
        </p:txBody>
      </p:sp>
      <p:sp>
        <p:nvSpPr>
          <p:cNvPr id="1202" name="Google Shape;1202;p25"/>
          <p:cNvSpPr txBox="1"/>
          <p:nvPr/>
        </p:nvSpPr>
        <p:spPr>
          <a:xfrm>
            <a:off x="8037576" y="2212848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creative authority • discipline ownership</a:t>
            </a:r>
            <a:endParaRPr/>
          </a:p>
        </p:txBody>
      </p:sp>
      <p:sp>
        <p:nvSpPr>
          <p:cNvPr id="1203" name="Google Shape;1203;p25"/>
          <p:cNvSpPr/>
          <p:nvPr/>
        </p:nvSpPr>
        <p:spPr>
          <a:xfrm>
            <a:off x="7909560" y="2770632"/>
            <a:ext cx="329184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4" name="Google Shape;1204;p25"/>
          <p:cNvCxnSpPr/>
          <p:nvPr/>
        </p:nvCxnSpPr>
        <p:spPr>
          <a:xfrm>
            <a:off x="8001000" y="288036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5" name="Google Shape;1205;p25"/>
          <p:cNvSpPr txBox="1"/>
          <p:nvPr/>
        </p:nvSpPr>
        <p:spPr>
          <a:xfrm>
            <a:off x="8028432" y="2907791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PM Orchestration Agent</a:t>
            </a:r>
            <a:endParaRPr/>
          </a:p>
        </p:txBody>
      </p:sp>
      <p:sp>
        <p:nvSpPr>
          <p:cNvPr id="1206" name="Google Shape;1206;p25"/>
          <p:cNvSpPr txBox="1"/>
          <p:nvPr/>
        </p:nvSpPr>
        <p:spPr>
          <a:xfrm>
            <a:off x="8037576" y="3200400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dependencies • blockers • reports • approvals</a:t>
            </a:r>
            <a:endParaRPr/>
          </a:p>
        </p:txBody>
      </p:sp>
      <p:sp>
        <p:nvSpPr>
          <p:cNvPr id="1207" name="Google Shape;1207;p25"/>
          <p:cNvSpPr/>
          <p:nvPr/>
        </p:nvSpPr>
        <p:spPr>
          <a:xfrm>
            <a:off x="7909560" y="3749039"/>
            <a:ext cx="3291840" cy="73152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8" name="Google Shape;1208;p25"/>
          <p:cNvCxnSpPr/>
          <p:nvPr/>
        </p:nvCxnSpPr>
        <p:spPr>
          <a:xfrm>
            <a:off x="8001000" y="385876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9" name="Google Shape;1209;p25"/>
          <p:cNvSpPr txBox="1"/>
          <p:nvPr/>
        </p:nvSpPr>
        <p:spPr>
          <a:xfrm>
            <a:off x="8028432" y="3886200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Department Workspaces</a:t>
            </a:r>
            <a:endParaRPr/>
          </a:p>
        </p:txBody>
      </p:sp>
      <p:sp>
        <p:nvSpPr>
          <p:cNvPr id="1210" name="Google Shape;1210;p25"/>
          <p:cNvSpPr txBox="1"/>
          <p:nvPr/>
        </p:nvSpPr>
        <p:spPr>
          <a:xfrm>
            <a:off x="8037576" y="4178807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artist agents • Codex agents • QA/build agents</a:t>
            </a:r>
            <a:endParaRPr/>
          </a:p>
        </p:txBody>
      </p:sp>
      <p:sp>
        <p:nvSpPr>
          <p:cNvPr id="1211" name="Google Shape;1211;p25"/>
          <p:cNvSpPr/>
          <p:nvPr/>
        </p:nvSpPr>
        <p:spPr>
          <a:xfrm>
            <a:off x="868680" y="5166360"/>
            <a:ext cx="10469880" cy="694944"/>
          </a:xfrm>
          <a:prstGeom prst="rect">
            <a:avLst/>
          </a:prstGeom>
          <a:solidFill>
            <a:srgbClr val="001116">
              <a:alpha val="96078"/>
            </a:srgbClr>
          </a:solidFill>
          <a:ln cap="flat" cmpd="sng" w="12700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5"/>
          <p:cNvSpPr txBox="1"/>
          <p:nvPr/>
        </p:nvSpPr>
        <p:spPr>
          <a:xfrm>
            <a:off x="1051560" y="5276088"/>
            <a:ext cx="10104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Enterprise scaling principle: every person supervises a scoped agent workspace; lead agents consolidate work and report to the PM orchestration layer.</a:t>
            </a:r>
            <a:endParaRPr/>
          </a:p>
        </p:txBody>
      </p:sp>
      <p:cxnSp>
        <p:nvCxnSpPr>
          <p:cNvPr id="1213" name="Google Shape;1213;p25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4" name="Google Shape;1214;p25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215" name="Google Shape;1215;p2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0" name="Google Shape;12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0196"/>
            </a:srgbClr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6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E00"/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4" name="Google Shape;1224;p26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5" name="Google Shape;1225;p26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26"/>
          <p:cNvCxnSpPr/>
          <p:nvPr/>
        </p:nvCxnSpPr>
        <p:spPr>
          <a:xfrm>
            <a:off x="11210544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7" name="Google Shape;1227;p26"/>
          <p:cNvCxnSpPr/>
          <p:nvPr/>
        </p:nvCxnSpPr>
        <p:spPr>
          <a:xfrm>
            <a:off x="11896344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8" name="Google Shape;1228;p26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9" name="Google Shape;1229;p26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0" name="Google Shape;1230;p26"/>
          <p:cNvCxnSpPr/>
          <p:nvPr/>
        </p:nvCxnSpPr>
        <p:spPr>
          <a:xfrm>
            <a:off x="11210544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1" name="Google Shape;1231;p26"/>
          <p:cNvCxnSpPr/>
          <p:nvPr/>
        </p:nvCxnSpPr>
        <p:spPr>
          <a:xfrm>
            <a:off x="11896344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2" name="Google Shape;1232;p26"/>
          <p:cNvSpPr txBox="1"/>
          <p:nvPr/>
        </p:nvSpPr>
        <p:spPr>
          <a:xfrm>
            <a:off x="566928" y="201168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ENTERPRISE AGENT HIERARCHY</a:t>
            </a:r>
            <a:endParaRPr/>
          </a:p>
        </p:txBody>
      </p:sp>
      <p:sp>
        <p:nvSpPr>
          <p:cNvPr id="1233" name="Google Shape;1233;p26"/>
          <p:cNvSpPr txBox="1"/>
          <p:nvPr/>
        </p:nvSpPr>
        <p:spPr>
          <a:xfrm>
            <a:off x="658368" y="53035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6F8"/>
                </a:solidFill>
                <a:latin typeface="Play"/>
                <a:ea typeface="Play"/>
                <a:cs typeface="Play"/>
                <a:sym typeface="Play"/>
              </a:rPr>
              <a:t>Lead agents coordinate supervised sub-agent teams</a:t>
            </a:r>
            <a:endParaRPr/>
          </a:p>
        </p:txBody>
      </p:sp>
      <p:sp>
        <p:nvSpPr>
          <p:cNvPr id="1234" name="Google Shape;1234;p26"/>
          <p:cNvSpPr txBox="1"/>
          <p:nvPr/>
        </p:nvSpPr>
        <p:spPr>
          <a:xfrm>
            <a:off x="713232" y="106984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Enterprise AI collaboration is not one giant agent; it is a managed hierarchy of replaceable agents.</a:t>
            </a:r>
            <a:endParaRPr/>
          </a:p>
        </p:txBody>
      </p:sp>
      <p:cxnSp>
        <p:nvCxnSpPr>
          <p:cNvPr id="1235" name="Google Shape;1235;p26"/>
          <p:cNvCxnSpPr/>
          <p:nvPr/>
        </p:nvCxnSpPr>
        <p:spPr>
          <a:xfrm>
            <a:off x="6089904" y="199339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6" name="Google Shape;1236;p26"/>
          <p:cNvCxnSpPr/>
          <p:nvPr/>
        </p:nvCxnSpPr>
        <p:spPr>
          <a:xfrm>
            <a:off x="6089904" y="2926080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7" name="Google Shape;1237;p26"/>
          <p:cNvCxnSpPr/>
          <p:nvPr/>
        </p:nvCxnSpPr>
        <p:spPr>
          <a:xfrm>
            <a:off x="1965960" y="3127248"/>
            <a:ext cx="740664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8" name="Google Shape;1238;p26"/>
          <p:cNvCxnSpPr/>
          <p:nvPr/>
        </p:nvCxnSpPr>
        <p:spPr>
          <a:xfrm>
            <a:off x="1965960" y="3127248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9" name="Google Shape;1239;p26"/>
          <p:cNvCxnSpPr/>
          <p:nvPr/>
        </p:nvCxnSpPr>
        <p:spPr>
          <a:xfrm>
            <a:off x="4434840" y="3127248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0" name="Google Shape;1240;p26"/>
          <p:cNvCxnSpPr/>
          <p:nvPr/>
        </p:nvCxnSpPr>
        <p:spPr>
          <a:xfrm>
            <a:off x="6903720" y="3127248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1" name="Google Shape;1241;p26"/>
          <p:cNvCxnSpPr/>
          <p:nvPr/>
        </p:nvCxnSpPr>
        <p:spPr>
          <a:xfrm>
            <a:off x="9372600" y="3127248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2" name="Google Shape;1242;p26"/>
          <p:cNvSpPr/>
          <p:nvPr/>
        </p:nvSpPr>
        <p:spPr>
          <a:xfrm>
            <a:off x="3337560" y="1463040"/>
            <a:ext cx="5532120" cy="530352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3" name="Google Shape;1243;p26"/>
          <p:cNvCxnSpPr/>
          <p:nvPr/>
        </p:nvCxnSpPr>
        <p:spPr>
          <a:xfrm>
            <a:off x="3429000" y="157276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4" name="Google Shape;1244;p26"/>
          <p:cNvSpPr txBox="1"/>
          <p:nvPr/>
        </p:nvSpPr>
        <p:spPr>
          <a:xfrm>
            <a:off x="3456432" y="1600200"/>
            <a:ext cx="5294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Executive Producer / Game Director</a:t>
            </a:r>
            <a:endParaRPr/>
          </a:p>
        </p:txBody>
      </p:sp>
      <p:sp>
        <p:nvSpPr>
          <p:cNvPr id="1245" name="Google Shape;1245;p26"/>
          <p:cNvSpPr txBox="1"/>
          <p:nvPr/>
        </p:nvSpPr>
        <p:spPr>
          <a:xfrm>
            <a:off x="3465575" y="1783078"/>
            <a:ext cx="5276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vision • budget • product goals • final authority</a:t>
            </a:r>
            <a:endParaRPr/>
          </a:p>
        </p:txBody>
      </p:sp>
      <p:sp>
        <p:nvSpPr>
          <p:cNvPr id="1246" name="Google Shape;1246;p26"/>
          <p:cNvSpPr/>
          <p:nvPr/>
        </p:nvSpPr>
        <p:spPr>
          <a:xfrm>
            <a:off x="3611880" y="2267712"/>
            <a:ext cx="4983480" cy="640080"/>
          </a:xfrm>
          <a:prstGeom prst="rect">
            <a:avLst/>
          </a:prstGeom>
          <a:solidFill>
            <a:srgbClr val="030F13">
              <a:alpha val="96470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26"/>
          <p:cNvCxnSpPr/>
          <p:nvPr/>
        </p:nvCxnSpPr>
        <p:spPr>
          <a:xfrm>
            <a:off x="3703320" y="237744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8" name="Google Shape;1248;p26"/>
          <p:cNvSpPr txBox="1"/>
          <p:nvPr/>
        </p:nvSpPr>
        <p:spPr>
          <a:xfrm>
            <a:off x="3730752" y="2404872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PM Orchestration Agent</a:t>
            </a:r>
            <a:endParaRPr/>
          </a:p>
        </p:txBody>
      </p:sp>
      <p:sp>
        <p:nvSpPr>
          <p:cNvPr id="1249" name="Google Shape;1249;p26"/>
          <p:cNvSpPr txBox="1"/>
          <p:nvPr/>
        </p:nvSpPr>
        <p:spPr>
          <a:xfrm>
            <a:off x="3739896" y="2697480"/>
            <a:ext cx="4727448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milestone state • dependencies • blockers • approvals • reports</a:t>
            </a:r>
            <a:endParaRPr/>
          </a:p>
        </p:txBody>
      </p:sp>
      <p:cxnSp>
        <p:nvCxnSpPr>
          <p:cNvPr id="1250" name="Google Shape;1250;p26"/>
          <p:cNvCxnSpPr/>
          <p:nvPr/>
        </p:nvCxnSpPr>
        <p:spPr>
          <a:xfrm>
            <a:off x="1920240" y="3895344"/>
            <a:ext cx="0" cy="155447"/>
          </a:xfrm>
          <a:prstGeom prst="straightConnector1">
            <a:avLst/>
          </a:prstGeom>
          <a:noFill/>
          <a:ln cap="flat" cmpd="sng" w="10150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1" name="Google Shape;1251;p26"/>
          <p:cNvSpPr/>
          <p:nvPr/>
        </p:nvSpPr>
        <p:spPr>
          <a:xfrm>
            <a:off x="777240" y="3364992"/>
            <a:ext cx="2286000" cy="530352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2" name="Google Shape;1252;p26"/>
          <p:cNvCxnSpPr/>
          <p:nvPr/>
        </p:nvCxnSpPr>
        <p:spPr>
          <a:xfrm>
            <a:off x="868680" y="347472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3" name="Google Shape;1253;p26"/>
          <p:cNvSpPr txBox="1"/>
          <p:nvPr/>
        </p:nvSpPr>
        <p:spPr>
          <a:xfrm>
            <a:off x="886968" y="3419856"/>
            <a:ext cx="206654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Art Lead Agent</a:t>
            </a:r>
            <a:endParaRPr/>
          </a:p>
        </p:txBody>
      </p:sp>
      <p:sp>
        <p:nvSpPr>
          <p:cNvPr id="1254" name="Google Shape;1254;p26"/>
          <p:cNvSpPr/>
          <p:nvPr/>
        </p:nvSpPr>
        <p:spPr>
          <a:xfrm>
            <a:off x="914400" y="4078224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6"/>
          <p:cNvSpPr txBox="1"/>
          <p:nvPr/>
        </p:nvSpPr>
        <p:spPr>
          <a:xfrm>
            <a:off x="950976" y="411022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Mockup agent</a:t>
            </a:r>
            <a:endParaRPr/>
          </a:p>
        </p:txBody>
      </p:sp>
      <p:sp>
        <p:nvSpPr>
          <p:cNvPr id="1256" name="Google Shape;1256;p26"/>
          <p:cNvSpPr/>
          <p:nvPr/>
        </p:nvSpPr>
        <p:spPr>
          <a:xfrm>
            <a:off x="914400" y="4425696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6"/>
          <p:cNvSpPr txBox="1"/>
          <p:nvPr/>
        </p:nvSpPr>
        <p:spPr>
          <a:xfrm>
            <a:off x="950976" y="4457700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Asset generator</a:t>
            </a:r>
            <a:endParaRPr/>
          </a:p>
        </p:txBody>
      </p:sp>
      <p:sp>
        <p:nvSpPr>
          <p:cNvPr id="1258" name="Google Shape;1258;p26"/>
          <p:cNvSpPr/>
          <p:nvPr/>
        </p:nvSpPr>
        <p:spPr>
          <a:xfrm>
            <a:off x="914400" y="4773168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6"/>
          <p:cNvSpPr txBox="1"/>
          <p:nvPr/>
        </p:nvSpPr>
        <p:spPr>
          <a:xfrm>
            <a:off x="950976" y="480517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Style QA</a:t>
            </a:r>
            <a:endParaRPr/>
          </a:p>
        </p:txBody>
      </p:sp>
      <p:sp>
        <p:nvSpPr>
          <p:cNvPr id="1260" name="Google Shape;1260;p26"/>
          <p:cNvSpPr/>
          <p:nvPr/>
        </p:nvSpPr>
        <p:spPr>
          <a:xfrm>
            <a:off x="914400" y="5120640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6"/>
          <p:cNvSpPr txBox="1"/>
          <p:nvPr/>
        </p:nvSpPr>
        <p:spPr>
          <a:xfrm>
            <a:off x="950976" y="5152644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Icon / VFX</a:t>
            </a:r>
            <a:endParaRPr/>
          </a:p>
        </p:txBody>
      </p:sp>
      <p:cxnSp>
        <p:nvCxnSpPr>
          <p:cNvPr id="1262" name="Google Shape;1262;p26"/>
          <p:cNvCxnSpPr/>
          <p:nvPr/>
        </p:nvCxnSpPr>
        <p:spPr>
          <a:xfrm>
            <a:off x="4389120" y="3895344"/>
            <a:ext cx="0" cy="155447"/>
          </a:xfrm>
          <a:prstGeom prst="straightConnector1">
            <a:avLst/>
          </a:prstGeom>
          <a:noFill/>
          <a:ln cap="flat" cmpd="sng" w="10150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3" name="Google Shape;1263;p26"/>
          <p:cNvSpPr/>
          <p:nvPr/>
        </p:nvSpPr>
        <p:spPr>
          <a:xfrm>
            <a:off x="3246120" y="3364992"/>
            <a:ext cx="2286000" cy="530352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p26"/>
          <p:cNvCxnSpPr/>
          <p:nvPr/>
        </p:nvCxnSpPr>
        <p:spPr>
          <a:xfrm>
            <a:off x="3337560" y="347472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5" name="Google Shape;1265;p26"/>
          <p:cNvSpPr txBox="1"/>
          <p:nvPr/>
        </p:nvSpPr>
        <p:spPr>
          <a:xfrm>
            <a:off x="3355848" y="3419856"/>
            <a:ext cx="206654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Design Lead Agent</a:t>
            </a:r>
            <a:endParaRPr/>
          </a:p>
        </p:txBody>
      </p:sp>
      <p:sp>
        <p:nvSpPr>
          <p:cNvPr id="1266" name="Google Shape;1266;p26"/>
          <p:cNvSpPr/>
          <p:nvPr/>
        </p:nvSpPr>
        <p:spPr>
          <a:xfrm>
            <a:off x="3383279" y="4078224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6"/>
          <p:cNvSpPr txBox="1"/>
          <p:nvPr/>
        </p:nvSpPr>
        <p:spPr>
          <a:xfrm>
            <a:off x="3419856" y="411022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GDD agent</a:t>
            </a:r>
            <a:endParaRPr/>
          </a:p>
        </p:txBody>
      </p:sp>
      <p:sp>
        <p:nvSpPr>
          <p:cNvPr id="1268" name="Google Shape;1268;p26"/>
          <p:cNvSpPr/>
          <p:nvPr/>
        </p:nvSpPr>
        <p:spPr>
          <a:xfrm>
            <a:off x="3383279" y="4425696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6"/>
          <p:cNvSpPr txBox="1"/>
          <p:nvPr/>
        </p:nvSpPr>
        <p:spPr>
          <a:xfrm>
            <a:off x="3419856" y="4457700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Mechanics</a:t>
            </a:r>
            <a:endParaRPr/>
          </a:p>
        </p:txBody>
      </p:sp>
      <p:sp>
        <p:nvSpPr>
          <p:cNvPr id="1270" name="Google Shape;1270;p26"/>
          <p:cNvSpPr/>
          <p:nvPr/>
        </p:nvSpPr>
        <p:spPr>
          <a:xfrm>
            <a:off x="3383279" y="4773168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26"/>
          <p:cNvSpPr txBox="1"/>
          <p:nvPr/>
        </p:nvSpPr>
        <p:spPr>
          <a:xfrm>
            <a:off x="3419856" y="480517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Economy / balance</a:t>
            </a:r>
            <a:endParaRPr/>
          </a:p>
        </p:txBody>
      </p:sp>
      <p:sp>
        <p:nvSpPr>
          <p:cNvPr id="1272" name="Google Shape;1272;p26"/>
          <p:cNvSpPr/>
          <p:nvPr/>
        </p:nvSpPr>
        <p:spPr>
          <a:xfrm>
            <a:off x="3383279" y="5120640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6"/>
          <p:cNvSpPr txBox="1"/>
          <p:nvPr/>
        </p:nvSpPr>
        <p:spPr>
          <a:xfrm>
            <a:off x="3419856" y="5152644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Level design</a:t>
            </a:r>
            <a:endParaRPr/>
          </a:p>
        </p:txBody>
      </p:sp>
      <p:cxnSp>
        <p:nvCxnSpPr>
          <p:cNvPr id="1274" name="Google Shape;1274;p26"/>
          <p:cNvCxnSpPr/>
          <p:nvPr/>
        </p:nvCxnSpPr>
        <p:spPr>
          <a:xfrm>
            <a:off x="6858000" y="3895344"/>
            <a:ext cx="0" cy="155447"/>
          </a:xfrm>
          <a:prstGeom prst="straightConnector1">
            <a:avLst/>
          </a:prstGeom>
          <a:noFill/>
          <a:ln cap="flat" cmpd="sng" w="1015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5" name="Google Shape;1275;p26"/>
          <p:cNvSpPr/>
          <p:nvPr/>
        </p:nvSpPr>
        <p:spPr>
          <a:xfrm>
            <a:off x="5715000" y="3364992"/>
            <a:ext cx="2286000" cy="530352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6" name="Google Shape;1276;p26"/>
          <p:cNvCxnSpPr/>
          <p:nvPr/>
        </p:nvCxnSpPr>
        <p:spPr>
          <a:xfrm>
            <a:off x="5806440" y="347472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7" name="Google Shape;1277;p26"/>
          <p:cNvSpPr txBox="1"/>
          <p:nvPr/>
        </p:nvSpPr>
        <p:spPr>
          <a:xfrm>
            <a:off x="5824728" y="3419856"/>
            <a:ext cx="206654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Engineering Lead</a:t>
            </a:r>
            <a:endParaRPr/>
          </a:p>
        </p:txBody>
      </p:sp>
      <p:sp>
        <p:nvSpPr>
          <p:cNvPr id="1278" name="Google Shape;1278;p26"/>
          <p:cNvSpPr/>
          <p:nvPr/>
        </p:nvSpPr>
        <p:spPr>
          <a:xfrm>
            <a:off x="5852160" y="4078224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26"/>
          <p:cNvSpPr txBox="1"/>
          <p:nvPr/>
        </p:nvSpPr>
        <p:spPr>
          <a:xfrm>
            <a:off x="5888736" y="411022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Codex gameplay</a:t>
            </a:r>
            <a:endParaRPr/>
          </a:p>
        </p:txBody>
      </p:sp>
      <p:sp>
        <p:nvSpPr>
          <p:cNvPr id="1280" name="Google Shape;1280;p26"/>
          <p:cNvSpPr/>
          <p:nvPr/>
        </p:nvSpPr>
        <p:spPr>
          <a:xfrm>
            <a:off x="5852160" y="4425696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26"/>
          <p:cNvSpPr txBox="1"/>
          <p:nvPr/>
        </p:nvSpPr>
        <p:spPr>
          <a:xfrm>
            <a:off x="5888736" y="4457700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Codex UI</a:t>
            </a:r>
            <a:endParaRPr/>
          </a:p>
        </p:txBody>
      </p:sp>
      <p:sp>
        <p:nvSpPr>
          <p:cNvPr id="1282" name="Google Shape;1282;p26"/>
          <p:cNvSpPr/>
          <p:nvPr/>
        </p:nvSpPr>
        <p:spPr>
          <a:xfrm>
            <a:off x="5852160" y="4773168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26"/>
          <p:cNvSpPr txBox="1"/>
          <p:nvPr/>
        </p:nvSpPr>
        <p:spPr>
          <a:xfrm>
            <a:off x="5888736" y="480517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Architecture validator</a:t>
            </a:r>
            <a:endParaRPr/>
          </a:p>
        </p:txBody>
      </p:sp>
      <p:sp>
        <p:nvSpPr>
          <p:cNvPr id="1284" name="Google Shape;1284;p26"/>
          <p:cNvSpPr/>
          <p:nvPr/>
        </p:nvSpPr>
        <p:spPr>
          <a:xfrm>
            <a:off x="5852160" y="5120640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26"/>
          <p:cNvSpPr txBox="1"/>
          <p:nvPr/>
        </p:nvSpPr>
        <p:spPr>
          <a:xfrm>
            <a:off x="5888736" y="5152644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Test generator</a:t>
            </a:r>
            <a:endParaRPr/>
          </a:p>
        </p:txBody>
      </p:sp>
      <p:cxnSp>
        <p:nvCxnSpPr>
          <p:cNvPr id="1286" name="Google Shape;1286;p26"/>
          <p:cNvCxnSpPr/>
          <p:nvPr/>
        </p:nvCxnSpPr>
        <p:spPr>
          <a:xfrm>
            <a:off x="9326880" y="3895344"/>
            <a:ext cx="0" cy="155447"/>
          </a:xfrm>
          <a:prstGeom prst="straightConnector1">
            <a:avLst/>
          </a:prstGeom>
          <a:noFill/>
          <a:ln cap="flat" cmpd="sng" w="10150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7" name="Google Shape;1287;p26"/>
          <p:cNvSpPr/>
          <p:nvPr/>
        </p:nvSpPr>
        <p:spPr>
          <a:xfrm>
            <a:off x="8183879" y="3364992"/>
            <a:ext cx="2286000" cy="530352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p26"/>
          <p:cNvCxnSpPr/>
          <p:nvPr/>
        </p:nvCxnSpPr>
        <p:spPr>
          <a:xfrm>
            <a:off x="8275319" y="3474720"/>
            <a:ext cx="292609" cy="0"/>
          </a:xfrm>
          <a:prstGeom prst="straightConnector1">
            <a:avLst/>
          </a:prstGeom>
          <a:noFill/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9" name="Google Shape;1289;p26"/>
          <p:cNvSpPr txBox="1"/>
          <p:nvPr/>
        </p:nvSpPr>
        <p:spPr>
          <a:xfrm>
            <a:off x="8293607" y="3419856"/>
            <a:ext cx="206654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QA / Build Lead</a:t>
            </a:r>
            <a:endParaRPr/>
          </a:p>
        </p:txBody>
      </p:sp>
      <p:sp>
        <p:nvSpPr>
          <p:cNvPr id="1290" name="Google Shape;1290;p26"/>
          <p:cNvSpPr/>
          <p:nvPr/>
        </p:nvSpPr>
        <p:spPr>
          <a:xfrm>
            <a:off x="8321040" y="4078224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26"/>
          <p:cNvSpPr txBox="1"/>
          <p:nvPr/>
        </p:nvSpPr>
        <p:spPr>
          <a:xfrm>
            <a:off x="8357615" y="411022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Play Mode tests</a:t>
            </a:r>
            <a:endParaRPr/>
          </a:p>
        </p:txBody>
      </p:sp>
      <p:sp>
        <p:nvSpPr>
          <p:cNvPr id="1292" name="Google Shape;1292;p26"/>
          <p:cNvSpPr/>
          <p:nvPr/>
        </p:nvSpPr>
        <p:spPr>
          <a:xfrm>
            <a:off x="8321040" y="4425696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6"/>
          <p:cNvSpPr txBox="1"/>
          <p:nvPr/>
        </p:nvSpPr>
        <p:spPr>
          <a:xfrm>
            <a:off x="8357615" y="4457700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Visual comparison</a:t>
            </a:r>
            <a:endParaRPr/>
          </a:p>
        </p:txBody>
      </p:sp>
      <p:sp>
        <p:nvSpPr>
          <p:cNvPr id="1294" name="Google Shape;1294;p26"/>
          <p:cNvSpPr/>
          <p:nvPr/>
        </p:nvSpPr>
        <p:spPr>
          <a:xfrm>
            <a:off x="8321040" y="4773168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26"/>
          <p:cNvSpPr txBox="1"/>
          <p:nvPr/>
        </p:nvSpPr>
        <p:spPr>
          <a:xfrm>
            <a:off x="8357615" y="480517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/>
          </a:p>
        </p:txBody>
      </p:sp>
      <p:sp>
        <p:nvSpPr>
          <p:cNvPr id="1296" name="Google Shape;1296;p26"/>
          <p:cNvSpPr/>
          <p:nvPr/>
        </p:nvSpPr>
        <p:spPr>
          <a:xfrm>
            <a:off x="8321040" y="5120640"/>
            <a:ext cx="2011680" cy="256032"/>
          </a:xfrm>
          <a:prstGeom prst="rect">
            <a:avLst/>
          </a:prstGeom>
          <a:solidFill>
            <a:srgbClr val="010D11">
              <a:alpha val="96862"/>
            </a:srgbClr>
          </a:solidFill>
          <a:ln cap="flat" cmpd="sng" w="95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26"/>
          <p:cNvSpPr txBox="1"/>
          <p:nvPr/>
        </p:nvSpPr>
        <p:spPr>
          <a:xfrm>
            <a:off x="8357615" y="5152644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Build / release</a:t>
            </a:r>
            <a:endParaRPr/>
          </a:p>
        </p:txBody>
      </p:sp>
      <p:sp>
        <p:nvSpPr>
          <p:cNvPr id="1298" name="Google Shape;1298;p26"/>
          <p:cNvSpPr/>
          <p:nvPr/>
        </p:nvSpPr>
        <p:spPr>
          <a:xfrm>
            <a:off x="868680" y="5623560"/>
            <a:ext cx="10469880" cy="475488"/>
          </a:xfrm>
          <a:prstGeom prst="rect">
            <a:avLst/>
          </a:prstGeom>
          <a:solidFill>
            <a:srgbClr val="001116">
              <a:alpha val="96078"/>
            </a:srgbClr>
          </a:solidFill>
          <a:ln cap="flat" cmpd="sng" w="12700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26"/>
          <p:cNvSpPr txBox="1"/>
          <p:nvPr/>
        </p:nvSpPr>
        <p:spPr>
          <a:xfrm>
            <a:off x="1024128" y="5724144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BE00"/>
                </a:solidFill>
                <a:latin typeface="Arial"/>
                <a:ea typeface="Arial"/>
                <a:cs typeface="Arial"/>
                <a:sym typeface="Arial"/>
              </a:rPr>
              <a:t>Example: an artist can run mockup, asset, and style-QA agents; those sub-agents report to the Art Lead Agent, which reports to PM.</a:t>
            </a:r>
            <a:endParaRPr/>
          </a:p>
        </p:txBody>
      </p:sp>
      <p:cxnSp>
        <p:nvCxnSpPr>
          <p:cNvPr id="1300" name="Google Shape;1300;p26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1" name="Google Shape;1301;p26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302" name="Google Shape;1302;p2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7" name="Google Shape;13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0196"/>
            </a:srgbClr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7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E00"/>
          </a:solidFill>
          <a:ln cap="flat" cmpd="sng" w="95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1" name="Google Shape;1311;p27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2" name="Google Shape;1312;p27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3" name="Google Shape;1313;p27"/>
          <p:cNvCxnSpPr/>
          <p:nvPr/>
        </p:nvCxnSpPr>
        <p:spPr>
          <a:xfrm>
            <a:off x="11210544" y="29260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4" name="Google Shape;1314;p27"/>
          <p:cNvCxnSpPr/>
          <p:nvPr/>
        </p:nvCxnSpPr>
        <p:spPr>
          <a:xfrm>
            <a:off x="11896344" y="29260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5" name="Google Shape;1315;p27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6" name="Google Shape;1316;p27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7" name="Google Shape;1317;p27"/>
          <p:cNvCxnSpPr/>
          <p:nvPr/>
        </p:nvCxnSpPr>
        <p:spPr>
          <a:xfrm>
            <a:off x="11210544" y="656539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8" name="Google Shape;1318;p27"/>
          <p:cNvCxnSpPr/>
          <p:nvPr/>
        </p:nvCxnSpPr>
        <p:spPr>
          <a:xfrm>
            <a:off x="11896344" y="61264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9" name="Google Shape;1319;p27"/>
          <p:cNvSpPr txBox="1"/>
          <p:nvPr/>
        </p:nvSpPr>
        <p:spPr>
          <a:xfrm>
            <a:off x="566928" y="201168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CLOUD COLLABORATION</a:t>
            </a:r>
            <a:endParaRPr/>
          </a:p>
        </p:txBody>
      </p:sp>
      <p:sp>
        <p:nvSpPr>
          <p:cNvPr id="1320" name="Google Shape;1320;p27"/>
          <p:cNvSpPr txBox="1"/>
          <p:nvPr/>
        </p:nvSpPr>
        <p:spPr>
          <a:xfrm>
            <a:off x="658368" y="53035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BF6F8"/>
                </a:solidFill>
                <a:latin typeface="Play"/>
                <a:ea typeface="Play"/>
                <a:cs typeface="Play"/>
                <a:sym typeface="Play"/>
              </a:rPr>
              <a:t>Scoped agent workspaces, shared source of truth</a:t>
            </a:r>
            <a:endParaRPr/>
          </a:p>
        </p:txBody>
      </p:sp>
      <p:sp>
        <p:nvSpPr>
          <p:cNvPr id="1321" name="Google Shape;1321;p27"/>
          <p:cNvSpPr txBox="1"/>
          <p:nvPr/>
        </p:nvSpPr>
        <p:spPr>
          <a:xfrm>
            <a:off x="713232" y="106984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Team members manage their own agents and Codex tasks, while the project keeps one governed state.</a:t>
            </a:r>
            <a:endParaRPr/>
          </a:p>
        </p:txBody>
      </p:sp>
      <p:sp>
        <p:nvSpPr>
          <p:cNvPr id="1322" name="Google Shape;1322;p27"/>
          <p:cNvSpPr/>
          <p:nvPr/>
        </p:nvSpPr>
        <p:spPr>
          <a:xfrm>
            <a:off x="731520" y="1417320"/>
            <a:ext cx="2057400" cy="256032"/>
          </a:xfrm>
          <a:prstGeom prst="rect">
            <a:avLst/>
          </a:prstGeom>
          <a:solidFill>
            <a:srgbClr val="011217">
              <a:alpha val="96078"/>
            </a:srgbClr>
          </a:solidFill>
          <a:ln cap="flat" cmpd="sng" w="114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7"/>
          <p:cNvSpPr txBox="1"/>
          <p:nvPr/>
        </p:nvSpPr>
        <p:spPr>
          <a:xfrm>
            <a:off x="768096" y="144932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6DFF9A"/>
                </a:solidFill>
                <a:latin typeface="Arial"/>
                <a:ea typeface="Arial"/>
                <a:cs typeface="Arial"/>
                <a:sym typeface="Arial"/>
              </a:rPr>
              <a:t>HUMAN OWNERS</a:t>
            </a:r>
            <a:endParaRPr/>
          </a:p>
        </p:txBody>
      </p:sp>
      <p:sp>
        <p:nvSpPr>
          <p:cNvPr id="1324" name="Google Shape;1324;p27"/>
          <p:cNvSpPr/>
          <p:nvPr/>
        </p:nvSpPr>
        <p:spPr>
          <a:xfrm>
            <a:off x="3520440" y="1417320"/>
            <a:ext cx="2743200" cy="256032"/>
          </a:xfrm>
          <a:prstGeom prst="rect">
            <a:avLst/>
          </a:prstGeom>
          <a:solidFill>
            <a:srgbClr val="011217">
              <a:alpha val="96078"/>
            </a:srgbClr>
          </a:solidFill>
          <a:ln cap="flat" cmpd="sng" w="114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7"/>
          <p:cNvSpPr txBox="1"/>
          <p:nvPr/>
        </p:nvSpPr>
        <p:spPr>
          <a:xfrm>
            <a:off x="3557016" y="1449324"/>
            <a:ext cx="2670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CLOUD AGENT WORKSPACES</a:t>
            </a:r>
            <a:endParaRPr/>
          </a:p>
        </p:txBody>
      </p:sp>
      <p:sp>
        <p:nvSpPr>
          <p:cNvPr id="1326" name="Google Shape;1326;p27"/>
          <p:cNvSpPr/>
          <p:nvPr/>
        </p:nvSpPr>
        <p:spPr>
          <a:xfrm>
            <a:off x="6903720" y="1417320"/>
            <a:ext cx="2377440" cy="256032"/>
          </a:xfrm>
          <a:prstGeom prst="rect">
            <a:avLst/>
          </a:prstGeom>
          <a:solidFill>
            <a:srgbClr val="011217">
              <a:alpha val="96078"/>
            </a:srgbClr>
          </a:solidFill>
          <a:ln cap="flat" cmpd="sng" w="114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7"/>
          <p:cNvSpPr txBox="1"/>
          <p:nvPr/>
        </p:nvSpPr>
        <p:spPr>
          <a:xfrm>
            <a:off x="6940296" y="1449324"/>
            <a:ext cx="23042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FFBE00"/>
                </a:solidFill>
                <a:latin typeface="Arial"/>
                <a:ea typeface="Arial"/>
                <a:cs typeface="Arial"/>
                <a:sym typeface="Arial"/>
              </a:rPr>
              <a:t>LEAD AGENTS → PM</a:t>
            </a:r>
            <a:endParaRPr/>
          </a:p>
        </p:txBody>
      </p:sp>
      <p:cxnSp>
        <p:nvCxnSpPr>
          <p:cNvPr id="1328" name="Google Shape;1328;p27"/>
          <p:cNvCxnSpPr/>
          <p:nvPr/>
        </p:nvCxnSpPr>
        <p:spPr>
          <a:xfrm>
            <a:off x="2788920" y="2002536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9" name="Google Shape;1329;p27"/>
          <p:cNvCxnSpPr/>
          <p:nvPr/>
        </p:nvCxnSpPr>
        <p:spPr>
          <a:xfrm>
            <a:off x="6263640" y="2002536"/>
            <a:ext cx="64008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0" name="Google Shape;1330;p27"/>
          <p:cNvCxnSpPr/>
          <p:nvPr/>
        </p:nvCxnSpPr>
        <p:spPr>
          <a:xfrm>
            <a:off x="2788920" y="2752344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1" name="Google Shape;1331;p27"/>
          <p:cNvCxnSpPr/>
          <p:nvPr/>
        </p:nvCxnSpPr>
        <p:spPr>
          <a:xfrm>
            <a:off x="6263640" y="2752344"/>
            <a:ext cx="64008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2" name="Google Shape;1332;p27"/>
          <p:cNvCxnSpPr/>
          <p:nvPr/>
        </p:nvCxnSpPr>
        <p:spPr>
          <a:xfrm>
            <a:off x="2788920" y="3502152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3" name="Google Shape;1333;p27"/>
          <p:cNvCxnSpPr/>
          <p:nvPr/>
        </p:nvCxnSpPr>
        <p:spPr>
          <a:xfrm>
            <a:off x="6263640" y="3502152"/>
            <a:ext cx="64008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4" name="Google Shape;1334;p27"/>
          <p:cNvCxnSpPr/>
          <p:nvPr/>
        </p:nvCxnSpPr>
        <p:spPr>
          <a:xfrm>
            <a:off x="2788920" y="4251960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5" name="Google Shape;1335;p27"/>
          <p:cNvCxnSpPr/>
          <p:nvPr/>
        </p:nvCxnSpPr>
        <p:spPr>
          <a:xfrm>
            <a:off x="6263640" y="4251960"/>
            <a:ext cx="640080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6" name="Google Shape;1336;p27"/>
          <p:cNvCxnSpPr/>
          <p:nvPr/>
        </p:nvCxnSpPr>
        <p:spPr>
          <a:xfrm>
            <a:off x="9281160" y="3099816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7" name="Google Shape;1337;p27"/>
          <p:cNvCxnSpPr/>
          <p:nvPr/>
        </p:nvCxnSpPr>
        <p:spPr>
          <a:xfrm>
            <a:off x="10771632" y="2770632"/>
            <a:ext cx="0" cy="502920"/>
          </a:xfrm>
          <a:prstGeom prst="straightConnector1">
            <a:avLst/>
          </a:prstGeom>
          <a:noFill/>
          <a:ln cap="flat" cmpd="sng" w="114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8" name="Google Shape;1338;p27"/>
          <p:cNvSpPr/>
          <p:nvPr/>
        </p:nvSpPr>
        <p:spPr>
          <a:xfrm>
            <a:off x="731520" y="1719072"/>
            <a:ext cx="20574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9" name="Google Shape;1339;p27"/>
          <p:cNvCxnSpPr/>
          <p:nvPr/>
        </p:nvCxnSpPr>
        <p:spPr>
          <a:xfrm>
            <a:off x="822960" y="182880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0" name="Google Shape;1340;p27"/>
          <p:cNvSpPr txBox="1"/>
          <p:nvPr/>
        </p:nvSpPr>
        <p:spPr>
          <a:xfrm>
            <a:off x="841248" y="1773936"/>
            <a:ext cx="1837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Artist</a:t>
            </a:r>
            <a:endParaRPr/>
          </a:p>
        </p:txBody>
      </p:sp>
      <p:sp>
        <p:nvSpPr>
          <p:cNvPr id="1341" name="Google Shape;1341;p27"/>
          <p:cNvSpPr/>
          <p:nvPr/>
        </p:nvSpPr>
        <p:spPr>
          <a:xfrm>
            <a:off x="3520440" y="1719072"/>
            <a:ext cx="27432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2" name="Google Shape;1342;p27"/>
          <p:cNvCxnSpPr/>
          <p:nvPr/>
        </p:nvCxnSpPr>
        <p:spPr>
          <a:xfrm>
            <a:off x="3611880" y="182880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3" name="Google Shape;1343;p27"/>
          <p:cNvSpPr txBox="1"/>
          <p:nvPr/>
        </p:nvSpPr>
        <p:spPr>
          <a:xfrm>
            <a:off x="3630168" y="1773936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mockups • assets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style QA</a:t>
            </a:r>
            <a:endParaRPr/>
          </a:p>
        </p:txBody>
      </p:sp>
      <p:sp>
        <p:nvSpPr>
          <p:cNvPr id="1344" name="Google Shape;1344;p27"/>
          <p:cNvSpPr/>
          <p:nvPr/>
        </p:nvSpPr>
        <p:spPr>
          <a:xfrm>
            <a:off x="6903720" y="1719072"/>
            <a:ext cx="237744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27"/>
          <p:cNvCxnSpPr/>
          <p:nvPr/>
        </p:nvCxnSpPr>
        <p:spPr>
          <a:xfrm>
            <a:off x="6995159" y="1828800"/>
            <a:ext cx="292609" cy="0"/>
          </a:xfrm>
          <a:prstGeom prst="straightConnector1">
            <a:avLst/>
          </a:prstGeom>
          <a:noFill/>
          <a:ln cap="flat" cmpd="sng" w="15225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6" name="Google Shape;1346;p27"/>
          <p:cNvSpPr txBox="1"/>
          <p:nvPr/>
        </p:nvSpPr>
        <p:spPr>
          <a:xfrm>
            <a:off x="7013448" y="1773936"/>
            <a:ext cx="21579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Art Lead Agent</a:t>
            </a:r>
            <a:endParaRPr/>
          </a:p>
        </p:txBody>
      </p:sp>
      <p:sp>
        <p:nvSpPr>
          <p:cNvPr id="1347" name="Google Shape;1347;p27"/>
          <p:cNvSpPr/>
          <p:nvPr/>
        </p:nvSpPr>
        <p:spPr>
          <a:xfrm>
            <a:off x="731520" y="2468879"/>
            <a:ext cx="20574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8" name="Google Shape;1348;p27"/>
          <p:cNvCxnSpPr/>
          <p:nvPr/>
        </p:nvCxnSpPr>
        <p:spPr>
          <a:xfrm>
            <a:off x="822960" y="257860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9" name="Google Shape;1349;p27"/>
          <p:cNvSpPr txBox="1"/>
          <p:nvPr/>
        </p:nvSpPr>
        <p:spPr>
          <a:xfrm>
            <a:off x="841248" y="2523744"/>
            <a:ext cx="1837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Designer</a:t>
            </a:r>
            <a:endParaRPr/>
          </a:p>
        </p:txBody>
      </p:sp>
      <p:sp>
        <p:nvSpPr>
          <p:cNvPr id="1350" name="Google Shape;1350;p27"/>
          <p:cNvSpPr/>
          <p:nvPr/>
        </p:nvSpPr>
        <p:spPr>
          <a:xfrm>
            <a:off x="3520440" y="2468879"/>
            <a:ext cx="27432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1" name="Google Shape;1351;p27"/>
          <p:cNvCxnSpPr/>
          <p:nvPr/>
        </p:nvCxnSpPr>
        <p:spPr>
          <a:xfrm>
            <a:off x="3611880" y="257860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2" name="Google Shape;1352;p27"/>
          <p:cNvSpPr txBox="1"/>
          <p:nvPr/>
        </p:nvSpPr>
        <p:spPr>
          <a:xfrm>
            <a:off x="3630168" y="2523744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GDD • mechanics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balance checks</a:t>
            </a:r>
            <a:endParaRPr/>
          </a:p>
        </p:txBody>
      </p:sp>
      <p:sp>
        <p:nvSpPr>
          <p:cNvPr id="1353" name="Google Shape;1353;p27"/>
          <p:cNvSpPr/>
          <p:nvPr/>
        </p:nvSpPr>
        <p:spPr>
          <a:xfrm>
            <a:off x="6903720" y="2468879"/>
            <a:ext cx="237744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4" name="Google Shape;1354;p27"/>
          <p:cNvCxnSpPr/>
          <p:nvPr/>
        </p:nvCxnSpPr>
        <p:spPr>
          <a:xfrm>
            <a:off x="6995159" y="2578608"/>
            <a:ext cx="292609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5" name="Google Shape;1355;p27"/>
          <p:cNvSpPr txBox="1"/>
          <p:nvPr/>
        </p:nvSpPr>
        <p:spPr>
          <a:xfrm>
            <a:off x="7013448" y="2523744"/>
            <a:ext cx="21579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Design Lead Agent</a:t>
            </a:r>
            <a:endParaRPr/>
          </a:p>
        </p:txBody>
      </p:sp>
      <p:sp>
        <p:nvSpPr>
          <p:cNvPr id="1356" name="Google Shape;1356;p27"/>
          <p:cNvSpPr/>
          <p:nvPr/>
        </p:nvSpPr>
        <p:spPr>
          <a:xfrm>
            <a:off x="731520" y="3218687"/>
            <a:ext cx="20574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27"/>
          <p:cNvCxnSpPr/>
          <p:nvPr/>
        </p:nvCxnSpPr>
        <p:spPr>
          <a:xfrm>
            <a:off x="822960" y="3328415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8" name="Google Shape;1358;p27"/>
          <p:cNvSpPr txBox="1"/>
          <p:nvPr/>
        </p:nvSpPr>
        <p:spPr>
          <a:xfrm>
            <a:off x="841248" y="3273551"/>
            <a:ext cx="1837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Engineer</a:t>
            </a:r>
            <a:endParaRPr/>
          </a:p>
        </p:txBody>
      </p:sp>
      <p:sp>
        <p:nvSpPr>
          <p:cNvPr id="1359" name="Google Shape;1359;p27"/>
          <p:cNvSpPr/>
          <p:nvPr/>
        </p:nvSpPr>
        <p:spPr>
          <a:xfrm>
            <a:off x="3520440" y="3218687"/>
            <a:ext cx="27432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0" name="Google Shape;1360;p27"/>
          <p:cNvCxnSpPr/>
          <p:nvPr/>
        </p:nvCxnSpPr>
        <p:spPr>
          <a:xfrm>
            <a:off x="3611880" y="3328415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1" name="Google Shape;1361;p27"/>
          <p:cNvSpPr txBox="1"/>
          <p:nvPr/>
        </p:nvSpPr>
        <p:spPr>
          <a:xfrm>
            <a:off x="3630168" y="3273551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Codex feature work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refactor • review</a:t>
            </a:r>
            <a:endParaRPr/>
          </a:p>
        </p:txBody>
      </p:sp>
      <p:sp>
        <p:nvSpPr>
          <p:cNvPr id="1362" name="Google Shape;1362;p27"/>
          <p:cNvSpPr/>
          <p:nvPr/>
        </p:nvSpPr>
        <p:spPr>
          <a:xfrm>
            <a:off x="6903720" y="3218687"/>
            <a:ext cx="237744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27"/>
          <p:cNvCxnSpPr/>
          <p:nvPr/>
        </p:nvCxnSpPr>
        <p:spPr>
          <a:xfrm>
            <a:off x="6995159" y="3328415"/>
            <a:ext cx="292609" cy="0"/>
          </a:xfrm>
          <a:prstGeom prst="straightConnector1">
            <a:avLst/>
          </a:prstGeom>
          <a:noFill/>
          <a:ln cap="flat" cmpd="sng" w="152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4" name="Google Shape;1364;p27"/>
          <p:cNvSpPr txBox="1"/>
          <p:nvPr/>
        </p:nvSpPr>
        <p:spPr>
          <a:xfrm>
            <a:off x="7013448" y="3273551"/>
            <a:ext cx="21579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Engineering Lead</a:t>
            </a:r>
            <a:endParaRPr/>
          </a:p>
        </p:txBody>
      </p:sp>
      <p:sp>
        <p:nvSpPr>
          <p:cNvPr id="1365" name="Google Shape;1365;p27"/>
          <p:cNvSpPr/>
          <p:nvPr/>
        </p:nvSpPr>
        <p:spPr>
          <a:xfrm>
            <a:off x="731520" y="3968496"/>
            <a:ext cx="20574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6" name="Google Shape;1366;p27"/>
          <p:cNvCxnSpPr/>
          <p:nvPr/>
        </p:nvCxnSpPr>
        <p:spPr>
          <a:xfrm>
            <a:off x="822960" y="4078224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7" name="Google Shape;1367;p27"/>
          <p:cNvSpPr txBox="1"/>
          <p:nvPr/>
        </p:nvSpPr>
        <p:spPr>
          <a:xfrm>
            <a:off x="841248" y="4023359"/>
            <a:ext cx="1837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QA / Build</a:t>
            </a:r>
            <a:endParaRPr/>
          </a:p>
        </p:txBody>
      </p:sp>
      <p:sp>
        <p:nvSpPr>
          <p:cNvPr id="1368" name="Google Shape;1368;p27"/>
          <p:cNvSpPr/>
          <p:nvPr/>
        </p:nvSpPr>
        <p:spPr>
          <a:xfrm>
            <a:off x="3520440" y="3968496"/>
            <a:ext cx="274320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9" name="Google Shape;1369;p27"/>
          <p:cNvCxnSpPr/>
          <p:nvPr/>
        </p:nvCxnSpPr>
        <p:spPr>
          <a:xfrm>
            <a:off x="3611880" y="4078224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0" name="Google Shape;1370;p27"/>
          <p:cNvSpPr txBox="1"/>
          <p:nvPr/>
        </p:nvSpPr>
        <p:spPr>
          <a:xfrm>
            <a:off x="3630168" y="4023359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tests • captures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7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release logs</a:t>
            </a:r>
            <a:endParaRPr/>
          </a:p>
        </p:txBody>
      </p:sp>
      <p:sp>
        <p:nvSpPr>
          <p:cNvPr id="1371" name="Google Shape;1371;p27"/>
          <p:cNvSpPr/>
          <p:nvPr/>
        </p:nvSpPr>
        <p:spPr>
          <a:xfrm>
            <a:off x="6903720" y="3968496"/>
            <a:ext cx="2377440" cy="566928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2" name="Google Shape;1372;p27"/>
          <p:cNvCxnSpPr/>
          <p:nvPr/>
        </p:nvCxnSpPr>
        <p:spPr>
          <a:xfrm>
            <a:off x="6995159" y="4078224"/>
            <a:ext cx="292609" cy="0"/>
          </a:xfrm>
          <a:prstGeom prst="straightConnector1">
            <a:avLst/>
          </a:prstGeom>
          <a:noFill/>
          <a:ln cap="flat" cmpd="sng" w="15225">
            <a:solidFill>
              <a:srgbClr val="67BC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3" name="Google Shape;1373;p27"/>
          <p:cNvSpPr txBox="1"/>
          <p:nvPr/>
        </p:nvSpPr>
        <p:spPr>
          <a:xfrm>
            <a:off x="7013448" y="4023359"/>
            <a:ext cx="21579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QA Lead Agent</a:t>
            </a:r>
            <a:endParaRPr/>
          </a:p>
        </p:txBody>
      </p:sp>
      <p:sp>
        <p:nvSpPr>
          <p:cNvPr id="1374" name="Google Shape;1374;p27"/>
          <p:cNvSpPr/>
          <p:nvPr/>
        </p:nvSpPr>
        <p:spPr>
          <a:xfrm>
            <a:off x="9646920" y="1920240"/>
            <a:ext cx="2240280" cy="713232"/>
          </a:xfrm>
          <a:prstGeom prst="rect">
            <a:avLst/>
          </a:prstGeom>
          <a:solidFill>
            <a:srgbClr val="030F13">
              <a:alpha val="96862"/>
            </a:srgbClr>
          </a:solidFill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5" name="Google Shape;1375;p27"/>
          <p:cNvCxnSpPr/>
          <p:nvPr/>
        </p:nvCxnSpPr>
        <p:spPr>
          <a:xfrm>
            <a:off x="9738360" y="2029968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6" name="Google Shape;1376;p27"/>
          <p:cNvSpPr txBox="1"/>
          <p:nvPr/>
        </p:nvSpPr>
        <p:spPr>
          <a:xfrm>
            <a:off x="9765792" y="2057400"/>
            <a:ext cx="2002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PM Orchestration Agent</a:t>
            </a:r>
            <a:endParaRPr/>
          </a:p>
        </p:txBody>
      </p:sp>
      <p:sp>
        <p:nvSpPr>
          <p:cNvPr id="1377" name="Google Shape;1377;p27"/>
          <p:cNvSpPr txBox="1"/>
          <p:nvPr/>
        </p:nvSpPr>
        <p:spPr>
          <a:xfrm>
            <a:off x="9774936" y="2350008"/>
            <a:ext cx="1984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milestones • dependencies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19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approval requests</a:t>
            </a:r>
            <a:endParaRPr/>
          </a:p>
        </p:txBody>
      </p:sp>
      <p:sp>
        <p:nvSpPr>
          <p:cNvPr id="1378" name="Google Shape;1378;p27"/>
          <p:cNvSpPr/>
          <p:nvPr/>
        </p:nvSpPr>
        <p:spPr>
          <a:xfrm>
            <a:off x="9491472" y="3273552"/>
            <a:ext cx="2542032" cy="1170432"/>
          </a:xfrm>
          <a:prstGeom prst="rect">
            <a:avLst/>
          </a:prstGeom>
          <a:solidFill>
            <a:srgbClr val="011218">
              <a:alpha val="96862"/>
            </a:srgbClr>
          </a:solidFill>
          <a:ln cap="flat" cmpd="sng" w="12700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7"/>
          <p:cNvSpPr txBox="1"/>
          <p:nvPr/>
        </p:nvSpPr>
        <p:spPr>
          <a:xfrm>
            <a:off x="9646920" y="340156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Shared Source of Truth</a:t>
            </a:r>
            <a:endParaRPr/>
          </a:p>
        </p:txBody>
      </p:sp>
      <p:sp>
        <p:nvSpPr>
          <p:cNvPr id="1380" name="Google Shape;1380;p27"/>
          <p:cNvSpPr txBox="1"/>
          <p:nvPr/>
        </p:nvSpPr>
        <p:spPr>
          <a:xfrm>
            <a:off x="9674352" y="3703320"/>
            <a:ext cx="21396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repo + branches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8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design docs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8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asset library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8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tests + builds</a:t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>
            <a:off x="777240" y="4956048"/>
            <a:ext cx="11109960" cy="822960"/>
          </a:xfrm>
          <a:prstGeom prst="rect">
            <a:avLst/>
          </a:prstGeom>
          <a:solidFill>
            <a:srgbClr val="001116">
              <a:alpha val="96078"/>
            </a:srgbClr>
          </a:solidFill>
          <a:ln cap="flat" cmpd="sng" w="12700">
            <a:solidFill>
              <a:srgbClr val="6DFF9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7"/>
          <p:cNvSpPr txBox="1"/>
          <p:nvPr/>
        </p:nvSpPr>
        <p:spPr>
          <a:xfrm>
            <a:off x="960120" y="510235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DFF9A"/>
                </a:solidFill>
                <a:latin typeface="Arial"/>
                <a:ea typeface="Arial"/>
                <a:cs typeface="Arial"/>
                <a:sym typeface="Arial"/>
              </a:rPr>
              <a:t>Governance guardrails</a:t>
            </a:r>
            <a:endParaRPr/>
          </a:p>
        </p:txBody>
      </p:sp>
      <p:sp>
        <p:nvSpPr>
          <p:cNvPr id="1383" name="Google Shape;1383;p27"/>
          <p:cNvSpPr txBox="1"/>
          <p:nvPr/>
        </p:nvSpPr>
        <p:spPr>
          <a:xfrm>
            <a:off x="2743200" y="5084064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EBF6F8"/>
                </a:solidFill>
                <a:latin typeface="Arial"/>
                <a:ea typeface="Arial"/>
                <a:cs typeface="Arial"/>
                <a:sym typeface="Arial"/>
              </a:rPr>
              <a:t>role-based permissions  •  branch/PR boundaries  •  approval gates  •  audit reports  •  rollback paths  •  replaceable models</a:t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>
            <a:off x="868680" y="5989320"/>
            <a:ext cx="10469880" cy="347472"/>
          </a:xfrm>
          <a:prstGeom prst="rect">
            <a:avLst/>
          </a:prstGeom>
          <a:solidFill>
            <a:srgbClr val="0C0701">
              <a:alpha val="96078"/>
            </a:srgbClr>
          </a:solidFill>
          <a:ln cap="flat" cmpd="sng" w="11425">
            <a:solidFill>
              <a:srgbClr val="FFBE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7"/>
          <p:cNvSpPr txBox="1"/>
          <p:nvPr/>
        </p:nvSpPr>
        <p:spPr>
          <a:xfrm>
            <a:off x="1051560" y="6062472"/>
            <a:ext cx="10104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FFBE00"/>
                </a:solidFill>
                <a:latin typeface="Arial"/>
                <a:ea typeface="Arial"/>
                <a:cs typeface="Arial"/>
                <a:sym typeface="Arial"/>
              </a:rPr>
              <a:t>Enterprise readiness = ownership + permissions + review + accountability + escalation.</a:t>
            </a:r>
            <a:endParaRPr/>
          </a:p>
        </p:txBody>
      </p:sp>
      <p:cxnSp>
        <p:nvCxnSpPr>
          <p:cNvPr id="1386" name="Google Shape;1386;p27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00E5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7" name="Google Shape;1387;p27"/>
          <p:cNvSpPr txBox="1"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AAC3C9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/>
          </a:p>
        </p:txBody>
      </p:sp>
      <p:sp>
        <p:nvSpPr>
          <p:cNvPr id="1388" name="Google Shape;1388;p27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28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8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8" name="Google Shape;1398;p28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9" name="Google Shape;1399;p28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0" name="Google Shape;1400;p28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28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28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3" name="Google Shape;1403;p28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4" name="Google Shape;1404;p28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5" name="Google Shape;1405;p28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6" name="Google Shape;1406;p28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A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What to measure next: production, product + AI cost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28"/>
          <p:cNvSpPr/>
          <p:nvPr/>
        </p:nvSpPr>
        <p:spPr>
          <a:xfrm>
            <a:off x="804672" y="129844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8" name="Google Shape;1408;p28"/>
          <p:cNvCxnSpPr/>
          <p:nvPr/>
        </p:nvCxnSpPr>
        <p:spPr>
          <a:xfrm>
            <a:off x="877824" y="13716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28"/>
          <p:cNvCxnSpPr/>
          <p:nvPr/>
        </p:nvCxnSpPr>
        <p:spPr>
          <a:xfrm>
            <a:off x="5550408" y="193852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0" name="Google Shape;1410;p28"/>
          <p:cNvSpPr/>
          <p:nvPr/>
        </p:nvSpPr>
        <p:spPr>
          <a:xfrm>
            <a:off x="969264" y="137160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Cycle time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idea → approved mockup → Unity result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28"/>
          <p:cNvSpPr/>
          <p:nvPr/>
        </p:nvSpPr>
        <p:spPr>
          <a:xfrm>
            <a:off x="6382512" y="129844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2" name="Google Shape;1412;p28"/>
          <p:cNvCxnSpPr/>
          <p:nvPr/>
        </p:nvCxnSpPr>
        <p:spPr>
          <a:xfrm>
            <a:off x="6455664" y="137160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28"/>
          <p:cNvCxnSpPr/>
          <p:nvPr/>
        </p:nvCxnSpPr>
        <p:spPr>
          <a:xfrm>
            <a:off x="11128248" y="193852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4" name="Google Shape;1414;p28"/>
          <p:cNvSpPr/>
          <p:nvPr/>
        </p:nvSpPr>
        <p:spPr>
          <a:xfrm>
            <a:off x="6547104" y="137160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Visual match quality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AI visual score + human rating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28"/>
          <p:cNvSpPr/>
          <p:nvPr/>
        </p:nvSpPr>
        <p:spPr>
          <a:xfrm>
            <a:off x="804672" y="235000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6" name="Google Shape;1416;p28"/>
          <p:cNvCxnSpPr/>
          <p:nvPr/>
        </p:nvCxnSpPr>
        <p:spPr>
          <a:xfrm>
            <a:off x="877824" y="24231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7" name="Google Shape;1417;p28"/>
          <p:cNvCxnSpPr/>
          <p:nvPr/>
        </p:nvCxnSpPr>
        <p:spPr>
          <a:xfrm>
            <a:off x="5550408" y="299008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8" name="Google Shape;1418;p28"/>
          <p:cNvSpPr/>
          <p:nvPr/>
        </p:nvSpPr>
        <p:spPr>
          <a:xfrm>
            <a:off x="969264" y="242316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Validation rate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tests passed / failed / blocked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28"/>
          <p:cNvSpPr/>
          <p:nvPr/>
        </p:nvSpPr>
        <p:spPr>
          <a:xfrm>
            <a:off x="6382512" y="235000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0" name="Google Shape;1420;p28"/>
          <p:cNvCxnSpPr/>
          <p:nvPr/>
        </p:nvCxnSpPr>
        <p:spPr>
          <a:xfrm>
            <a:off x="6455664" y="242316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1" name="Google Shape;1421;p28"/>
          <p:cNvCxnSpPr/>
          <p:nvPr/>
        </p:nvCxnSpPr>
        <p:spPr>
          <a:xfrm>
            <a:off x="11128248" y="299008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2" name="Google Shape;1422;p28"/>
          <p:cNvSpPr/>
          <p:nvPr/>
        </p:nvSpPr>
        <p:spPr>
          <a:xfrm>
            <a:off x="6547104" y="242316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Agent reliability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honest reports, access failures, retries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28"/>
          <p:cNvSpPr/>
          <p:nvPr/>
        </p:nvSpPr>
        <p:spPr>
          <a:xfrm>
            <a:off x="804672" y="340156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4" name="Google Shape;1424;p28"/>
          <p:cNvCxnSpPr/>
          <p:nvPr/>
        </p:nvCxnSpPr>
        <p:spPr>
          <a:xfrm>
            <a:off x="877824" y="347472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5" name="Google Shape;1425;p28"/>
          <p:cNvCxnSpPr/>
          <p:nvPr/>
        </p:nvCxnSpPr>
        <p:spPr>
          <a:xfrm>
            <a:off x="5550408" y="404164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6" name="Google Shape;1426;p28"/>
          <p:cNvSpPr/>
          <p:nvPr/>
        </p:nvSpPr>
        <p:spPr>
          <a:xfrm>
            <a:off x="969264" y="347472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A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Analytics coverage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event schema, funnels, missing triggers</a:t>
            </a:r>
            <a:endParaRPr/>
          </a:p>
        </p:txBody>
      </p:sp>
      <p:sp>
        <p:nvSpPr>
          <p:cNvPr id="1427" name="Google Shape;1427;p28"/>
          <p:cNvSpPr/>
          <p:nvPr/>
        </p:nvSpPr>
        <p:spPr>
          <a:xfrm>
            <a:off x="6382512" y="3401568"/>
            <a:ext cx="5074920" cy="713232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8" name="Google Shape;1428;p28"/>
          <p:cNvCxnSpPr/>
          <p:nvPr/>
        </p:nvCxnSpPr>
        <p:spPr>
          <a:xfrm>
            <a:off x="6455664" y="3474720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9" name="Google Shape;1429;p28"/>
          <p:cNvCxnSpPr/>
          <p:nvPr/>
        </p:nvCxnSpPr>
        <p:spPr>
          <a:xfrm>
            <a:off x="11128248" y="4041648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1555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0" name="Google Shape;1430;p28"/>
          <p:cNvSpPr/>
          <p:nvPr/>
        </p:nvSpPr>
        <p:spPr>
          <a:xfrm>
            <a:off x="6547104" y="3474720"/>
            <a:ext cx="47457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A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Player funnel health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FAFF"/>
                </a:solidFill>
                <a:latin typeface="Arial"/>
                <a:ea typeface="Arial"/>
                <a:cs typeface="Arial"/>
                <a:sym typeface="Arial"/>
              </a:rPr>
              <a:t>tutorial drop, D1/D7, mission abandon</a:t>
            </a:r>
            <a:endParaRPr/>
          </a:p>
        </p:txBody>
      </p:sp>
      <p:sp>
        <p:nvSpPr>
          <p:cNvPr id="1431" name="Google Shape;1431;p28"/>
          <p:cNvSpPr/>
          <p:nvPr/>
        </p:nvSpPr>
        <p:spPr>
          <a:xfrm>
            <a:off x="868680" y="5486400"/>
            <a:ext cx="10424160" cy="475488"/>
          </a:xfrm>
          <a:prstGeom prst="rect">
            <a:avLst/>
          </a:prstGeom>
          <a:solidFill>
            <a:srgbClr val="0A181C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28"/>
          <p:cNvSpPr/>
          <p:nvPr/>
        </p:nvSpPr>
        <p:spPr>
          <a:xfrm>
            <a:off x="941832" y="5559552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Measure both the AI production system and the player experience it creates.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3" name="Google Shape;1433;p28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4" name="Google Shape;1434;p28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2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1436" name="Google Shape;1436;p28"/>
          <p:cNvSpPr/>
          <p:nvPr/>
        </p:nvSpPr>
        <p:spPr>
          <a:xfrm>
            <a:off x="804672" y="4443984"/>
            <a:ext cx="5074920" cy="676656"/>
          </a:xfrm>
          <a:prstGeom prst="rect">
            <a:avLst/>
          </a:prstGeom>
          <a:solidFill>
            <a:srgbClr val="041A20">
              <a:alpha val="85882"/>
            </a:srgbClr>
          </a:solidFill>
          <a:ln cap="flat" cmpd="sng" w="1270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28"/>
          <p:cNvCxnSpPr/>
          <p:nvPr/>
        </p:nvCxnSpPr>
        <p:spPr>
          <a:xfrm>
            <a:off x="914400" y="455371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8" name="Google Shape;1438;p28"/>
          <p:cNvCxnSpPr/>
          <p:nvPr/>
        </p:nvCxnSpPr>
        <p:spPr>
          <a:xfrm>
            <a:off x="5495544" y="501091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00F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9" name="Google Shape;1439;p28"/>
          <p:cNvSpPr txBox="1"/>
          <p:nvPr/>
        </p:nvSpPr>
        <p:spPr>
          <a:xfrm>
            <a:off x="1005840" y="4590288"/>
            <a:ext cx="4672583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Synthetic playtest coverage</a:t>
            </a:r>
            <a:endParaRPr/>
          </a:p>
        </p:txBody>
      </p:sp>
      <p:sp>
        <p:nvSpPr>
          <p:cNvPr id="1440" name="Google Shape;1440;p28"/>
          <p:cNvSpPr txBox="1"/>
          <p:nvPr/>
        </p:nvSpPr>
        <p:spPr>
          <a:xfrm>
            <a:off x="1005840" y="4919472"/>
            <a:ext cx="467258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personas • sessions • pre-release friction</a:t>
            </a:r>
            <a:endParaRPr/>
          </a:p>
        </p:txBody>
      </p:sp>
      <p:sp>
        <p:nvSpPr>
          <p:cNvPr id="1441" name="Google Shape;1441;p28"/>
          <p:cNvSpPr/>
          <p:nvPr/>
        </p:nvSpPr>
        <p:spPr>
          <a:xfrm>
            <a:off x="6382512" y="4443984"/>
            <a:ext cx="5074920" cy="676656"/>
          </a:xfrm>
          <a:prstGeom prst="rect">
            <a:avLst/>
          </a:prstGeom>
          <a:solidFill>
            <a:srgbClr val="041A20">
              <a:alpha val="85882"/>
            </a:srgbClr>
          </a:solidFill>
          <a:ln cap="flat" cmpd="sng" w="1270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28"/>
          <p:cNvCxnSpPr/>
          <p:nvPr/>
        </p:nvCxnSpPr>
        <p:spPr>
          <a:xfrm>
            <a:off x="6492240" y="455371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3" name="Google Shape;1443;p28"/>
          <p:cNvCxnSpPr/>
          <p:nvPr/>
        </p:nvCxnSpPr>
        <p:spPr>
          <a:xfrm>
            <a:off x="11073384" y="5010912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FFB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4" name="Google Shape;1444;p28"/>
          <p:cNvSpPr txBox="1"/>
          <p:nvPr/>
        </p:nvSpPr>
        <p:spPr>
          <a:xfrm>
            <a:off x="6583680" y="4590288"/>
            <a:ext cx="4672583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BF4F6"/>
                </a:solidFill>
                <a:latin typeface="Play"/>
                <a:ea typeface="Play"/>
                <a:cs typeface="Play"/>
                <a:sym typeface="Play"/>
              </a:rPr>
              <a:t>AI billing / token usage</a:t>
            </a:r>
            <a:endParaRPr/>
          </a:p>
        </p:txBody>
      </p:sp>
      <p:sp>
        <p:nvSpPr>
          <p:cNvPr id="1445" name="Google Shape;1445;p28"/>
          <p:cNvSpPr txBox="1"/>
          <p:nvPr/>
        </p:nvSpPr>
        <p:spPr>
          <a:xfrm>
            <a:off x="6583680" y="4919472"/>
            <a:ext cx="467258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EBF4F6"/>
                </a:solidFill>
                <a:latin typeface="Arial"/>
                <a:ea typeface="Arial"/>
                <a:cs typeface="Arial"/>
                <a:sym typeface="Arial"/>
              </a:rPr>
              <a:t>credits • tokens • billable runs • cost per approved milestone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c_sagamap_target.png" id="1451" name="Google Shape;14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29"/>
          <p:cNvSpPr/>
          <p:nvPr/>
        </p:nvSpPr>
        <p:spPr>
          <a:xfrm>
            <a:off x="9144" y="173736"/>
            <a:ext cx="12173407" cy="6675120"/>
          </a:xfrm>
          <a:prstGeom prst="rect">
            <a:avLst/>
          </a:prstGeom>
          <a:solidFill>
            <a:srgbClr val="000000">
              <a:alpha val="7607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29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29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6" name="Google Shape;1456;p29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7" name="Google Shape;1457;p29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8" name="Google Shape;1458;p29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9" name="Google Shape;1459;p29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0" name="Google Shape;1460;p29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1" name="Google Shape;1461;p29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2" name="Google Shape;1462;p29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3" name="Google Shape;1463;p29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4" name="Google Shape;1464;p29"/>
          <p:cNvSpPr/>
          <p:nvPr/>
        </p:nvSpPr>
        <p:spPr>
          <a:xfrm>
            <a:off x="749808" y="676656"/>
            <a:ext cx="10789920" cy="566928"/>
          </a:xfrm>
          <a:prstGeom prst="rect">
            <a:avLst/>
          </a:prstGeom>
          <a:solidFill>
            <a:srgbClr val="050A0E">
              <a:alpha val="92156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9"/>
          <p:cNvSpPr/>
          <p:nvPr/>
        </p:nvSpPr>
        <p:spPr>
          <a:xfrm>
            <a:off x="914400" y="749808"/>
            <a:ext cx="104607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Where this points: the autonomous indie studio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6" name="Google Shape;1466;p29"/>
          <p:cNvCxnSpPr/>
          <p:nvPr/>
        </p:nvCxnSpPr>
        <p:spPr>
          <a:xfrm>
            <a:off x="2880360" y="2066544"/>
            <a:ext cx="105156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7" name="Google Shape;1467;p29"/>
          <p:cNvCxnSpPr/>
          <p:nvPr/>
        </p:nvCxnSpPr>
        <p:spPr>
          <a:xfrm>
            <a:off x="6400800" y="2066544"/>
            <a:ext cx="1097280" cy="0"/>
          </a:xfrm>
          <a:prstGeom prst="straightConnector1">
            <a:avLst/>
          </a:prstGeom>
          <a:noFill/>
          <a:ln cap="flat" cmpd="sng" w="12700">
            <a:solidFill>
              <a:srgbClr val="6E89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8" name="Google Shape;1468;p29"/>
          <p:cNvSpPr/>
          <p:nvPr/>
        </p:nvSpPr>
        <p:spPr>
          <a:xfrm>
            <a:off x="1005840" y="1737360"/>
            <a:ext cx="1874520" cy="658368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9" name="Google Shape;1469;p29"/>
          <p:cNvCxnSpPr/>
          <p:nvPr/>
        </p:nvCxnSpPr>
        <p:spPr>
          <a:xfrm>
            <a:off x="1078992" y="18105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0" name="Google Shape;1470;p29"/>
          <p:cNvCxnSpPr/>
          <p:nvPr/>
        </p:nvCxnSpPr>
        <p:spPr>
          <a:xfrm>
            <a:off x="2551176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1" name="Google Shape;1471;p29"/>
          <p:cNvSpPr/>
          <p:nvPr/>
        </p:nvSpPr>
        <p:spPr>
          <a:xfrm>
            <a:off x="1078992" y="1810512"/>
            <a:ext cx="1728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One human director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9"/>
          <p:cNvSpPr/>
          <p:nvPr/>
        </p:nvSpPr>
        <p:spPr>
          <a:xfrm>
            <a:off x="3931920" y="1737360"/>
            <a:ext cx="2468880" cy="658368"/>
          </a:xfrm>
          <a:prstGeom prst="rect">
            <a:avLst/>
          </a:prstGeom>
          <a:solidFill>
            <a:srgbClr val="07151C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29"/>
          <p:cNvCxnSpPr/>
          <p:nvPr/>
        </p:nvCxnSpPr>
        <p:spPr>
          <a:xfrm>
            <a:off x="4005072" y="18105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4" name="Google Shape;1474;p29"/>
          <p:cNvCxnSpPr/>
          <p:nvPr/>
        </p:nvCxnSpPr>
        <p:spPr>
          <a:xfrm>
            <a:off x="6071616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5" name="Google Shape;1475;p29"/>
          <p:cNvSpPr/>
          <p:nvPr/>
        </p:nvSpPr>
        <p:spPr>
          <a:xfrm>
            <a:off x="4005072" y="1810512"/>
            <a:ext cx="23225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Replaceable AI / human agents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9"/>
          <p:cNvSpPr/>
          <p:nvPr/>
        </p:nvSpPr>
        <p:spPr>
          <a:xfrm>
            <a:off x="7498080" y="1737360"/>
            <a:ext cx="2514600" cy="658368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7" name="Google Shape;1477;p29"/>
          <p:cNvCxnSpPr/>
          <p:nvPr/>
        </p:nvCxnSpPr>
        <p:spPr>
          <a:xfrm>
            <a:off x="7571232" y="181051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8" name="Google Shape;1478;p29"/>
          <p:cNvCxnSpPr/>
          <p:nvPr/>
        </p:nvCxnSpPr>
        <p:spPr>
          <a:xfrm>
            <a:off x="9683496" y="2322576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9" name="Google Shape;1479;p29"/>
          <p:cNvSpPr/>
          <p:nvPr/>
        </p:nvSpPr>
        <p:spPr>
          <a:xfrm>
            <a:off x="7571232" y="1810512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Automated validation + builds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9"/>
          <p:cNvSpPr/>
          <p:nvPr/>
        </p:nvSpPr>
        <p:spPr>
          <a:xfrm>
            <a:off x="822960" y="3063240"/>
            <a:ext cx="10469880" cy="1225296"/>
          </a:xfrm>
          <a:prstGeom prst="rect">
            <a:avLst/>
          </a:prstGeom>
          <a:solidFill>
            <a:srgbClr val="050A0E">
              <a:alpha val="92941"/>
            </a:srgbClr>
          </a:solidFill>
          <a:ln cap="flat" cmpd="sng" w="12700">
            <a:solidFill>
              <a:srgbClr val="24424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9"/>
          <p:cNvSpPr/>
          <p:nvPr/>
        </p:nvSpPr>
        <p:spPr>
          <a:xfrm>
            <a:off x="987552" y="3227832"/>
            <a:ext cx="10058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Small teams can manage larger scopes by directing systems instead of manually touching every task.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Creative control shifts upward: vision, constraints, taste, architecture, and governance.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AI-native studios need better APIs for Unity execution, screenshots, Play Mode validation, and approvals.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The studio becomes an orchestration system.</a:t>
            </a:r>
            <a:br>
              <a:rPr lang="en-US" sz="128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9"/>
          <p:cNvSpPr/>
          <p:nvPr/>
        </p:nvSpPr>
        <p:spPr>
          <a:xfrm>
            <a:off x="1143000" y="5394960"/>
            <a:ext cx="9875520" cy="566928"/>
          </a:xfrm>
          <a:prstGeom prst="rect">
            <a:avLst/>
          </a:prstGeom>
          <a:solidFill>
            <a:srgbClr val="050A0E">
              <a:alpha val="92941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9"/>
          <p:cNvSpPr/>
          <p:nvPr/>
        </p:nvSpPr>
        <p:spPr>
          <a:xfrm>
            <a:off x="1216152" y="5468112"/>
            <a:ext cx="97292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Final thesis: AI will not replace game developers. It will replace fragmented workflows.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4" name="Google Shape;1484;p29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5" name="Google Shape;1485;p29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9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c_missionresult_target.png" id="1492" name="Google Shape;149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30"/>
          <p:cNvSpPr/>
          <p:nvPr/>
        </p:nvSpPr>
        <p:spPr>
          <a:xfrm>
            <a:off x="9144" y="173736"/>
            <a:ext cx="12173407" cy="667512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3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30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30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30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8" name="Google Shape;1498;p30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9" name="Google Shape;1499;p30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0" name="Google Shape;1500;p30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1" name="Google Shape;1501;p30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2" name="Google Shape;1502;p30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3" name="Google Shape;1503;p30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4" name="Google Shape;1504;p30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FFB00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5" name="Google Shape;1505;p30"/>
          <p:cNvSpPr/>
          <p:nvPr/>
        </p:nvSpPr>
        <p:spPr>
          <a:xfrm>
            <a:off x="713232" y="9144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WarlineCapture is not just a game project.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30"/>
          <p:cNvSpPr/>
          <p:nvPr/>
        </p:nvSpPr>
        <p:spPr>
          <a:xfrm>
            <a:off x="731520" y="1536192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It is a working example of a governed, Codex-centered, AI-orchestrated production pipeline.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30"/>
          <p:cNvSpPr/>
          <p:nvPr/>
        </p:nvSpPr>
        <p:spPr>
          <a:xfrm>
            <a:off x="868680" y="4443984"/>
            <a:ext cx="10469880" cy="658368"/>
          </a:xfrm>
          <a:prstGeom prst="rect">
            <a:avLst/>
          </a:prstGeom>
          <a:solidFill>
            <a:srgbClr val="050A0E">
              <a:alpha val="87843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0"/>
          <p:cNvSpPr/>
          <p:nvPr/>
        </p:nvSpPr>
        <p:spPr>
          <a:xfrm>
            <a:off x="941832" y="4517136"/>
            <a:ext cx="103235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Human vision → AI agents → validation → visual QA → builds → approval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p30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0" name="Google Shape;1510;p30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30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0E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0E"/>
          </a:solidFill>
          <a:ln cap="flat" cmpd="sng" w="12700">
            <a:solidFill>
              <a:srgbClr val="050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3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31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000">
              <a:alpha val="27843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31"/>
          <p:cNvSpPr/>
          <p:nvPr/>
        </p:nvSpPr>
        <p:spPr>
          <a:xfrm>
            <a:off x="566928" y="2011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680"/>
              <a:buFont typeface="Arial"/>
              <a:buNone/>
            </a:pPr>
            <a:r>
              <a:rPr b="1" lang="en-US" sz="68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1" name="Google Shape;1521;p31"/>
          <p:cNvCxnSpPr/>
          <p:nvPr/>
        </p:nvCxnSpPr>
        <p:spPr>
          <a:xfrm>
            <a:off x="292608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2" name="Google Shape;1522;p31"/>
          <p:cNvCxnSpPr/>
          <p:nvPr/>
        </p:nvCxnSpPr>
        <p:spPr>
          <a:xfrm>
            <a:off x="292608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3" name="Google Shape;1523;p31"/>
          <p:cNvCxnSpPr/>
          <p:nvPr/>
        </p:nvCxnSpPr>
        <p:spPr>
          <a:xfrm>
            <a:off x="11213287" y="292608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4" name="Google Shape;1524;p31"/>
          <p:cNvCxnSpPr/>
          <p:nvPr/>
        </p:nvCxnSpPr>
        <p:spPr>
          <a:xfrm>
            <a:off x="11899087" y="292608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5" name="Google Shape;1525;p31"/>
          <p:cNvCxnSpPr/>
          <p:nvPr/>
        </p:nvCxnSpPr>
        <p:spPr>
          <a:xfrm>
            <a:off x="292608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6" name="Google Shape;1526;p31"/>
          <p:cNvCxnSpPr/>
          <p:nvPr/>
        </p:nvCxnSpPr>
        <p:spPr>
          <a:xfrm>
            <a:off x="292608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7" name="Google Shape;1527;p31"/>
          <p:cNvCxnSpPr/>
          <p:nvPr/>
        </p:nvCxnSpPr>
        <p:spPr>
          <a:xfrm>
            <a:off x="11213287" y="6565392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8" name="Google Shape;1528;p31"/>
          <p:cNvCxnSpPr/>
          <p:nvPr/>
        </p:nvCxnSpPr>
        <p:spPr>
          <a:xfrm>
            <a:off x="11899087" y="6126480"/>
            <a:ext cx="0" cy="438912"/>
          </a:xfrm>
          <a:prstGeom prst="straightConnector1">
            <a:avLst/>
          </a:prstGeom>
          <a:noFill/>
          <a:ln cap="flat" cmpd="sng" w="13950">
            <a:solidFill>
              <a:srgbClr val="00E5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9" name="Google Shape;1529;p31"/>
          <p:cNvSpPr/>
          <p:nvPr/>
        </p:nvSpPr>
        <p:spPr>
          <a:xfrm>
            <a:off x="658368" y="530352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Sources &amp; project references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31"/>
          <p:cNvSpPr/>
          <p:nvPr/>
        </p:nvSpPr>
        <p:spPr>
          <a:xfrm>
            <a:off x="777240" y="1115568"/>
            <a:ext cx="5303520" cy="402336"/>
          </a:xfrm>
          <a:prstGeom prst="rect">
            <a:avLst/>
          </a:prstGeom>
          <a:solidFill>
            <a:srgbClr val="0D2630">
              <a:alpha val="96078"/>
            </a:srgbClr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31"/>
          <p:cNvSpPr/>
          <p:nvPr/>
        </p:nvSpPr>
        <p:spPr>
          <a:xfrm>
            <a:off x="850392" y="1188720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Project sources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31"/>
          <p:cNvSpPr/>
          <p:nvPr/>
        </p:nvSpPr>
        <p:spPr>
          <a:xfrm>
            <a:off x="868680" y="1691640"/>
            <a:ext cx="5074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7FB"/>
              </a:buClr>
              <a:buSzPts val="1020"/>
              <a:buFont typeface="Arial"/>
              <a:buNone/>
            </a:pP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WarlineCapture README — project setup, status, architecture, testing, UI/UX roadmap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Design/README.md — design index, visual direction, source-of-truth hierarchy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WarlineCapture_Agent_Coordination_Workflow.md — lanes, handoffs, reports, blockers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WarlineCapture_UIUX_Mockup_To_Canvas_Conversion_Plan.md — target-to-canvas rules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WarlineCapture_UIUX_MainMenu_Visual_Contract.md — Main Menu target and acceptance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  <a:t>• VisualLock targets — Main Menu, Quick Custom, Battle HUD, Saga Map, Mission Briefing, Operation Dashboard, Mission Result</a:t>
            </a:r>
            <a:br>
              <a:rPr lang="en-US" sz="1320">
                <a:solidFill>
                  <a:srgbClr val="EAF7FB"/>
                </a:solidFill>
                <a:latin typeface="Arial"/>
                <a:ea typeface="Arial"/>
                <a:cs typeface="Arial"/>
                <a:sym typeface="Arial"/>
              </a:rPr>
            </a:b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31"/>
          <p:cNvSpPr/>
          <p:nvPr/>
        </p:nvSpPr>
        <p:spPr>
          <a:xfrm>
            <a:off x="6355080" y="1115568"/>
            <a:ext cx="5074920" cy="402336"/>
          </a:xfrm>
          <a:prstGeom prst="rect">
            <a:avLst/>
          </a:prstGeom>
          <a:solidFill>
            <a:srgbClr val="1A1306">
              <a:alpha val="96078"/>
            </a:srgbClr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31"/>
          <p:cNvSpPr/>
          <p:nvPr/>
        </p:nvSpPr>
        <p:spPr>
          <a:xfrm>
            <a:off x="6428232" y="1188720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External tool references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31"/>
          <p:cNvSpPr/>
          <p:nvPr/>
        </p:nvSpPr>
        <p:spPr>
          <a:xfrm>
            <a:off x="6446520" y="1691640"/>
            <a:ext cx="4846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OpenAI — Introducing Codex / Codex product page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Anthropic — Claude Code product page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GitHub Docs — Copilot cloud agent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Unity — Unity AI Beta, AI Gateway, MCP Server, Sentis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Case-study notes from this chat: Codex, Claude Code, Unity AI, mockup visual QA, approval gates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Analytics stack concepts — Mixpanel, Firebase, BigQuery, playtest funnels, and data-quality validation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Case-study notes from this chat: mature-project recovery, analytics agent, synthetic playtester agents, AI cost telemetry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6" name="Google Shape;1536;p31"/>
          <p:cNvSpPr/>
          <p:nvPr/>
        </p:nvSpPr>
        <p:spPr>
          <a:xfrm>
            <a:off x="914400" y="5394960"/>
            <a:ext cx="10287000" cy="475488"/>
          </a:xfrm>
          <a:prstGeom prst="rect">
            <a:avLst/>
          </a:prstGeom>
          <a:solidFill>
            <a:srgbClr val="0D2117">
              <a:alpha val="96078"/>
            </a:srgbClr>
          </a:solidFill>
          <a:ln cap="flat" cmpd="sng" w="12700">
            <a:solidFill>
              <a:srgbClr val="7DEB9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5240">
              <a:srgbClr val="000000">
                <a:alpha val="2392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31"/>
          <p:cNvSpPr/>
          <p:nvPr/>
        </p:nvSpPr>
        <p:spPr>
          <a:xfrm>
            <a:off x="987552" y="5468112"/>
            <a:ext cx="10140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EB9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DEB9D"/>
                </a:solidFill>
                <a:latin typeface="Arial"/>
                <a:ea typeface="Arial"/>
                <a:cs typeface="Arial"/>
                <a:sym typeface="Arial"/>
              </a:rPr>
              <a:t>Repository: github.com/farhad2na2/WarlineCapture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8" name="Google Shape;1538;p31"/>
          <p:cNvCxnSpPr/>
          <p:nvPr/>
        </p:nvCxnSpPr>
        <p:spPr>
          <a:xfrm>
            <a:off x="576072" y="642823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4424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9" name="Google Shape;1539;p31"/>
          <p:cNvSpPr/>
          <p:nvPr/>
        </p:nvSpPr>
        <p:spPr>
          <a:xfrm>
            <a:off x="59436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99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E8992"/>
                </a:solidFill>
                <a:latin typeface="Arial"/>
                <a:ea typeface="Arial"/>
                <a:cs typeface="Arial"/>
                <a:sym typeface="Arial"/>
              </a:rPr>
              <a:t>WarlineCapture case study • AI-native game development • May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31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00ECF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2026-05-11T09:43:48Z</dcterms:created>
  <dc:creator>OpenAI</dc:creator>
</cp:coreProperties>
</file>