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</p:sldIdLst>
  <p:sldSz cy="6858000" cx="12191675"/>
  <p:notesSz cx="6858000" cy="12191675"/>
  <p:embeddedFontLst>
    <p:embeddedFont>
      <p:font typeface="Play"/>
      <p:regular r:id="rId36"/>
      <p:bold r:id="rId37"/>
    </p:embeddedFont>
    <p:embeddedFont>
      <p:font typeface="Cascadia Mono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2" roundtripDataSignature="AMtx7miQT59a3ZXKRE7jaqaHkP9aUsn66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CascadiaMono-italic.fntdata"/><Relationship Id="rId20" Type="http://schemas.openxmlformats.org/officeDocument/2006/relationships/slide" Target="slides/slide16.xml"/><Relationship Id="rId42" Type="http://customschemas.google.com/relationships/presentationmetadata" Target="metadata"/><Relationship Id="rId41" Type="http://schemas.openxmlformats.org/officeDocument/2006/relationships/font" Target="fonts/CascadiaMono-boldItalic.fntdata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11" Type="http://schemas.openxmlformats.org/officeDocument/2006/relationships/slide" Target="slides/slide7.xml"/><Relationship Id="rId33" Type="http://schemas.openxmlformats.org/officeDocument/2006/relationships/slide" Target="slides/slide29.xml"/><Relationship Id="rId10" Type="http://schemas.openxmlformats.org/officeDocument/2006/relationships/slide" Target="slides/slide6.xml"/><Relationship Id="rId32" Type="http://schemas.openxmlformats.org/officeDocument/2006/relationships/slide" Target="slides/slide28.xml"/><Relationship Id="rId13" Type="http://schemas.openxmlformats.org/officeDocument/2006/relationships/slide" Target="slides/slide9.xml"/><Relationship Id="rId35" Type="http://schemas.openxmlformats.org/officeDocument/2006/relationships/slide" Target="slides/slide31.xml"/><Relationship Id="rId12" Type="http://schemas.openxmlformats.org/officeDocument/2006/relationships/slide" Target="slides/slide8.xml"/><Relationship Id="rId34" Type="http://schemas.openxmlformats.org/officeDocument/2006/relationships/slide" Target="slides/slide30.xml"/><Relationship Id="rId15" Type="http://schemas.openxmlformats.org/officeDocument/2006/relationships/slide" Target="slides/slide11.xml"/><Relationship Id="rId37" Type="http://schemas.openxmlformats.org/officeDocument/2006/relationships/font" Target="fonts/Play-bold.fntdata"/><Relationship Id="rId14" Type="http://schemas.openxmlformats.org/officeDocument/2006/relationships/slide" Target="slides/slide10.xml"/><Relationship Id="rId36" Type="http://schemas.openxmlformats.org/officeDocument/2006/relationships/font" Target="fonts/Play-regular.fntdata"/><Relationship Id="rId17" Type="http://schemas.openxmlformats.org/officeDocument/2006/relationships/slide" Target="slides/slide13.xml"/><Relationship Id="rId39" Type="http://schemas.openxmlformats.org/officeDocument/2006/relationships/font" Target="fonts/CascadiaMono-bold.fntdata"/><Relationship Id="rId16" Type="http://schemas.openxmlformats.org/officeDocument/2006/relationships/slide" Target="slides/slide12.xml"/><Relationship Id="rId38" Type="http://schemas.openxmlformats.org/officeDocument/2006/relationships/font" Target="fonts/CascadiaMono-regular.fntdata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" name="Google Shape;4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" name="Google Shape;8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" name="Google Shape;16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8" name="Google Shape;23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1" name="Google Shape;31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5" name="Google Shape;35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4" name="Google Shape;41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4" name="Google Shape;44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7" name="Google Shape;48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2" name="Google Shape;53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5" name="Google Shape;575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6" name="Google Shape;576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4" name="Google Shape;614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5" name="Google Shape;615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9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1" name="Google Shape;681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0" name="Google Shape;720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1" name="Google Shape;721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8" name="Google Shape;768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9" name="Google Shape;769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3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5" name="Google Shape;815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6" name="Google Shape;816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3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Google Shape;86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5" name="Google Shape;86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0" name="Google Shape;920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9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1" name="Google Shape;971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8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0" name="Google Shape;1030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7" name="Shape 10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Google Shape;1068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9" name="Google Shape;1069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8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0" name="Google Shape;1110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8" name="Shape 1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9" name="Google Shape;11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0" name="Google Shape;116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6" name="Shape 1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Google Shape;1217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8" name="Google Shape;1218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3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Google Shape;1304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5" name="Google Shape;1305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9" name="Shape 1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0" name="Google Shape;1390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1" name="Google Shape;1391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2" name="Google Shape;1392;p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6" name="Shape 1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Google Shape;1447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8" name="Google Shape;144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9" name="Google Shape;1449;p2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7" name="Shape 1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8" name="Google Shape;1488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9" name="Google Shape;1489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0" name="Google Shape;1490;p3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2" name="Shape 1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3" name="Google Shape;1513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4" name="Google Shape;1514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5" name="Google Shape;1515;p3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4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mnt/data/wc_mainmenu_target.png" id="16" name="Google Shape;1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"/>
          <p:cNvSpPr/>
          <p:nvPr/>
        </p:nvSpPr>
        <p:spPr>
          <a:xfrm>
            <a:off x="9144" y="173736"/>
            <a:ext cx="12173407" cy="6675120"/>
          </a:xfrm>
          <a:prstGeom prst="rect">
            <a:avLst/>
          </a:prstGeom>
          <a:solidFill>
            <a:srgbClr val="000000">
              <a:alpha val="78039"/>
            </a:srgbClr>
          </a:solidFill>
          <a:ln cap="flat" cmpd="sng" w="12700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WARLINECAPTURE • AI-NATIVE GAME DEVELOPMENT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" name="Google Shape;21;p1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" name="Google Shape;22;p1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" name="Google Shape;23;p1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" name="Google Shape;24;p1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5" name="Google Shape;25;p1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" name="Google Shape;26;p1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" name="Google Shape;27;p1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" name="Google Shape;28;p1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wc_logo.png" id="29" name="Google Shape;29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658368"/>
            <a:ext cx="960120" cy="96012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1"/>
          <p:cNvSpPr/>
          <p:nvPr/>
        </p:nvSpPr>
        <p:spPr>
          <a:xfrm>
            <a:off x="1783080" y="658368"/>
            <a:ext cx="6675120" cy="11155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3900"/>
              <a:buFont typeface="Arial"/>
              <a:buNone/>
            </a:pPr>
            <a:r>
              <a:rPr b="1" lang="en-US" sz="39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AI-Native Game</a:t>
            </a:r>
            <a:endParaRPr sz="3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3900"/>
              <a:buFont typeface="Arial"/>
              <a:buNone/>
            </a:pPr>
            <a:r>
              <a:rPr b="1" lang="en-US" sz="39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Development in 2026</a:t>
            </a:r>
            <a:endParaRPr sz="3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1810512" y="1920240"/>
            <a:ext cx="6309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From AI-assisted coding to orchestrated, human-approved production pipelines</a:t>
            </a:r>
            <a:endParaRPr sz="16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1810512" y="2514600"/>
            <a:ext cx="2377440" cy="310896"/>
          </a:xfrm>
          <a:prstGeom prst="rect">
            <a:avLst/>
          </a:prstGeom>
          <a:solidFill>
            <a:srgbClr val="08151C">
              <a:alpha val="96862"/>
            </a:srgbClr>
          </a:solidFill>
          <a:ln cap="flat" cmpd="sng" w="11425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1920240" y="2601468"/>
            <a:ext cx="2157984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830"/>
              <a:buFont typeface="Arial"/>
              <a:buNone/>
            </a:pPr>
            <a:r>
              <a:rPr b="1" lang="en-US" sz="83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CASE STUDY: WARLINECAPTURE</a:t>
            </a:r>
            <a:endParaRPr sz="83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4343400" y="2514600"/>
            <a:ext cx="2468880" cy="310896"/>
          </a:xfrm>
          <a:prstGeom prst="rect">
            <a:avLst/>
          </a:prstGeom>
          <a:solidFill>
            <a:srgbClr val="08151C">
              <a:alpha val="96862"/>
            </a:srgbClr>
          </a:solidFill>
          <a:ln cap="flat" cmpd="sng" w="11425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4453128" y="2601468"/>
            <a:ext cx="2249424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DEB9D"/>
              </a:buClr>
              <a:buSzPts val="830"/>
              <a:buFont typeface="Arial"/>
              <a:buNone/>
            </a:pPr>
            <a:r>
              <a:rPr b="1" lang="en-US" sz="830">
                <a:solidFill>
                  <a:srgbClr val="7DEB9D"/>
                </a:solidFill>
                <a:latin typeface="Arial"/>
                <a:ea typeface="Arial"/>
                <a:cs typeface="Arial"/>
                <a:sym typeface="Arial"/>
              </a:rPr>
              <a:t>CODEX-CENTERED WORKFLOW</a:t>
            </a:r>
            <a:endParaRPr sz="83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6995160" y="2514600"/>
            <a:ext cx="1828800" cy="310896"/>
          </a:xfrm>
          <a:prstGeom prst="rect">
            <a:avLst/>
          </a:prstGeom>
          <a:solidFill>
            <a:srgbClr val="08151C">
              <a:alpha val="96862"/>
            </a:srgbClr>
          </a:solidFill>
          <a:ln cap="flat" cmpd="sng" w="11425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104888" y="2601468"/>
            <a:ext cx="1609344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830"/>
              <a:buFont typeface="Arial"/>
              <a:buNone/>
            </a:pPr>
            <a:r>
              <a:rPr b="1" lang="en-US" sz="83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UNITY 6 DOTS/ECS</a:t>
            </a:r>
            <a:endParaRPr sz="83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"/>
          <p:cNvSpPr/>
          <p:nvPr/>
        </p:nvSpPr>
        <p:spPr>
          <a:xfrm>
            <a:off x="1051560" y="5230368"/>
            <a:ext cx="10149840" cy="566928"/>
          </a:xfrm>
          <a:prstGeom prst="rect">
            <a:avLst/>
          </a:prstGeom>
          <a:solidFill>
            <a:srgbClr val="000000">
              <a:alpha val="80000"/>
            </a:srgbClr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"/>
          <p:cNvSpPr/>
          <p:nvPr/>
        </p:nvSpPr>
        <p:spPr>
          <a:xfrm>
            <a:off x="1124712" y="5303520"/>
            <a:ext cx="100035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650"/>
              <a:buFont typeface="Arial"/>
              <a:buNone/>
            </a:pPr>
            <a:r>
              <a:rPr b="1" lang="en-US" sz="16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Design docs  →  Mockups  →  Assets  →  Implementation  →  Tests  →  Builds  →  Approval</a:t>
            </a:r>
            <a:endParaRPr sz="16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0" name="Google Shape;40;p1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1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Prepared from project README/docs, visual targets, and case-study notes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mnt/data/wc_battlehud_target.png" id="48" name="Google Shape;4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2"/>
          <p:cNvSpPr/>
          <p:nvPr/>
        </p:nvSpPr>
        <p:spPr>
          <a:xfrm>
            <a:off x="9144" y="173736"/>
            <a:ext cx="12173407" cy="6675120"/>
          </a:xfrm>
          <a:prstGeom prst="rect">
            <a:avLst/>
          </a:prstGeom>
          <a:solidFill>
            <a:srgbClr val="000000">
              <a:alpha val="76078"/>
            </a:srgbClr>
          </a:solidFill>
          <a:ln cap="flat" cmpd="sng" w="12700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CORE THESIS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3" name="Google Shape;53;p2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4" name="Google Shape;54;p2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5" name="Google Shape;55;p2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6" name="Google Shape;56;p2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" name="Google Shape;57;p2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8" name="Google Shape;58;p2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" name="Google Shape;59;p2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" name="Google Shape;60;p2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70196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" name="Google Shape;61;p2"/>
          <p:cNvSpPr/>
          <p:nvPr/>
        </p:nvSpPr>
        <p:spPr>
          <a:xfrm>
            <a:off x="713232" y="658368"/>
            <a:ext cx="658368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3400"/>
              <a:buFont typeface="Arial"/>
              <a:buNone/>
            </a:pPr>
            <a:r>
              <a:rPr b="1" lang="en-US" sz="34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The shift is from tools</a:t>
            </a:r>
            <a:endParaRPr sz="3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3400"/>
              <a:buFont typeface="Arial"/>
              <a:buNone/>
            </a:pPr>
            <a:r>
              <a:rPr b="1" lang="en-US" sz="34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to production systems</a:t>
            </a:r>
            <a:endParaRPr sz="3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768096" y="1874520"/>
            <a:ext cx="93268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The strategic advantage is not only better prompts or stronger models. It is a governed workflow where AI agents execute roles, validation closes the loop, and humans retain creative authority.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" name="Google Shape;63;p2"/>
          <p:cNvCxnSpPr/>
          <p:nvPr/>
        </p:nvCxnSpPr>
        <p:spPr>
          <a:xfrm>
            <a:off x="2542032" y="3346704"/>
            <a:ext cx="3081528" cy="0"/>
          </a:xfrm>
          <a:prstGeom prst="straightConnector1">
            <a:avLst/>
          </a:prstGeom>
          <a:noFill/>
          <a:ln cap="flat" cmpd="sng" w="165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" name="Google Shape;64;p2"/>
          <p:cNvCxnSpPr/>
          <p:nvPr/>
        </p:nvCxnSpPr>
        <p:spPr>
          <a:xfrm>
            <a:off x="5623560" y="3346704"/>
            <a:ext cx="3017520" cy="0"/>
          </a:xfrm>
          <a:prstGeom prst="straightConnector1">
            <a:avLst/>
          </a:prstGeom>
          <a:noFill/>
          <a:ln cap="flat" cmpd="sng" w="165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" name="Google Shape;65;p2"/>
          <p:cNvSpPr/>
          <p:nvPr/>
        </p:nvSpPr>
        <p:spPr>
          <a:xfrm>
            <a:off x="841248" y="2862072"/>
            <a:ext cx="2377440" cy="960120"/>
          </a:xfrm>
          <a:prstGeom prst="rect">
            <a:avLst/>
          </a:prstGeom>
          <a:solidFill>
            <a:srgbClr val="1A0D0E">
              <a:alpha val="96078"/>
            </a:srgbClr>
          </a:solidFill>
          <a:ln cap="flat" cmpd="sng" w="12700">
            <a:solidFill>
              <a:srgbClr val="FF4D3D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6" name="Google Shape;66;p2"/>
          <p:cNvCxnSpPr/>
          <p:nvPr/>
        </p:nvCxnSpPr>
        <p:spPr>
          <a:xfrm>
            <a:off x="914400" y="2935224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4D3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" name="Google Shape;67;p2"/>
          <p:cNvCxnSpPr/>
          <p:nvPr/>
        </p:nvCxnSpPr>
        <p:spPr>
          <a:xfrm>
            <a:off x="2889504" y="374904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4D3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" name="Google Shape;68;p2"/>
          <p:cNvSpPr/>
          <p:nvPr/>
        </p:nvSpPr>
        <p:spPr>
          <a:xfrm>
            <a:off x="914400" y="2935224"/>
            <a:ext cx="2231136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2DF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FFE2DF"/>
                </a:solidFill>
                <a:latin typeface="Arial"/>
                <a:ea typeface="Arial"/>
                <a:cs typeface="Arial"/>
                <a:sym typeface="Arial"/>
              </a:rPr>
              <a:t>Prompt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2DF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FFE2DF"/>
                </a:solidFill>
                <a:latin typeface="Arial"/>
                <a:ea typeface="Arial"/>
                <a:cs typeface="Arial"/>
                <a:sym typeface="Arial"/>
              </a:rPr>
              <a:t>→ Output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4572000" y="2862072"/>
            <a:ext cx="2377440" cy="960120"/>
          </a:xfrm>
          <a:prstGeom prst="rect">
            <a:avLst/>
          </a:prstGeom>
          <a:solidFill>
            <a:srgbClr val="1C170A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" name="Google Shape;70;p2"/>
          <p:cNvCxnSpPr/>
          <p:nvPr/>
        </p:nvCxnSpPr>
        <p:spPr>
          <a:xfrm>
            <a:off x="4645152" y="2935224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1" name="Google Shape;71;p2"/>
          <p:cNvCxnSpPr/>
          <p:nvPr/>
        </p:nvCxnSpPr>
        <p:spPr>
          <a:xfrm>
            <a:off x="6620256" y="374904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" name="Google Shape;72;p2"/>
          <p:cNvSpPr/>
          <p:nvPr/>
        </p:nvSpPr>
        <p:spPr>
          <a:xfrm>
            <a:off x="4645152" y="2935224"/>
            <a:ext cx="2231136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1CC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FFF1CC"/>
                </a:solidFill>
                <a:latin typeface="Arial"/>
                <a:ea typeface="Arial"/>
                <a:cs typeface="Arial"/>
                <a:sym typeface="Arial"/>
              </a:rPr>
              <a:t>Human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1CC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FFF1CC"/>
                </a:solidFill>
                <a:latin typeface="Arial"/>
                <a:ea typeface="Arial"/>
                <a:cs typeface="Arial"/>
                <a:sym typeface="Arial"/>
              </a:rPr>
              <a:t>+ AI assistant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8183880" y="2862072"/>
            <a:ext cx="2926080" cy="960120"/>
          </a:xfrm>
          <a:prstGeom prst="rect">
            <a:avLst/>
          </a:prstGeom>
          <a:solidFill>
            <a:srgbClr val="0D2117">
              <a:alpha val="96078"/>
            </a:srgbClr>
          </a:solidFill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4" name="Google Shape;74;p2"/>
          <p:cNvCxnSpPr/>
          <p:nvPr/>
        </p:nvCxnSpPr>
        <p:spPr>
          <a:xfrm>
            <a:off x="8257032" y="2935224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" name="Google Shape;75;p2"/>
          <p:cNvCxnSpPr/>
          <p:nvPr/>
        </p:nvCxnSpPr>
        <p:spPr>
          <a:xfrm>
            <a:off x="10780776" y="374904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" name="Google Shape;76;p2"/>
          <p:cNvSpPr/>
          <p:nvPr/>
        </p:nvSpPr>
        <p:spPr>
          <a:xfrm>
            <a:off x="8257032" y="2935224"/>
            <a:ext cx="2779776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EFFEA"/>
              </a:buClr>
              <a:buSzPts val="1700"/>
              <a:buFont typeface="Arial"/>
              <a:buNone/>
            </a:pPr>
            <a:r>
              <a:rPr b="1" lang="en-US" sz="1700">
                <a:solidFill>
                  <a:srgbClr val="DEFFEA"/>
                </a:solidFill>
                <a:latin typeface="Arial"/>
                <a:ea typeface="Arial"/>
                <a:cs typeface="Arial"/>
                <a:sym typeface="Arial"/>
              </a:rPr>
              <a:t>Orchestrated agents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EFFEA"/>
              </a:buClr>
              <a:buSzPts val="1700"/>
              <a:buFont typeface="Arial"/>
              <a:buNone/>
            </a:pPr>
            <a:r>
              <a:rPr b="1" lang="en-US" sz="1700">
                <a:solidFill>
                  <a:srgbClr val="DEFFEA"/>
                </a:solidFill>
                <a:latin typeface="Arial"/>
                <a:ea typeface="Arial"/>
                <a:cs typeface="Arial"/>
                <a:sym typeface="Arial"/>
              </a:rPr>
              <a:t>+ approval gates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2"/>
          <p:cNvSpPr/>
          <p:nvPr/>
        </p:nvSpPr>
        <p:spPr>
          <a:xfrm>
            <a:off x="868680" y="5376672"/>
            <a:ext cx="10424160" cy="548640"/>
          </a:xfrm>
          <a:prstGeom prst="rect">
            <a:avLst/>
          </a:prstGeom>
          <a:solidFill>
            <a:srgbClr val="0A18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2"/>
          <p:cNvSpPr/>
          <p:nvPr/>
        </p:nvSpPr>
        <p:spPr>
          <a:xfrm>
            <a:off x="941832" y="5449824"/>
            <a:ext cx="1027785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550"/>
              <a:buFont typeface="Arial"/>
              <a:buNone/>
            </a:pPr>
            <a:r>
              <a:rPr b="1" lang="en-US" sz="155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WarlineCapture shows the 2026 pattern: AI production roles, human approval gates, visual QA, and automated validation.</a:t>
            </a:r>
            <a:endParaRPr sz="15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9" name="Google Shape;79;p2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" name="Google Shape;80;p2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A0E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0E"/>
          </a:solidFill>
          <a:ln cap="flat" cmpd="sng" w="12700">
            <a:solidFill>
              <a:srgbClr val="050A0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3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project snapshot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1" name="Google Shape;91;p3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2" name="Google Shape;92;p3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3" name="Google Shape;93;p3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4" name="Google Shape;94;p3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5" name="Google Shape;95;p3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6" name="Google Shape;96;p3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7" name="Google Shape;97;p3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8" name="Google Shape;98;p3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p3"/>
          <p:cNvSpPr/>
          <p:nvPr/>
        </p:nvSpPr>
        <p:spPr>
          <a:xfrm>
            <a:off x="658368" y="530352"/>
            <a:ext cx="107899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WarlineCapture at a glance</a:t>
            </a:r>
            <a:endParaRPr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wc_progress_tracker.png" id="100" name="Google Shape;100;p3"/>
          <p:cNvPicPr preferRelativeResize="0"/>
          <p:nvPr/>
        </p:nvPicPr>
        <p:blipFill rotWithShape="1">
          <a:blip r:embed="rId3">
            <a:alphaModFix/>
          </a:blip>
          <a:srcRect b="0" l="446" r="446" t="0"/>
          <a:stretch/>
        </p:blipFill>
        <p:spPr>
          <a:xfrm>
            <a:off x="6812280" y="1143000"/>
            <a:ext cx="5074920" cy="288036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3"/>
          <p:cNvSpPr/>
          <p:nvPr/>
        </p:nvSpPr>
        <p:spPr>
          <a:xfrm>
            <a:off x="6812280" y="1143000"/>
            <a:ext cx="5074920" cy="288036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15225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6812280" y="3675888"/>
            <a:ext cx="5074920" cy="347472"/>
          </a:xfrm>
          <a:prstGeom prst="rect">
            <a:avLst/>
          </a:prstGeom>
          <a:solidFill>
            <a:srgbClr val="000000">
              <a:alpha val="74901"/>
            </a:srgbClr>
          </a:solidFill>
          <a:ln cap="flat" cmpd="sng" w="12700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6922008" y="3776472"/>
            <a:ext cx="4855464" cy="1005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750"/>
              <a:buFont typeface="Arial"/>
              <a:buNone/>
            </a:pPr>
            <a:r>
              <a:rPr b="1" lang="en-US" sz="75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GENERATED PROGRESS TRACKER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/>
          <p:nvPr/>
        </p:nvSpPr>
        <p:spPr>
          <a:xfrm>
            <a:off x="749808" y="1143000"/>
            <a:ext cx="5897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Unity 6 DOTS/ECS mobile-first RTS built around large-scale grid movement, tactical combat, base systems, configurable AI, and three product modes.</a:t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822960" y="2057400"/>
            <a:ext cx="1325880" cy="786384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6" name="Google Shape;106;p3"/>
          <p:cNvCxnSpPr/>
          <p:nvPr/>
        </p:nvCxnSpPr>
        <p:spPr>
          <a:xfrm>
            <a:off x="896112" y="213055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" name="Google Shape;107;p3"/>
          <p:cNvCxnSpPr/>
          <p:nvPr/>
        </p:nvCxnSpPr>
        <p:spPr>
          <a:xfrm>
            <a:off x="1819656" y="277063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" name="Google Shape;108;p3"/>
          <p:cNvSpPr/>
          <p:nvPr/>
        </p:nvSpPr>
        <p:spPr>
          <a:xfrm>
            <a:off x="896112" y="2130552"/>
            <a:ext cx="117957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Unity 6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6000.4.0f1 editor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3"/>
          <p:cNvSpPr/>
          <p:nvPr/>
        </p:nvSpPr>
        <p:spPr>
          <a:xfrm>
            <a:off x="2331720" y="2057400"/>
            <a:ext cx="1325880" cy="786384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0" name="Google Shape;110;p3"/>
          <p:cNvCxnSpPr/>
          <p:nvPr/>
        </p:nvCxnSpPr>
        <p:spPr>
          <a:xfrm>
            <a:off x="2404872" y="213055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" name="Google Shape;111;p3"/>
          <p:cNvCxnSpPr/>
          <p:nvPr/>
        </p:nvCxnSpPr>
        <p:spPr>
          <a:xfrm>
            <a:off x="3328416" y="277063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" name="Google Shape;112;p3"/>
          <p:cNvSpPr/>
          <p:nvPr/>
        </p:nvSpPr>
        <p:spPr>
          <a:xfrm>
            <a:off x="2404872" y="2130552"/>
            <a:ext cx="117957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current PM estimate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3840480" y="2057400"/>
            <a:ext cx="1325880" cy="786384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4" name="Google Shape;114;p3"/>
          <p:cNvCxnSpPr/>
          <p:nvPr/>
        </p:nvCxnSpPr>
        <p:spPr>
          <a:xfrm>
            <a:off x="3913632" y="213055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5" name="Google Shape;115;p3"/>
          <p:cNvCxnSpPr/>
          <p:nvPr/>
        </p:nvCxnSpPr>
        <p:spPr>
          <a:xfrm>
            <a:off x="4837176" y="277063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6" name="Google Shape;116;p3"/>
          <p:cNvSpPr/>
          <p:nvPr/>
        </p:nvSpPr>
        <p:spPr>
          <a:xfrm>
            <a:off x="3913632" y="2130552"/>
            <a:ext cx="117957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M01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First Contact gate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3"/>
          <p:cNvSpPr/>
          <p:nvPr/>
        </p:nvSpPr>
        <p:spPr>
          <a:xfrm>
            <a:off x="5349240" y="2057400"/>
            <a:ext cx="1325880" cy="786384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9A84F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8" name="Google Shape;118;p3"/>
          <p:cNvCxnSpPr/>
          <p:nvPr/>
        </p:nvCxnSpPr>
        <p:spPr>
          <a:xfrm>
            <a:off x="5422392" y="213055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9A84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9" name="Google Shape;119;p3"/>
          <p:cNvCxnSpPr/>
          <p:nvPr/>
        </p:nvCxnSpPr>
        <p:spPr>
          <a:xfrm>
            <a:off x="6345936" y="277063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9A84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0" name="Google Shape;120;p3"/>
          <p:cNvSpPr/>
          <p:nvPr/>
        </p:nvSpPr>
        <p:spPr>
          <a:xfrm>
            <a:off x="5422392" y="2130552"/>
            <a:ext cx="117957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3 modes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Saga • Operation • Quick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822960" y="3337560"/>
            <a:ext cx="5760720" cy="98755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2" name="Google Shape;122;p3"/>
          <p:cNvCxnSpPr/>
          <p:nvPr/>
        </p:nvCxnSpPr>
        <p:spPr>
          <a:xfrm>
            <a:off x="896112" y="341071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3" name="Google Shape;123;p3"/>
          <p:cNvCxnSpPr/>
          <p:nvPr/>
        </p:nvCxnSpPr>
        <p:spPr>
          <a:xfrm>
            <a:off x="6254496" y="425196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" name="Google Shape;124;p3"/>
          <p:cNvSpPr/>
          <p:nvPr/>
        </p:nvSpPr>
        <p:spPr>
          <a:xfrm>
            <a:off x="987552" y="3410712"/>
            <a:ext cx="5431536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20"/>
              <a:buFont typeface="Arial"/>
              <a:buNone/>
            </a:pPr>
            <a:r>
              <a:rPr b="1" lang="en-US" sz="12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Core simulation already exists</a:t>
            </a:r>
            <a:endParaRPr sz="12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20"/>
              <a:buFont typeface="Arial"/>
              <a:buNone/>
            </a:pPr>
            <a:r>
              <a:rPr b="1" lang="en-US" sz="12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Units, roads, resources, production, AI economy/production/squads/combat, transport, radar warnings, minimap, runtime stats, Android build support.</a:t>
            </a:r>
            <a:endParaRPr sz="12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822960" y="4526280"/>
            <a:ext cx="5760720" cy="98755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C8780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6" name="Google Shape;126;p3"/>
          <p:cNvCxnSpPr/>
          <p:nvPr/>
        </p:nvCxnSpPr>
        <p:spPr>
          <a:xfrm>
            <a:off x="896112" y="459943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C878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7" name="Google Shape;127;p3"/>
          <p:cNvCxnSpPr/>
          <p:nvPr/>
        </p:nvCxnSpPr>
        <p:spPr>
          <a:xfrm>
            <a:off x="6254496" y="544068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C878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8" name="Google Shape;128;p3"/>
          <p:cNvSpPr/>
          <p:nvPr/>
        </p:nvSpPr>
        <p:spPr>
          <a:xfrm>
            <a:off x="987552" y="4599432"/>
            <a:ext cx="5431536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20"/>
              <a:buFont typeface="Arial"/>
              <a:buNone/>
            </a:pPr>
            <a:r>
              <a:rPr b="1" lang="en-US" sz="12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Product direction</a:t>
            </a:r>
            <a:endParaRPr sz="12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20"/>
              <a:buFont typeface="Arial"/>
              <a:buNone/>
            </a:pPr>
            <a:r>
              <a:rPr b="1" lang="en-US" sz="12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Wrap the simulation in a polished mobile RTS structure: missions, objective/results, rewards, progression, persistence, and district consequences.</a:t>
            </a:r>
            <a:endParaRPr sz="12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9" name="Google Shape;129;p3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0" name="Google Shape;130;p3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Source: WarlineCapture README and generated dashboard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A0E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0E"/>
          </a:solidFill>
          <a:ln cap="flat" cmpd="sng" w="12700">
            <a:solidFill>
              <a:srgbClr val="050A0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positioning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1" name="Google Shape;141;p4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2" name="Google Shape;142;p4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3" name="Google Shape;143;p4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4" name="Google Shape;144;p4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5" name="Google Shape;145;p4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6" name="Google Shape;146;p4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7" name="Google Shape;147;p4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8" name="Google Shape;148;p4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9" name="Google Shape;149;p4"/>
          <p:cNvSpPr/>
          <p:nvPr/>
        </p:nvSpPr>
        <p:spPr>
          <a:xfrm>
            <a:off x="658368" y="530352"/>
            <a:ext cx="107899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Why this case study matters</a:t>
            </a:r>
            <a:endParaRPr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749808" y="1143000"/>
            <a:ext cx="10789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The project is stronger than a normal “AI made a game” demo because it models the entire production chain.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868680" y="2011680"/>
            <a:ext cx="3749040" cy="960120"/>
          </a:xfrm>
          <a:prstGeom prst="rect">
            <a:avLst/>
          </a:prstGeom>
          <a:solidFill>
            <a:srgbClr val="1A0D0E">
              <a:alpha val="96078"/>
            </a:srgbClr>
          </a:solidFill>
          <a:ln cap="flat" cmpd="sng" w="12700">
            <a:solidFill>
              <a:srgbClr val="FF4D3D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2" name="Google Shape;152;p4"/>
          <p:cNvCxnSpPr/>
          <p:nvPr/>
        </p:nvCxnSpPr>
        <p:spPr>
          <a:xfrm>
            <a:off x="941832" y="208483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4D3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3" name="Google Shape;153;p4"/>
          <p:cNvCxnSpPr/>
          <p:nvPr/>
        </p:nvCxnSpPr>
        <p:spPr>
          <a:xfrm>
            <a:off x="4288536" y="2898648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4D3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4" name="Google Shape;154;p4"/>
          <p:cNvSpPr/>
          <p:nvPr/>
        </p:nvSpPr>
        <p:spPr>
          <a:xfrm>
            <a:off x="941832" y="2084832"/>
            <a:ext cx="3602736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0DE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FFE0DE"/>
                </a:solidFill>
                <a:latin typeface="Arial"/>
                <a:ea typeface="Arial"/>
                <a:cs typeface="Arial"/>
                <a:sym typeface="Arial"/>
              </a:rPr>
              <a:t>Common AI demo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E0DE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FFE0DE"/>
                </a:solidFill>
                <a:latin typeface="Arial"/>
                <a:ea typeface="Arial"/>
                <a:cs typeface="Arial"/>
                <a:sym typeface="Arial"/>
              </a:rPr>
              <a:t>Prompt → Code → Demo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4"/>
          <p:cNvSpPr/>
          <p:nvPr/>
        </p:nvSpPr>
        <p:spPr>
          <a:xfrm>
            <a:off x="5532120" y="2011680"/>
            <a:ext cx="5760720" cy="960120"/>
          </a:xfrm>
          <a:prstGeom prst="rect">
            <a:avLst/>
          </a:prstGeom>
          <a:solidFill>
            <a:srgbClr val="0D2117">
              <a:alpha val="96078"/>
            </a:srgbClr>
          </a:solidFill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6" name="Google Shape;156;p4"/>
          <p:cNvCxnSpPr/>
          <p:nvPr/>
        </p:nvCxnSpPr>
        <p:spPr>
          <a:xfrm>
            <a:off x="5605272" y="208483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7" name="Google Shape;157;p4"/>
          <p:cNvCxnSpPr/>
          <p:nvPr/>
        </p:nvCxnSpPr>
        <p:spPr>
          <a:xfrm>
            <a:off x="10963656" y="2898648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4"/>
          <p:cNvSpPr/>
          <p:nvPr/>
        </p:nvSpPr>
        <p:spPr>
          <a:xfrm>
            <a:off x="5605272" y="2084832"/>
            <a:ext cx="5614416" cy="81381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FFFEA"/>
              </a:buClr>
              <a:buSzPts val="1750"/>
              <a:buFont typeface="Arial"/>
              <a:buNone/>
            </a:pPr>
            <a:r>
              <a:rPr b="1" lang="en-US" sz="1750">
                <a:solidFill>
                  <a:srgbClr val="DFFFEA"/>
                </a:solidFill>
                <a:latin typeface="Arial"/>
                <a:ea typeface="Arial"/>
                <a:cs typeface="Arial"/>
                <a:sym typeface="Arial"/>
              </a:rPr>
              <a:t>WarlineCapture workflow</a:t>
            </a:r>
            <a:endParaRPr sz="1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FFFEA"/>
              </a:buClr>
              <a:buSzPts val="1750"/>
              <a:buFont typeface="Arial"/>
              <a:buNone/>
            </a:pPr>
            <a:r>
              <a:rPr b="1" lang="en-US" sz="1750">
                <a:solidFill>
                  <a:srgbClr val="DFFFEA"/>
                </a:solidFill>
                <a:latin typeface="Arial"/>
                <a:ea typeface="Arial"/>
                <a:cs typeface="Arial"/>
                <a:sym typeface="Arial"/>
              </a:rPr>
              <a:t>Direction → Docs → Mockups → Assets → Code → Tests → Visual QA → Build → Approval</a:t>
            </a:r>
            <a:endParaRPr sz="1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9" name="Google Shape;159;p4"/>
          <p:cNvCxnSpPr/>
          <p:nvPr/>
        </p:nvCxnSpPr>
        <p:spPr>
          <a:xfrm>
            <a:off x="4718304" y="2496312"/>
            <a:ext cx="704088" cy="0"/>
          </a:xfrm>
          <a:prstGeom prst="straightConnector1">
            <a:avLst/>
          </a:prstGeom>
          <a:noFill/>
          <a:ln cap="flat" cmpd="sng" w="15225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60" name="Google Shape;160;p4"/>
          <p:cNvSpPr/>
          <p:nvPr/>
        </p:nvSpPr>
        <p:spPr>
          <a:xfrm>
            <a:off x="960120" y="3749040"/>
            <a:ext cx="1014984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450"/>
              <a:buFont typeface="Arial"/>
              <a:buNone/>
            </a:pPr>
            <a:r>
              <a:rPr lang="en-US" sz="14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Human direction becomes structured design and acceptance criteria.</a:t>
            </a:r>
            <a:br>
              <a:rPr lang="en-US" sz="14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Mockups become production targets and real Unity Canvas assets.</a:t>
            </a:r>
            <a:br>
              <a:rPr lang="en-US" sz="14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Codex executes engineering work inside architecture and validation gates.</a:t>
            </a:r>
            <a:br>
              <a:rPr lang="en-US" sz="14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AI can visually compare mockups with in-game captures and iterate honestly.</a:t>
            </a:r>
            <a:br>
              <a:rPr lang="en-US" sz="14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PM reports progress, blockers, and human-decision points automatically.</a:t>
            </a:r>
            <a:br>
              <a:rPr lang="en-US" sz="14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endParaRPr sz="14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4"/>
          <p:cNvSpPr/>
          <p:nvPr/>
        </p:nvSpPr>
        <p:spPr>
          <a:xfrm>
            <a:off x="868680" y="5376672"/>
            <a:ext cx="10424160" cy="548640"/>
          </a:xfrm>
          <a:prstGeom prst="rect">
            <a:avLst/>
          </a:prstGeom>
          <a:solidFill>
            <a:srgbClr val="0A18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4"/>
          <p:cNvSpPr/>
          <p:nvPr/>
        </p:nvSpPr>
        <p:spPr>
          <a:xfrm>
            <a:off x="941832" y="5449824"/>
            <a:ext cx="1027785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550"/>
              <a:buFont typeface="Arial"/>
              <a:buNone/>
            </a:pPr>
            <a:r>
              <a:rPr b="1" lang="en-US" sz="155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Core contribution: an AI-orchestrated game production framework, not only an AI-assisted coding session.</a:t>
            </a:r>
            <a:endParaRPr sz="15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3" name="Google Shape;163;p4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4" name="Google Shape;164;p4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4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A0E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0E"/>
          </a:solidFill>
          <a:ln cap="flat" cmpd="sng" w="12700">
            <a:solidFill>
              <a:srgbClr val="050A0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5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5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5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system architecture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5" name="Google Shape;175;p5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6" name="Google Shape;176;p5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7" name="Google Shape;177;p5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8" name="Google Shape;178;p5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9" name="Google Shape;179;p5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0" name="Google Shape;180;p5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1" name="Google Shape;181;p5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2" name="Google Shape;182;p5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3" name="Google Shape;183;p5"/>
          <p:cNvSpPr/>
          <p:nvPr/>
        </p:nvSpPr>
        <p:spPr>
          <a:xfrm>
            <a:off x="658368" y="530352"/>
            <a:ext cx="107899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Operating model: human-directed AI studio</a:t>
            </a:r>
            <a:endParaRPr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4" name="Google Shape;184;p5"/>
          <p:cNvCxnSpPr/>
          <p:nvPr/>
        </p:nvCxnSpPr>
        <p:spPr>
          <a:xfrm>
            <a:off x="6080760" y="1691640"/>
            <a:ext cx="0" cy="521208"/>
          </a:xfrm>
          <a:prstGeom prst="straightConnector1">
            <a:avLst/>
          </a:prstGeom>
          <a:noFill/>
          <a:ln cap="flat" cmpd="sng" w="16500">
            <a:solidFill>
              <a:srgbClr val="7DEB9D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85" name="Google Shape;185;p5"/>
          <p:cNvSpPr/>
          <p:nvPr/>
        </p:nvSpPr>
        <p:spPr>
          <a:xfrm>
            <a:off x="3566160" y="1078992"/>
            <a:ext cx="4937760" cy="713232"/>
          </a:xfrm>
          <a:prstGeom prst="rect">
            <a:avLst/>
          </a:prstGeom>
          <a:solidFill>
            <a:srgbClr val="0D2117">
              <a:alpha val="96078"/>
            </a:srgbClr>
          </a:solidFill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6" name="Google Shape;186;p5"/>
          <p:cNvCxnSpPr/>
          <p:nvPr/>
        </p:nvCxnSpPr>
        <p:spPr>
          <a:xfrm>
            <a:off x="3639312" y="1152144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7" name="Google Shape;187;p5"/>
          <p:cNvCxnSpPr/>
          <p:nvPr/>
        </p:nvCxnSpPr>
        <p:spPr>
          <a:xfrm>
            <a:off x="8174736" y="171907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8" name="Google Shape;188;p5"/>
          <p:cNvSpPr/>
          <p:nvPr/>
        </p:nvSpPr>
        <p:spPr>
          <a:xfrm>
            <a:off x="3639312" y="1152144"/>
            <a:ext cx="4791456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FFEF"/>
              </a:buClr>
              <a:buSzPts val="1550"/>
              <a:buFont typeface="Arial"/>
              <a:buNone/>
            </a:pPr>
            <a:r>
              <a:rPr b="1" lang="en-US" sz="1550">
                <a:solidFill>
                  <a:srgbClr val="E5FFEF"/>
                </a:solidFill>
                <a:latin typeface="Arial"/>
                <a:ea typeface="Arial"/>
                <a:cs typeface="Arial"/>
                <a:sym typeface="Arial"/>
              </a:rPr>
              <a:t>Human Director</a:t>
            </a:r>
            <a:endParaRPr sz="15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FFEF"/>
              </a:buClr>
              <a:buSzPts val="1550"/>
              <a:buFont typeface="Arial"/>
              <a:buNone/>
            </a:pPr>
            <a:r>
              <a:rPr b="1" lang="en-US" sz="1550">
                <a:solidFill>
                  <a:srgbClr val="E5FFEF"/>
                </a:solidFill>
                <a:latin typeface="Arial"/>
                <a:ea typeface="Arial"/>
                <a:cs typeface="Arial"/>
                <a:sym typeface="Arial"/>
              </a:rPr>
              <a:t>Vision • architecture • testing criteria • approval gates</a:t>
            </a:r>
            <a:endParaRPr sz="15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3977640" y="2249424"/>
            <a:ext cx="4114800" cy="658368"/>
          </a:xfrm>
          <a:prstGeom prst="rect">
            <a:avLst/>
          </a:prstGeom>
          <a:solidFill>
            <a:srgbClr val="071D24">
              <a:alpha val="96078"/>
            </a:srgbClr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0" name="Google Shape;190;p5"/>
          <p:cNvCxnSpPr/>
          <p:nvPr/>
        </p:nvCxnSpPr>
        <p:spPr>
          <a:xfrm>
            <a:off x="4050792" y="232257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1" name="Google Shape;191;p5"/>
          <p:cNvCxnSpPr/>
          <p:nvPr/>
        </p:nvCxnSpPr>
        <p:spPr>
          <a:xfrm>
            <a:off x="7763256" y="283464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2" name="Google Shape;192;p5"/>
          <p:cNvSpPr/>
          <p:nvPr/>
        </p:nvSpPr>
        <p:spPr>
          <a:xfrm>
            <a:off x="4050792" y="2322576"/>
            <a:ext cx="3968496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EBF3F6"/>
                </a:solidFill>
                <a:latin typeface="Arial"/>
                <a:ea typeface="Arial"/>
                <a:cs typeface="Arial"/>
                <a:sym typeface="Arial"/>
              </a:rPr>
              <a:t>PM Agent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EBF3F6"/>
                </a:solidFill>
                <a:latin typeface="Arial"/>
                <a:ea typeface="Arial"/>
                <a:cs typeface="Arial"/>
                <a:sym typeface="Arial"/>
              </a:rPr>
              <a:t>milestones • blockers • dispatch • reports • metrics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868680" y="5376672"/>
            <a:ext cx="10424160" cy="548640"/>
          </a:xfrm>
          <a:prstGeom prst="rect">
            <a:avLst/>
          </a:prstGeom>
          <a:solidFill>
            <a:srgbClr val="0A18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941832" y="5449824"/>
            <a:ext cx="1027785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550"/>
              <a:buFont typeface="Arial"/>
              <a:buNone/>
            </a:pPr>
            <a:r>
              <a:rPr b="1" lang="en-US" sz="155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Replaceable agents: any lane can be handled by Codex, Claude Code, another AI agent, or a human specialist.</a:t>
            </a:r>
            <a:endParaRPr sz="15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5" name="Google Shape;195;p5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6" name="Google Shape;196;p5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/>
          </a:p>
        </p:txBody>
      </p:sp>
      <p:cxnSp>
        <p:nvCxnSpPr>
          <p:cNvPr id="198" name="Google Shape;198;p5"/>
          <p:cNvCxnSpPr/>
          <p:nvPr/>
        </p:nvCxnSpPr>
        <p:spPr>
          <a:xfrm>
            <a:off x="6080760" y="2907792"/>
            <a:ext cx="0" cy="365760"/>
          </a:xfrm>
          <a:prstGeom prst="straightConnector1">
            <a:avLst/>
          </a:prstGeom>
          <a:noFill/>
          <a:ln cap="flat" cmpd="sng" w="12700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99" name="Google Shape;199;p5"/>
          <p:cNvCxnSpPr/>
          <p:nvPr/>
        </p:nvCxnSpPr>
        <p:spPr>
          <a:xfrm>
            <a:off x="1097280" y="3273552"/>
            <a:ext cx="9921240" cy="0"/>
          </a:xfrm>
          <a:prstGeom prst="straightConnector1">
            <a:avLst/>
          </a:prstGeom>
          <a:noFill/>
          <a:ln cap="flat" cmpd="sng" w="12700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00" name="Google Shape;200;p5"/>
          <p:cNvCxnSpPr/>
          <p:nvPr/>
        </p:nvCxnSpPr>
        <p:spPr>
          <a:xfrm>
            <a:off x="1389888" y="3273552"/>
            <a:ext cx="0" cy="438911"/>
          </a:xfrm>
          <a:prstGeom prst="straightConnector1">
            <a:avLst/>
          </a:prstGeom>
          <a:noFill/>
          <a:ln cap="flat" cmpd="sng" w="12700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01" name="Google Shape;201;p5"/>
          <p:cNvSpPr/>
          <p:nvPr/>
        </p:nvSpPr>
        <p:spPr>
          <a:xfrm>
            <a:off x="530352" y="3794760"/>
            <a:ext cx="1719072" cy="896112"/>
          </a:xfrm>
          <a:prstGeom prst="rect">
            <a:avLst/>
          </a:prstGeom>
          <a:solidFill>
            <a:srgbClr val="031B21">
              <a:alpha val="87843"/>
            </a:srgbClr>
          </a:solidFill>
          <a:ln cap="flat" cmpd="sng" w="15225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2" name="Google Shape;202;p5"/>
          <p:cNvCxnSpPr/>
          <p:nvPr/>
        </p:nvCxnSpPr>
        <p:spPr>
          <a:xfrm>
            <a:off x="603503" y="3867912"/>
            <a:ext cx="237744" cy="0"/>
          </a:xfrm>
          <a:prstGeom prst="straightConnector1">
            <a:avLst/>
          </a:prstGeom>
          <a:noFill/>
          <a:ln cap="flat" cmpd="sng" w="12700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03" name="Google Shape;203;p5"/>
          <p:cNvCxnSpPr/>
          <p:nvPr/>
        </p:nvCxnSpPr>
        <p:spPr>
          <a:xfrm>
            <a:off x="1938528" y="4617720"/>
            <a:ext cx="237744" cy="0"/>
          </a:xfrm>
          <a:prstGeom prst="straightConnector1">
            <a:avLst/>
          </a:prstGeom>
          <a:noFill/>
          <a:ln cap="flat" cmpd="sng" w="12700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04" name="Google Shape;204;p5"/>
          <p:cNvSpPr txBox="1"/>
          <p:nvPr/>
        </p:nvSpPr>
        <p:spPr>
          <a:xfrm>
            <a:off x="640080" y="3922776"/>
            <a:ext cx="149961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BF3F6"/>
                </a:solidFill>
                <a:latin typeface="Arial"/>
                <a:ea typeface="Arial"/>
                <a:cs typeface="Arial"/>
                <a:sym typeface="Arial"/>
              </a:rPr>
              <a:t>Designer</a:t>
            </a:r>
            <a:endParaRPr/>
          </a:p>
        </p:txBody>
      </p:sp>
      <p:sp>
        <p:nvSpPr>
          <p:cNvPr id="205" name="Google Shape;205;p5"/>
          <p:cNvSpPr txBox="1"/>
          <p:nvPr/>
        </p:nvSpPr>
        <p:spPr>
          <a:xfrm>
            <a:off x="640080" y="4270248"/>
            <a:ext cx="149961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9">
                <a:solidFill>
                  <a:srgbClr val="A9C0C7"/>
                </a:solidFill>
                <a:latin typeface="Arial"/>
                <a:ea typeface="Arial"/>
                <a:cs typeface="Arial"/>
                <a:sym typeface="Arial"/>
              </a:rPr>
              <a:t>GDDs • specs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9">
                <a:solidFill>
                  <a:srgbClr val="A9C0C7"/>
                </a:solidFill>
                <a:latin typeface="Arial"/>
                <a:ea typeface="Arial"/>
                <a:cs typeface="Arial"/>
                <a:sym typeface="Arial"/>
              </a:rPr>
              <a:t>product coherence</a:t>
            </a:r>
            <a:endParaRPr/>
          </a:p>
        </p:txBody>
      </p:sp>
      <p:cxnSp>
        <p:nvCxnSpPr>
          <p:cNvPr id="206" name="Google Shape;206;p5"/>
          <p:cNvCxnSpPr/>
          <p:nvPr/>
        </p:nvCxnSpPr>
        <p:spPr>
          <a:xfrm>
            <a:off x="3291840" y="3273552"/>
            <a:ext cx="0" cy="438911"/>
          </a:xfrm>
          <a:prstGeom prst="straightConnector1">
            <a:avLst/>
          </a:prstGeom>
          <a:noFill/>
          <a:ln cap="flat" cmpd="sng" w="12700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07" name="Google Shape;207;p5"/>
          <p:cNvSpPr/>
          <p:nvPr/>
        </p:nvSpPr>
        <p:spPr>
          <a:xfrm>
            <a:off x="2432304" y="3794760"/>
            <a:ext cx="1719072" cy="896112"/>
          </a:xfrm>
          <a:prstGeom prst="rect">
            <a:avLst/>
          </a:prstGeom>
          <a:solidFill>
            <a:srgbClr val="031B21">
              <a:alpha val="87843"/>
            </a:srgbClr>
          </a:solidFill>
          <a:ln cap="flat" cmpd="sng" w="15225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8" name="Google Shape;208;p5"/>
          <p:cNvCxnSpPr/>
          <p:nvPr/>
        </p:nvCxnSpPr>
        <p:spPr>
          <a:xfrm>
            <a:off x="2505456" y="3867912"/>
            <a:ext cx="237744" cy="0"/>
          </a:xfrm>
          <a:prstGeom prst="straightConnector1">
            <a:avLst/>
          </a:prstGeom>
          <a:noFill/>
          <a:ln cap="flat" cmpd="sng" w="12700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09" name="Google Shape;209;p5"/>
          <p:cNvCxnSpPr/>
          <p:nvPr/>
        </p:nvCxnSpPr>
        <p:spPr>
          <a:xfrm>
            <a:off x="3840480" y="4617720"/>
            <a:ext cx="237744" cy="0"/>
          </a:xfrm>
          <a:prstGeom prst="straightConnector1">
            <a:avLst/>
          </a:prstGeom>
          <a:noFill/>
          <a:ln cap="flat" cmpd="sng" w="12700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10" name="Google Shape;210;p5"/>
          <p:cNvSpPr txBox="1"/>
          <p:nvPr/>
        </p:nvSpPr>
        <p:spPr>
          <a:xfrm>
            <a:off x="2542032" y="3922776"/>
            <a:ext cx="149961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BF3F6"/>
                </a:solidFill>
                <a:latin typeface="Arial"/>
                <a:ea typeface="Arial"/>
                <a:cs typeface="Arial"/>
                <a:sym typeface="Arial"/>
              </a:rPr>
              <a:t>Artist / UI</a:t>
            </a:r>
            <a:endParaRPr/>
          </a:p>
        </p:txBody>
      </p:sp>
      <p:sp>
        <p:nvSpPr>
          <p:cNvPr id="211" name="Google Shape;211;p5"/>
          <p:cNvSpPr txBox="1"/>
          <p:nvPr/>
        </p:nvSpPr>
        <p:spPr>
          <a:xfrm>
            <a:off x="2542032" y="4270248"/>
            <a:ext cx="149961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9">
                <a:solidFill>
                  <a:srgbClr val="A9C0C7"/>
                </a:solidFill>
                <a:latin typeface="Arial"/>
                <a:ea typeface="Arial"/>
                <a:cs typeface="Arial"/>
                <a:sym typeface="Arial"/>
              </a:rPr>
              <a:t>mockups •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9">
                <a:solidFill>
                  <a:srgbClr val="A9C0C7"/>
                </a:solidFill>
                <a:latin typeface="Arial"/>
                <a:ea typeface="Arial"/>
                <a:cs typeface="Arial"/>
                <a:sym typeface="Arial"/>
              </a:rPr>
              <a:t>visual locks</a:t>
            </a:r>
            <a:endParaRPr/>
          </a:p>
        </p:txBody>
      </p:sp>
      <p:cxnSp>
        <p:nvCxnSpPr>
          <p:cNvPr id="212" name="Google Shape;212;p5"/>
          <p:cNvCxnSpPr/>
          <p:nvPr/>
        </p:nvCxnSpPr>
        <p:spPr>
          <a:xfrm>
            <a:off x="5193792" y="3273552"/>
            <a:ext cx="0" cy="438911"/>
          </a:xfrm>
          <a:prstGeom prst="straightConnector1">
            <a:avLst/>
          </a:prstGeom>
          <a:noFill/>
          <a:ln cap="flat" cmpd="sng" w="12700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13" name="Google Shape;213;p5"/>
          <p:cNvSpPr/>
          <p:nvPr/>
        </p:nvSpPr>
        <p:spPr>
          <a:xfrm>
            <a:off x="4334256" y="3794760"/>
            <a:ext cx="1719072" cy="896112"/>
          </a:xfrm>
          <a:prstGeom prst="rect">
            <a:avLst/>
          </a:prstGeom>
          <a:solidFill>
            <a:srgbClr val="031B21">
              <a:alpha val="87843"/>
            </a:srgbClr>
          </a:solidFill>
          <a:ln cap="flat" cmpd="sng" w="15225">
            <a:solidFill>
              <a:srgbClr val="FFBB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4" name="Google Shape;214;p5"/>
          <p:cNvCxnSpPr/>
          <p:nvPr/>
        </p:nvCxnSpPr>
        <p:spPr>
          <a:xfrm>
            <a:off x="4407408" y="3867912"/>
            <a:ext cx="237744" cy="0"/>
          </a:xfrm>
          <a:prstGeom prst="straightConnector1">
            <a:avLst/>
          </a:prstGeom>
          <a:noFill/>
          <a:ln cap="flat" cmpd="sng" w="12700">
            <a:solidFill>
              <a:srgbClr val="FFBB00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15" name="Google Shape;215;p5"/>
          <p:cNvCxnSpPr/>
          <p:nvPr/>
        </p:nvCxnSpPr>
        <p:spPr>
          <a:xfrm>
            <a:off x="5742432" y="4617720"/>
            <a:ext cx="237744" cy="0"/>
          </a:xfrm>
          <a:prstGeom prst="straightConnector1">
            <a:avLst/>
          </a:prstGeom>
          <a:noFill/>
          <a:ln cap="flat" cmpd="sng" w="12700">
            <a:solidFill>
              <a:srgbClr val="FFBB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16" name="Google Shape;216;p5"/>
          <p:cNvSpPr txBox="1"/>
          <p:nvPr/>
        </p:nvSpPr>
        <p:spPr>
          <a:xfrm>
            <a:off x="4443984" y="3922776"/>
            <a:ext cx="149961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BF3F6"/>
                </a:solidFill>
                <a:latin typeface="Arial"/>
                <a:ea typeface="Arial"/>
                <a:cs typeface="Arial"/>
                <a:sym typeface="Arial"/>
              </a:rPr>
              <a:t>Developer / Codex</a:t>
            </a:r>
            <a:endParaRPr/>
          </a:p>
        </p:txBody>
      </p:sp>
      <p:sp>
        <p:nvSpPr>
          <p:cNvPr id="217" name="Google Shape;217;p5"/>
          <p:cNvSpPr txBox="1"/>
          <p:nvPr/>
        </p:nvSpPr>
        <p:spPr>
          <a:xfrm>
            <a:off x="4443984" y="4270248"/>
            <a:ext cx="149961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9">
                <a:solidFill>
                  <a:srgbClr val="A9C0C7"/>
                </a:solidFill>
                <a:latin typeface="Arial"/>
                <a:ea typeface="Arial"/>
                <a:cs typeface="Arial"/>
                <a:sym typeface="Arial"/>
              </a:rPr>
              <a:t>Unity systems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9">
                <a:solidFill>
                  <a:srgbClr val="A9C0C7"/>
                </a:solidFill>
                <a:latin typeface="Arial"/>
                <a:ea typeface="Arial"/>
                <a:cs typeface="Arial"/>
                <a:sym typeface="Arial"/>
              </a:rPr>
              <a:t>refactors • fixes</a:t>
            </a:r>
            <a:endParaRPr/>
          </a:p>
        </p:txBody>
      </p:sp>
      <p:cxnSp>
        <p:nvCxnSpPr>
          <p:cNvPr id="218" name="Google Shape;218;p5"/>
          <p:cNvCxnSpPr/>
          <p:nvPr/>
        </p:nvCxnSpPr>
        <p:spPr>
          <a:xfrm>
            <a:off x="7095744" y="3273552"/>
            <a:ext cx="0" cy="438911"/>
          </a:xfrm>
          <a:prstGeom prst="straightConnector1">
            <a:avLst/>
          </a:prstGeom>
          <a:noFill/>
          <a:ln cap="flat" cmpd="sng" w="12700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19" name="Google Shape;219;p5"/>
          <p:cNvSpPr/>
          <p:nvPr/>
        </p:nvSpPr>
        <p:spPr>
          <a:xfrm>
            <a:off x="6236208" y="3794760"/>
            <a:ext cx="1719072" cy="896112"/>
          </a:xfrm>
          <a:prstGeom prst="rect">
            <a:avLst/>
          </a:prstGeom>
          <a:solidFill>
            <a:srgbClr val="031B21">
              <a:alpha val="87843"/>
            </a:srgbClr>
          </a:solidFill>
          <a:ln cap="flat" cmpd="sng" w="15225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0" name="Google Shape;220;p5"/>
          <p:cNvCxnSpPr/>
          <p:nvPr/>
        </p:nvCxnSpPr>
        <p:spPr>
          <a:xfrm>
            <a:off x="6309360" y="3867912"/>
            <a:ext cx="237744" cy="0"/>
          </a:xfrm>
          <a:prstGeom prst="straightConnector1">
            <a:avLst/>
          </a:prstGeom>
          <a:noFill/>
          <a:ln cap="flat" cmpd="sng" w="12700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21" name="Google Shape;221;p5"/>
          <p:cNvCxnSpPr/>
          <p:nvPr/>
        </p:nvCxnSpPr>
        <p:spPr>
          <a:xfrm>
            <a:off x="7644383" y="4617720"/>
            <a:ext cx="237744" cy="0"/>
          </a:xfrm>
          <a:prstGeom prst="straightConnector1">
            <a:avLst/>
          </a:prstGeom>
          <a:noFill/>
          <a:ln cap="flat" cmpd="sng" w="12700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22" name="Google Shape;222;p5"/>
          <p:cNvSpPr txBox="1"/>
          <p:nvPr/>
        </p:nvSpPr>
        <p:spPr>
          <a:xfrm>
            <a:off x="6345936" y="3922776"/>
            <a:ext cx="149961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BF3F6"/>
                </a:solidFill>
                <a:latin typeface="Arial"/>
                <a:ea typeface="Arial"/>
                <a:cs typeface="Arial"/>
                <a:sym typeface="Arial"/>
              </a:rPr>
              <a:t>QA / HCI</a:t>
            </a:r>
            <a:endParaRPr/>
          </a:p>
        </p:txBody>
      </p:sp>
      <p:sp>
        <p:nvSpPr>
          <p:cNvPr id="223" name="Google Shape;223;p5"/>
          <p:cNvSpPr txBox="1"/>
          <p:nvPr/>
        </p:nvSpPr>
        <p:spPr>
          <a:xfrm>
            <a:off x="6345936" y="4270248"/>
            <a:ext cx="149961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9">
                <a:solidFill>
                  <a:srgbClr val="A9C0C7"/>
                </a:solidFill>
                <a:latin typeface="Arial"/>
                <a:ea typeface="Arial"/>
                <a:cs typeface="Arial"/>
                <a:sym typeface="Arial"/>
              </a:rPr>
              <a:t>tests • captures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9">
                <a:solidFill>
                  <a:srgbClr val="A9C0C7"/>
                </a:solidFill>
                <a:latin typeface="Arial"/>
                <a:ea typeface="Arial"/>
                <a:cs typeface="Arial"/>
                <a:sym typeface="Arial"/>
              </a:rPr>
              <a:t>visual compare</a:t>
            </a:r>
            <a:endParaRPr/>
          </a:p>
        </p:txBody>
      </p:sp>
      <p:cxnSp>
        <p:nvCxnSpPr>
          <p:cNvPr id="224" name="Google Shape;224;p5"/>
          <p:cNvCxnSpPr/>
          <p:nvPr/>
        </p:nvCxnSpPr>
        <p:spPr>
          <a:xfrm>
            <a:off x="8997696" y="3273552"/>
            <a:ext cx="0" cy="438911"/>
          </a:xfrm>
          <a:prstGeom prst="straightConnector1">
            <a:avLst/>
          </a:prstGeom>
          <a:noFill/>
          <a:ln cap="flat" cmpd="sng" w="12700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25" name="Google Shape;225;p5"/>
          <p:cNvSpPr/>
          <p:nvPr/>
        </p:nvSpPr>
        <p:spPr>
          <a:xfrm>
            <a:off x="8138160" y="3794760"/>
            <a:ext cx="1719072" cy="896112"/>
          </a:xfrm>
          <a:prstGeom prst="rect">
            <a:avLst/>
          </a:prstGeom>
          <a:solidFill>
            <a:srgbClr val="031B21">
              <a:alpha val="87843"/>
            </a:srgbClr>
          </a:solidFill>
          <a:ln cap="flat" cmpd="sng" w="15225">
            <a:solidFill>
              <a:srgbClr val="68FFA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6" name="Google Shape;226;p5"/>
          <p:cNvCxnSpPr/>
          <p:nvPr/>
        </p:nvCxnSpPr>
        <p:spPr>
          <a:xfrm>
            <a:off x="8211312" y="3867912"/>
            <a:ext cx="237744" cy="0"/>
          </a:xfrm>
          <a:prstGeom prst="straightConnector1">
            <a:avLst/>
          </a:prstGeom>
          <a:noFill/>
          <a:ln cap="flat" cmpd="sng" w="12700">
            <a:solidFill>
              <a:srgbClr val="68FFA0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27" name="Google Shape;227;p5"/>
          <p:cNvCxnSpPr/>
          <p:nvPr/>
        </p:nvCxnSpPr>
        <p:spPr>
          <a:xfrm>
            <a:off x="9546336" y="4617720"/>
            <a:ext cx="237744" cy="0"/>
          </a:xfrm>
          <a:prstGeom prst="straightConnector1">
            <a:avLst/>
          </a:prstGeom>
          <a:noFill/>
          <a:ln cap="flat" cmpd="sng" w="12700">
            <a:solidFill>
              <a:srgbClr val="68FFA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28" name="Google Shape;228;p5"/>
          <p:cNvSpPr txBox="1"/>
          <p:nvPr/>
        </p:nvSpPr>
        <p:spPr>
          <a:xfrm>
            <a:off x="8247888" y="3922776"/>
            <a:ext cx="149961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BF3F6"/>
                </a:solidFill>
                <a:latin typeface="Arial"/>
                <a:ea typeface="Arial"/>
                <a:cs typeface="Arial"/>
                <a:sym typeface="Arial"/>
              </a:rPr>
              <a:t>Analytics / PI</a:t>
            </a:r>
            <a:endParaRPr/>
          </a:p>
        </p:txBody>
      </p:sp>
      <p:sp>
        <p:nvSpPr>
          <p:cNvPr id="229" name="Google Shape;229;p5"/>
          <p:cNvSpPr txBox="1"/>
          <p:nvPr/>
        </p:nvSpPr>
        <p:spPr>
          <a:xfrm>
            <a:off x="8247888" y="4270248"/>
            <a:ext cx="149961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9">
                <a:solidFill>
                  <a:srgbClr val="A9C0C7"/>
                </a:solidFill>
                <a:latin typeface="Arial"/>
                <a:ea typeface="Arial"/>
                <a:cs typeface="Arial"/>
                <a:sym typeface="Arial"/>
              </a:rPr>
              <a:t>funnels • telemetry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9">
                <a:solidFill>
                  <a:srgbClr val="A9C0C7"/>
                </a:solidFill>
                <a:latin typeface="Arial"/>
                <a:ea typeface="Arial"/>
                <a:cs typeface="Arial"/>
                <a:sym typeface="Arial"/>
              </a:rPr>
              <a:t>DAU/MAU insights</a:t>
            </a:r>
            <a:endParaRPr/>
          </a:p>
        </p:txBody>
      </p:sp>
      <p:cxnSp>
        <p:nvCxnSpPr>
          <p:cNvPr id="230" name="Google Shape;230;p5"/>
          <p:cNvCxnSpPr/>
          <p:nvPr/>
        </p:nvCxnSpPr>
        <p:spPr>
          <a:xfrm>
            <a:off x="10899648" y="3273552"/>
            <a:ext cx="0" cy="438911"/>
          </a:xfrm>
          <a:prstGeom prst="straightConnector1">
            <a:avLst/>
          </a:prstGeom>
          <a:noFill/>
          <a:ln cap="flat" cmpd="sng" w="12700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31" name="Google Shape;231;p5"/>
          <p:cNvSpPr/>
          <p:nvPr/>
        </p:nvSpPr>
        <p:spPr>
          <a:xfrm>
            <a:off x="10040112" y="3794760"/>
            <a:ext cx="1719072" cy="896112"/>
          </a:xfrm>
          <a:prstGeom prst="rect">
            <a:avLst/>
          </a:prstGeom>
          <a:solidFill>
            <a:srgbClr val="031B21">
              <a:alpha val="87843"/>
            </a:srgbClr>
          </a:solidFill>
          <a:ln cap="flat" cmpd="sng" w="15225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2" name="Google Shape;232;p5"/>
          <p:cNvCxnSpPr/>
          <p:nvPr/>
        </p:nvCxnSpPr>
        <p:spPr>
          <a:xfrm>
            <a:off x="10113264" y="3867912"/>
            <a:ext cx="237744" cy="0"/>
          </a:xfrm>
          <a:prstGeom prst="straightConnector1">
            <a:avLst/>
          </a:prstGeom>
          <a:noFill/>
          <a:ln cap="flat" cmpd="sng" w="12700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33" name="Google Shape;233;p5"/>
          <p:cNvCxnSpPr/>
          <p:nvPr/>
        </p:nvCxnSpPr>
        <p:spPr>
          <a:xfrm>
            <a:off x="11448288" y="4617720"/>
            <a:ext cx="237744" cy="0"/>
          </a:xfrm>
          <a:prstGeom prst="straightConnector1">
            <a:avLst/>
          </a:prstGeom>
          <a:noFill/>
          <a:ln cap="flat" cmpd="sng" w="12700">
            <a:solidFill>
              <a:srgbClr val="13546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34" name="Google Shape;234;p5"/>
          <p:cNvSpPr txBox="1"/>
          <p:nvPr/>
        </p:nvSpPr>
        <p:spPr>
          <a:xfrm>
            <a:off x="10149840" y="3922776"/>
            <a:ext cx="149961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BF3F6"/>
                </a:solidFill>
                <a:latin typeface="Arial"/>
                <a:ea typeface="Arial"/>
                <a:cs typeface="Arial"/>
                <a:sym typeface="Arial"/>
              </a:rPr>
              <a:t>Build</a:t>
            </a:r>
            <a:endParaRPr/>
          </a:p>
        </p:txBody>
      </p:sp>
      <p:sp>
        <p:nvSpPr>
          <p:cNvPr id="235" name="Google Shape;235;p5"/>
          <p:cNvSpPr txBox="1"/>
          <p:nvPr/>
        </p:nvSpPr>
        <p:spPr>
          <a:xfrm>
            <a:off x="10149840" y="4270248"/>
            <a:ext cx="149961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9">
                <a:solidFill>
                  <a:srgbClr val="A9C0C7"/>
                </a:solidFill>
                <a:latin typeface="Arial"/>
                <a:ea typeface="Arial"/>
                <a:cs typeface="Arial"/>
                <a:sym typeface="Arial"/>
              </a:rPr>
              <a:t>CI • builds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9">
                <a:solidFill>
                  <a:srgbClr val="A9C0C7"/>
                </a:solidFill>
                <a:latin typeface="Arial"/>
                <a:ea typeface="Arial"/>
                <a:cs typeface="Arial"/>
                <a:sym typeface="Arial"/>
              </a:rPr>
              <a:t>logs • packaging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A0E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0E"/>
          </a:solidFill>
          <a:ln cap="flat" cmpd="sng" w="12700">
            <a:solidFill>
              <a:srgbClr val="050A0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6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6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warlinecapture pipeline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5" name="Google Shape;245;p6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6" name="Google Shape;246;p6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7" name="Google Shape;247;p6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8" name="Google Shape;248;p6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9" name="Google Shape;249;p6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50" name="Google Shape;250;p6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51" name="Google Shape;251;p6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52" name="Google Shape;252;p6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3" name="Google Shape;253;p6"/>
          <p:cNvSpPr/>
          <p:nvPr/>
        </p:nvSpPr>
        <p:spPr>
          <a:xfrm>
            <a:off x="658368" y="530352"/>
            <a:ext cx="107899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End-to-end workflow: idea to milestone</a:t>
            </a:r>
            <a:endParaRPr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4" name="Google Shape;254;p6"/>
          <p:cNvCxnSpPr/>
          <p:nvPr/>
        </p:nvCxnSpPr>
        <p:spPr>
          <a:xfrm>
            <a:off x="2185416" y="2743200"/>
            <a:ext cx="283464" cy="0"/>
          </a:xfrm>
          <a:prstGeom prst="straightConnector1">
            <a:avLst/>
          </a:prstGeom>
          <a:noFill/>
          <a:ln cap="flat" cmpd="sng" w="11425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55" name="Google Shape;255;p6"/>
          <p:cNvCxnSpPr/>
          <p:nvPr/>
        </p:nvCxnSpPr>
        <p:spPr>
          <a:xfrm>
            <a:off x="3803904" y="2743200"/>
            <a:ext cx="283464" cy="0"/>
          </a:xfrm>
          <a:prstGeom prst="straightConnector1">
            <a:avLst/>
          </a:prstGeom>
          <a:noFill/>
          <a:ln cap="flat" cmpd="sng" w="11425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56" name="Google Shape;256;p6"/>
          <p:cNvCxnSpPr/>
          <p:nvPr/>
        </p:nvCxnSpPr>
        <p:spPr>
          <a:xfrm>
            <a:off x="5422392" y="2743200"/>
            <a:ext cx="283464" cy="0"/>
          </a:xfrm>
          <a:prstGeom prst="straightConnector1">
            <a:avLst/>
          </a:prstGeom>
          <a:noFill/>
          <a:ln cap="flat" cmpd="sng" w="11425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57" name="Google Shape;257;p6"/>
          <p:cNvCxnSpPr/>
          <p:nvPr/>
        </p:nvCxnSpPr>
        <p:spPr>
          <a:xfrm>
            <a:off x="7040880" y="2743200"/>
            <a:ext cx="283464" cy="0"/>
          </a:xfrm>
          <a:prstGeom prst="straightConnector1">
            <a:avLst/>
          </a:prstGeom>
          <a:noFill/>
          <a:ln cap="flat" cmpd="sng" w="11425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58" name="Google Shape;258;p6"/>
          <p:cNvCxnSpPr/>
          <p:nvPr/>
        </p:nvCxnSpPr>
        <p:spPr>
          <a:xfrm>
            <a:off x="8659368" y="2743200"/>
            <a:ext cx="283464" cy="0"/>
          </a:xfrm>
          <a:prstGeom prst="straightConnector1">
            <a:avLst/>
          </a:prstGeom>
          <a:noFill/>
          <a:ln cap="flat" cmpd="sng" w="11425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59" name="Google Shape;259;p6"/>
          <p:cNvCxnSpPr/>
          <p:nvPr/>
        </p:nvCxnSpPr>
        <p:spPr>
          <a:xfrm>
            <a:off x="10277856" y="2743200"/>
            <a:ext cx="283464" cy="0"/>
          </a:xfrm>
          <a:prstGeom prst="straightConnector1">
            <a:avLst/>
          </a:prstGeom>
          <a:noFill/>
          <a:ln cap="flat" cmpd="sng" w="11425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60" name="Google Shape;260;p6"/>
          <p:cNvSpPr/>
          <p:nvPr/>
        </p:nvSpPr>
        <p:spPr>
          <a:xfrm>
            <a:off x="566928" y="2212848"/>
            <a:ext cx="1417320" cy="1051560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1" name="Google Shape;261;p6"/>
          <p:cNvCxnSpPr/>
          <p:nvPr/>
        </p:nvCxnSpPr>
        <p:spPr>
          <a:xfrm>
            <a:off x="640080" y="228600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2" name="Google Shape;262;p6"/>
          <p:cNvCxnSpPr/>
          <p:nvPr/>
        </p:nvCxnSpPr>
        <p:spPr>
          <a:xfrm>
            <a:off x="1655064" y="319125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" name="Google Shape;263;p6"/>
          <p:cNvSpPr/>
          <p:nvPr/>
        </p:nvSpPr>
        <p:spPr>
          <a:xfrm>
            <a:off x="640080" y="2322576"/>
            <a:ext cx="3291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9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6"/>
          <p:cNvSpPr/>
          <p:nvPr/>
        </p:nvSpPr>
        <p:spPr>
          <a:xfrm>
            <a:off x="1005840" y="2286000"/>
            <a:ext cx="896112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40"/>
              <a:buFont typeface="Arial"/>
              <a:buNone/>
            </a:pPr>
            <a:r>
              <a:rPr b="1" lang="en-US" sz="104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Human creative direction</a:t>
            </a:r>
            <a:endParaRPr sz="10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6"/>
          <p:cNvSpPr/>
          <p:nvPr/>
        </p:nvSpPr>
        <p:spPr>
          <a:xfrm>
            <a:off x="676656" y="2706624"/>
            <a:ext cx="119786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740"/>
              <a:buFont typeface="Arial"/>
              <a:buNone/>
            </a:pPr>
            <a:r>
              <a:rPr lang="en-US" sz="74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concept • architecture • acceptance criteria</a:t>
            </a:r>
            <a:endParaRPr sz="7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6"/>
          <p:cNvSpPr/>
          <p:nvPr/>
        </p:nvSpPr>
        <p:spPr>
          <a:xfrm>
            <a:off x="2194560" y="2212848"/>
            <a:ext cx="1417320" cy="1051560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7" name="Google Shape;267;p6"/>
          <p:cNvCxnSpPr/>
          <p:nvPr/>
        </p:nvCxnSpPr>
        <p:spPr>
          <a:xfrm>
            <a:off x="2267712" y="228600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8" name="Google Shape;268;p6"/>
          <p:cNvCxnSpPr/>
          <p:nvPr/>
        </p:nvCxnSpPr>
        <p:spPr>
          <a:xfrm>
            <a:off x="3282696" y="319125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9" name="Google Shape;269;p6"/>
          <p:cNvSpPr/>
          <p:nvPr/>
        </p:nvSpPr>
        <p:spPr>
          <a:xfrm>
            <a:off x="2267712" y="2322576"/>
            <a:ext cx="3291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9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6"/>
          <p:cNvSpPr/>
          <p:nvPr/>
        </p:nvSpPr>
        <p:spPr>
          <a:xfrm>
            <a:off x="2633472" y="2286000"/>
            <a:ext cx="896112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40"/>
              <a:buFont typeface="Arial"/>
              <a:buNone/>
            </a:pPr>
            <a:r>
              <a:rPr b="1" lang="en-US" sz="104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Game design docs</a:t>
            </a:r>
            <a:endParaRPr sz="10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6"/>
          <p:cNvSpPr/>
          <p:nvPr/>
        </p:nvSpPr>
        <p:spPr>
          <a:xfrm>
            <a:off x="2304288" y="2706624"/>
            <a:ext cx="119786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740"/>
              <a:buFont typeface="Arial"/>
              <a:buNone/>
            </a:pPr>
            <a:r>
              <a:rPr lang="en-US" sz="74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high-level GDD → detailed implementation specs</a:t>
            </a:r>
            <a:endParaRPr sz="7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6"/>
          <p:cNvSpPr/>
          <p:nvPr/>
        </p:nvSpPr>
        <p:spPr>
          <a:xfrm>
            <a:off x="3822192" y="2212848"/>
            <a:ext cx="1417320" cy="1051560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3" name="Google Shape;273;p6"/>
          <p:cNvCxnSpPr/>
          <p:nvPr/>
        </p:nvCxnSpPr>
        <p:spPr>
          <a:xfrm>
            <a:off x="3895344" y="228600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4" name="Google Shape;274;p6"/>
          <p:cNvCxnSpPr/>
          <p:nvPr/>
        </p:nvCxnSpPr>
        <p:spPr>
          <a:xfrm>
            <a:off x="4910328" y="319125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5" name="Google Shape;275;p6"/>
          <p:cNvSpPr/>
          <p:nvPr/>
        </p:nvSpPr>
        <p:spPr>
          <a:xfrm>
            <a:off x="3895344" y="2322576"/>
            <a:ext cx="3291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9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6"/>
          <p:cNvSpPr/>
          <p:nvPr/>
        </p:nvSpPr>
        <p:spPr>
          <a:xfrm>
            <a:off x="4261104" y="2286000"/>
            <a:ext cx="896112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40"/>
              <a:buFont typeface="Arial"/>
              <a:buNone/>
            </a:pPr>
            <a:r>
              <a:rPr b="1" lang="en-US" sz="104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UI/gameplay mockups</a:t>
            </a:r>
            <a:endParaRPr sz="10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6"/>
          <p:cNvSpPr/>
          <p:nvPr/>
        </p:nvSpPr>
        <p:spPr>
          <a:xfrm>
            <a:off x="3931920" y="2706624"/>
            <a:ext cx="119786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740"/>
              <a:buFont typeface="Arial"/>
              <a:buNone/>
            </a:pPr>
            <a:r>
              <a:rPr lang="en-US" sz="74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visual targets for screens and gameplay states</a:t>
            </a:r>
            <a:endParaRPr sz="7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6"/>
          <p:cNvSpPr/>
          <p:nvPr/>
        </p:nvSpPr>
        <p:spPr>
          <a:xfrm>
            <a:off x="5449824" y="2212848"/>
            <a:ext cx="1417320" cy="1051560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9" name="Google Shape;279;p6"/>
          <p:cNvCxnSpPr/>
          <p:nvPr/>
        </p:nvCxnSpPr>
        <p:spPr>
          <a:xfrm>
            <a:off x="5522976" y="228600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0" name="Google Shape;280;p6"/>
          <p:cNvCxnSpPr/>
          <p:nvPr/>
        </p:nvCxnSpPr>
        <p:spPr>
          <a:xfrm>
            <a:off x="6537960" y="319125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1" name="Google Shape;281;p6"/>
          <p:cNvSpPr/>
          <p:nvPr/>
        </p:nvSpPr>
        <p:spPr>
          <a:xfrm>
            <a:off x="5522976" y="2322576"/>
            <a:ext cx="3291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9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6"/>
          <p:cNvSpPr/>
          <p:nvPr/>
        </p:nvSpPr>
        <p:spPr>
          <a:xfrm>
            <a:off x="5888736" y="2286000"/>
            <a:ext cx="896112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40"/>
              <a:buFont typeface="Arial"/>
              <a:buNone/>
            </a:pPr>
            <a:r>
              <a:rPr b="1" lang="en-US" sz="104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Game-usable assets</a:t>
            </a:r>
            <a:endParaRPr sz="10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6"/>
          <p:cNvSpPr/>
          <p:nvPr/>
        </p:nvSpPr>
        <p:spPr>
          <a:xfrm>
            <a:off x="5559552" y="2706624"/>
            <a:ext cx="119786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740"/>
              <a:buFont typeface="Arial"/>
              <a:buNone/>
            </a:pPr>
            <a:r>
              <a:rPr lang="en-US" sz="74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sprites • panels • icons • layers • prefabs</a:t>
            </a:r>
            <a:endParaRPr sz="7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6"/>
          <p:cNvSpPr/>
          <p:nvPr/>
        </p:nvSpPr>
        <p:spPr>
          <a:xfrm>
            <a:off x="7077456" y="2212848"/>
            <a:ext cx="1417320" cy="1051560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5" name="Google Shape;285;p6"/>
          <p:cNvCxnSpPr/>
          <p:nvPr/>
        </p:nvCxnSpPr>
        <p:spPr>
          <a:xfrm>
            <a:off x="7150608" y="228600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6" name="Google Shape;286;p6"/>
          <p:cNvCxnSpPr/>
          <p:nvPr/>
        </p:nvCxnSpPr>
        <p:spPr>
          <a:xfrm>
            <a:off x="8165592" y="319125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7" name="Google Shape;287;p6"/>
          <p:cNvSpPr/>
          <p:nvPr/>
        </p:nvSpPr>
        <p:spPr>
          <a:xfrm>
            <a:off x="7150608" y="2322576"/>
            <a:ext cx="3291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9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6"/>
          <p:cNvSpPr/>
          <p:nvPr/>
        </p:nvSpPr>
        <p:spPr>
          <a:xfrm>
            <a:off x="7516368" y="2286000"/>
            <a:ext cx="896112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40"/>
              <a:buFont typeface="Arial"/>
              <a:buNone/>
            </a:pPr>
            <a:r>
              <a:rPr b="1" lang="en-US" sz="104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Codex implementation</a:t>
            </a:r>
            <a:endParaRPr sz="10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6"/>
          <p:cNvSpPr/>
          <p:nvPr/>
        </p:nvSpPr>
        <p:spPr>
          <a:xfrm>
            <a:off x="7187184" y="2706624"/>
            <a:ext cx="119786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740"/>
              <a:buFont typeface="Arial"/>
              <a:buNone/>
            </a:pPr>
            <a:r>
              <a:rPr lang="en-US" sz="74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Unity systems • UI route wiring • fixes</a:t>
            </a:r>
            <a:endParaRPr sz="7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6"/>
          <p:cNvSpPr/>
          <p:nvPr/>
        </p:nvSpPr>
        <p:spPr>
          <a:xfrm>
            <a:off x="8705088" y="2212848"/>
            <a:ext cx="1417320" cy="1051560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91" name="Google Shape;291;p6"/>
          <p:cNvCxnSpPr/>
          <p:nvPr/>
        </p:nvCxnSpPr>
        <p:spPr>
          <a:xfrm>
            <a:off x="8778240" y="228600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2" name="Google Shape;292;p6"/>
          <p:cNvCxnSpPr/>
          <p:nvPr/>
        </p:nvCxnSpPr>
        <p:spPr>
          <a:xfrm>
            <a:off x="9793224" y="319125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3" name="Google Shape;293;p6"/>
          <p:cNvSpPr/>
          <p:nvPr/>
        </p:nvSpPr>
        <p:spPr>
          <a:xfrm>
            <a:off x="8778240" y="2322576"/>
            <a:ext cx="3291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sz="9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6"/>
          <p:cNvSpPr/>
          <p:nvPr/>
        </p:nvSpPr>
        <p:spPr>
          <a:xfrm>
            <a:off x="9144000" y="2286000"/>
            <a:ext cx="896112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40"/>
              <a:buFont typeface="Arial"/>
              <a:buNone/>
            </a:pPr>
            <a:r>
              <a:rPr b="1" lang="en-US" sz="104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Validation loop</a:t>
            </a:r>
            <a:endParaRPr sz="10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6"/>
          <p:cNvSpPr/>
          <p:nvPr/>
        </p:nvSpPr>
        <p:spPr>
          <a:xfrm>
            <a:off x="8814816" y="2706624"/>
            <a:ext cx="119786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740"/>
              <a:buFont typeface="Arial"/>
              <a:buNone/>
            </a:pPr>
            <a:r>
              <a:rPr lang="en-US" sz="74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code tests • Play Mode • captures • QA reports</a:t>
            </a:r>
            <a:endParaRPr sz="7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6"/>
          <p:cNvSpPr/>
          <p:nvPr/>
        </p:nvSpPr>
        <p:spPr>
          <a:xfrm>
            <a:off x="10332720" y="2212848"/>
            <a:ext cx="1417320" cy="1051560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97" name="Google Shape;297;p6"/>
          <p:cNvCxnSpPr/>
          <p:nvPr/>
        </p:nvCxnSpPr>
        <p:spPr>
          <a:xfrm>
            <a:off x="10405872" y="228600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8" name="Google Shape;298;p6"/>
          <p:cNvCxnSpPr/>
          <p:nvPr/>
        </p:nvCxnSpPr>
        <p:spPr>
          <a:xfrm>
            <a:off x="11420856" y="319125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9" name="Google Shape;299;p6"/>
          <p:cNvSpPr/>
          <p:nvPr/>
        </p:nvSpPr>
        <p:spPr>
          <a:xfrm>
            <a:off x="10405872" y="2322576"/>
            <a:ext cx="3291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950"/>
              <a:buFont typeface="Arial"/>
              <a:buNone/>
            </a:pPr>
            <a:r>
              <a:rPr b="1" lang="en-US" sz="95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sz="9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6"/>
          <p:cNvSpPr/>
          <p:nvPr/>
        </p:nvSpPr>
        <p:spPr>
          <a:xfrm>
            <a:off x="10771632" y="2286000"/>
            <a:ext cx="896112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40"/>
              <a:buFont typeface="Arial"/>
              <a:buNone/>
            </a:pPr>
            <a:r>
              <a:rPr b="1" lang="en-US" sz="104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Milestone approval</a:t>
            </a:r>
            <a:endParaRPr sz="10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6"/>
          <p:cNvSpPr/>
          <p:nvPr/>
        </p:nvSpPr>
        <p:spPr>
          <a:xfrm>
            <a:off x="10442448" y="2706624"/>
            <a:ext cx="119786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740"/>
              <a:buFont typeface="Arial"/>
              <a:buNone/>
            </a:pPr>
            <a:r>
              <a:rPr lang="en-US" sz="74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visuals, mockups, Unity behavior, build results</a:t>
            </a:r>
            <a:endParaRPr sz="74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6"/>
          <p:cNvSpPr/>
          <p:nvPr/>
        </p:nvSpPr>
        <p:spPr>
          <a:xfrm>
            <a:off x="1005840" y="4050792"/>
            <a:ext cx="10149840" cy="53035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6"/>
          <p:cNvSpPr/>
          <p:nvPr/>
        </p:nvSpPr>
        <p:spPr>
          <a:xfrm>
            <a:off x="1078992" y="4123944"/>
            <a:ext cx="10003536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450"/>
              <a:buFont typeface="Arial"/>
              <a:buNone/>
            </a:pPr>
            <a:r>
              <a:rPr b="1" lang="en-US" sz="14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PM Agent operating layer: source-of-truth docs, task board, lane ownership, reports, blocker escalation, next-task dispatch</a:t>
            </a:r>
            <a:endParaRPr sz="14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6"/>
          <p:cNvSpPr/>
          <p:nvPr/>
        </p:nvSpPr>
        <p:spPr>
          <a:xfrm>
            <a:off x="868680" y="5376672"/>
            <a:ext cx="10424160" cy="548640"/>
          </a:xfrm>
          <a:prstGeom prst="rect">
            <a:avLst/>
          </a:prstGeom>
          <a:solidFill>
            <a:srgbClr val="0A18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6"/>
          <p:cNvSpPr/>
          <p:nvPr/>
        </p:nvSpPr>
        <p:spPr>
          <a:xfrm>
            <a:off x="941832" y="5449824"/>
            <a:ext cx="1027785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550"/>
              <a:buFont typeface="Arial"/>
              <a:buNone/>
            </a:pPr>
            <a:r>
              <a:rPr b="1" lang="en-US" sz="155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The process is automated, but it remains human-approved at visual, gameplay, testing, and milestone gates.</a:t>
            </a:r>
            <a:endParaRPr sz="15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06" name="Google Shape;306;p6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7" name="Google Shape;307;p6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6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A0E"/>
        </a:solid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0E"/>
          </a:solidFill>
          <a:ln cap="flat" cmpd="sng" w="12700">
            <a:solidFill>
              <a:srgbClr val="050A0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7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7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7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workflow doc summary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8" name="Google Shape;318;p7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9" name="Google Shape;319;p7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0" name="Google Shape;320;p7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1" name="Google Shape;321;p7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2" name="Google Shape;322;p7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3" name="Google Shape;323;p7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4" name="Google Shape;324;p7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5" name="Google Shape;325;p7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6" name="Google Shape;326;p7"/>
          <p:cNvSpPr/>
          <p:nvPr/>
        </p:nvSpPr>
        <p:spPr>
          <a:xfrm>
            <a:off x="658368" y="530352"/>
            <a:ext cx="107899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Agent coordination workflow: the operating layer</a:t>
            </a:r>
            <a:endParaRPr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7"/>
          <p:cNvSpPr/>
          <p:nvPr/>
        </p:nvSpPr>
        <p:spPr>
          <a:xfrm>
            <a:off x="749808" y="1115568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550"/>
              <a:buFont typeface="Arial"/>
              <a:buNone/>
            </a:pPr>
            <a:r>
              <a:rPr lang="en-US" sz="15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The coordination workflow keeps docs, repository state, active agents, validation, reports, and PM decisions synchronized. It does not replace design docs; it makes them operational.</a:t>
            </a:r>
            <a:endParaRPr sz="15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7"/>
          <p:cNvSpPr/>
          <p:nvPr/>
        </p:nvSpPr>
        <p:spPr>
          <a:xfrm>
            <a:off x="713232" y="1965960"/>
            <a:ext cx="5120640" cy="74980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29" name="Google Shape;329;p7"/>
          <p:cNvCxnSpPr/>
          <p:nvPr/>
        </p:nvCxnSpPr>
        <p:spPr>
          <a:xfrm>
            <a:off x="786384" y="203911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0" name="Google Shape;330;p7"/>
          <p:cNvCxnSpPr/>
          <p:nvPr/>
        </p:nvCxnSpPr>
        <p:spPr>
          <a:xfrm>
            <a:off x="5504688" y="264261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1" name="Google Shape;331;p7"/>
          <p:cNvSpPr/>
          <p:nvPr/>
        </p:nvSpPr>
        <p:spPr>
          <a:xfrm>
            <a:off x="859536" y="2039112"/>
            <a:ext cx="4828032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80"/>
              <a:buFont typeface="Arial"/>
              <a:buNone/>
            </a:pPr>
            <a:r>
              <a:rPr b="1" lang="en-US" sz="11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Source of truth</a:t>
            </a:r>
            <a:endParaRPr sz="11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80"/>
              <a:buFont typeface="Arial"/>
              <a:buNone/>
            </a:pPr>
            <a:r>
              <a:rPr b="1" lang="en-US" sz="11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Project state JSON, generated dashboard, README/design index, task board, asset register</a:t>
            </a:r>
            <a:endParaRPr sz="11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7"/>
          <p:cNvSpPr/>
          <p:nvPr/>
        </p:nvSpPr>
        <p:spPr>
          <a:xfrm>
            <a:off x="6336792" y="1965960"/>
            <a:ext cx="5120640" cy="74980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3" name="Google Shape;333;p7"/>
          <p:cNvCxnSpPr/>
          <p:nvPr/>
        </p:nvCxnSpPr>
        <p:spPr>
          <a:xfrm>
            <a:off x="6409944" y="203911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4" name="Google Shape;334;p7"/>
          <p:cNvCxnSpPr/>
          <p:nvPr/>
        </p:nvCxnSpPr>
        <p:spPr>
          <a:xfrm>
            <a:off x="11128248" y="264261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5" name="Google Shape;335;p7"/>
          <p:cNvSpPr/>
          <p:nvPr/>
        </p:nvSpPr>
        <p:spPr>
          <a:xfrm>
            <a:off x="6483096" y="2039112"/>
            <a:ext cx="4828032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80"/>
              <a:buFont typeface="Arial"/>
              <a:buNone/>
            </a:pPr>
            <a:r>
              <a:rPr b="1" lang="en-US" sz="11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Lane ownership</a:t>
            </a:r>
            <a:endParaRPr sz="11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80"/>
              <a:buFont typeface="Arial"/>
              <a:buNone/>
            </a:pPr>
            <a:r>
              <a:rPr b="1" lang="en-US" sz="11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Each lane owns a concrete area and must coordinate contract changes with dependent lanes</a:t>
            </a:r>
            <a:endParaRPr sz="11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7"/>
          <p:cNvSpPr/>
          <p:nvPr/>
        </p:nvSpPr>
        <p:spPr>
          <a:xfrm>
            <a:off x="713232" y="2926080"/>
            <a:ext cx="5120640" cy="74980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7" name="Google Shape;337;p7"/>
          <p:cNvCxnSpPr/>
          <p:nvPr/>
        </p:nvCxnSpPr>
        <p:spPr>
          <a:xfrm>
            <a:off x="786384" y="299923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8" name="Google Shape;338;p7"/>
          <p:cNvCxnSpPr/>
          <p:nvPr/>
        </p:nvCxnSpPr>
        <p:spPr>
          <a:xfrm>
            <a:off x="5504688" y="360273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9" name="Google Shape;339;p7"/>
          <p:cNvSpPr/>
          <p:nvPr/>
        </p:nvSpPr>
        <p:spPr>
          <a:xfrm>
            <a:off x="859536" y="2999232"/>
            <a:ext cx="4828032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80"/>
              <a:buFont typeface="Arial"/>
              <a:buNone/>
            </a:pPr>
            <a:r>
              <a:rPr b="1" lang="en-US" sz="11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Completion reports</a:t>
            </a:r>
            <a:endParaRPr sz="11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80"/>
              <a:buFont typeface="Arial"/>
              <a:buNone/>
            </a:pPr>
            <a:r>
              <a:rPr b="1" lang="en-US" sz="11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Every agent reports files changed, contracts touched, validation run/result, gaps, impacts, next task</a:t>
            </a:r>
            <a:endParaRPr sz="11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7"/>
          <p:cNvSpPr/>
          <p:nvPr/>
        </p:nvSpPr>
        <p:spPr>
          <a:xfrm>
            <a:off x="6336792" y="2926080"/>
            <a:ext cx="5120640" cy="74980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41" name="Google Shape;341;p7"/>
          <p:cNvCxnSpPr/>
          <p:nvPr/>
        </p:nvCxnSpPr>
        <p:spPr>
          <a:xfrm>
            <a:off x="6409944" y="299923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42" name="Google Shape;342;p7"/>
          <p:cNvCxnSpPr/>
          <p:nvPr/>
        </p:nvCxnSpPr>
        <p:spPr>
          <a:xfrm>
            <a:off x="11128248" y="360273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3" name="Google Shape;343;p7"/>
          <p:cNvSpPr/>
          <p:nvPr/>
        </p:nvSpPr>
        <p:spPr>
          <a:xfrm>
            <a:off x="6483096" y="2999232"/>
            <a:ext cx="4828032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80"/>
              <a:buFont typeface="Arial"/>
              <a:buNone/>
            </a:pPr>
            <a:r>
              <a:rPr b="1" lang="en-US" sz="11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Validation close-out</a:t>
            </a:r>
            <a:endParaRPr sz="11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80"/>
              <a:buFont typeface="Arial"/>
              <a:buNone/>
            </a:pPr>
            <a:r>
              <a:rPr b="1" lang="en-US" sz="11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Tests, captures, build logs, and blocked/failed commands must be reported before new work starts</a:t>
            </a:r>
            <a:endParaRPr sz="11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7"/>
          <p:cNvSpPr/>
          <p:nvPr/>
        </p:nvSpPr>
        <p:spPr>
          <a:xfrm>
            <a:off x="713232" y="3886200"/>
            <a:ext cx="10881360" cy="74980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45" name="Google Shape;345;p7"/>
          <p:cNvCxnSpPr/>
          <p:nvPr/>
        </p:nvCxnSpPr>
        <p:spPr>
          <a:xfrm>
            <a:off x="786384" y="395935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46" name="Google Shape;346;p7"/>
          <p:cNvCxnSpPr/>
          <p:nvPr/>
        </p:nvCxnSpPr>
        <p:spPr>
          <a:xfrm>
            <a:off x="11265408" y="456285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7" name="Google Shape;347;p7"/>
          <p:cNvSpPr/>
          <p:nvPr/>
        </p:nvSpPr>
        <p:spPr>
          <a:xfrm>
            <a:off x="859536" y="3959352"/>
            <a:ext cx="10588752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80"/>
              <a:buFont typeface="Arial"/>
              <a:buNone/>
            </a:pPr>
            <a:r>
              <a:rPr b="1" lang="en-US" sz="11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Blocker escalation</a:t>
            </a:r>
            <a:endParaRPr sz="11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80"/>
              <a:buFont typeface="Arial"/>
              <a:buNone/>
            </a:pPr>
            <a:r>
              <a:rPr b="1" lang="en-US" sz="11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Waiting/blocking requires exact owner, file/report/asset/command, and fallback-work decision</a:t>
            </a:r>
            <a:endParaRPr sz="11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7"/>
          <p:cNvSpPr/>
          <p:nvPr/>
        </p:nvSpPr>
        <p:spPr>
          <a:xfrm>
            <a:off x="868680" y="5376672"/>
            <a:ext cx="10424160" cy="548640"/>
          </a:xfrm>
          <a:prstGeom prst="rect">
            <a:avLst/>
          </a:prstGeom>
          <a:solidFill>
            <a:srgbClr val="0A18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7"/>
          <p:cNvSpPr/>
          <p:nvPr/>
        </p:nvSpPr>
        <p:spPr>
          <a:xfrm>
            <a:off x="941832" y="5449824"/>
            <a:ext cx="1027785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550"/>
              <a:buFont typeface="Arial"/>
              <a:buNone/>
            </a:pPr>
            <a:r>
              <a:rPr b="1" lang="en-US" sz="155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Accepted progress requires repo files, named reports, validation evidence, and cross-lane ownership — not just “I finished.”</a:t>
            </a:r>
            <a:endParaRPr sz="15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50" name="Google Shape;350;p7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1" name="Google Shape;351;p7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Source: WarlineCapture_Agent_Coordination_Workflow.md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7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A0E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0E"/>
          </a:solidFill>
          <a:ln cap="flat" cmpd="sng" w="12700">
            <a:solidFill>
              <a:srgbClr val="050A0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8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8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8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responsibilities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2" name="Google Shape;362;p8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63" name="Google Shape;363;p8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64" name="Google Shape;364;p8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65" name="Google Shape;365;p8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66" name="Google Shape;366;p8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67" name="Google Shape;367;p8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68" name="Google Shape;368;p8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69" name="Google Shape;369;p8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0" name="Google Shape;370;p8"/>
          <p:cNvSpPr/>
          <p:nvPr/>
        </p:nvSpPr>
        <p:spPr>
          <a:xfrm>
            <a:off x="658368" y="530352"/>
            <a:ext cx="107899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Role of each agent lane</a:t>
            </a:r>
            <a:endParaRPr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8"/>
          <p:cNvSpPr/>
          <p:nvPr/>
        </p:nvSpPr>
        <p:spPr>
          <a:xfrm>
            <a:off x="749808" y="1316736"/>
            <a:ext cx="2194560" cy="347472"/>
          </a:xfrm>
          <a:prstGeom prst="rect">
            <a:avLst/>
          </a:prstGeom>
          <a:solidFill>
            <a:srgbClr val="0D2630">
              <a:alpha val="96078"/>
            </a:srgbClr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8"/>
          <p:cNvSpPr/>
          <p:nvPr/>
        </p:nvSpPr>
        <p:spPr>
          <a:xfrm>
            <a:off x="896112" y="1389888"/>
            <a:ext cx="19019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Lane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8"/>
          <p:cNvSpPr/>
          <p:nvPr/>
        </p:nvSpPr>
        <p:spPr>
          <a:xfrm>
            <a:off x="3054096" y="1316736"/>
            <a:ext cx="8458200" cy="347472"/>
          </a:xfrm>
          <a:prstGeom prst="rect">
            <a:avLst/>
          </a:prstGeom>
          <a:solidFill>
            <a:srgbClr val="0D2630">
              <a:alpha val="96078"/>
            </a:srgbClr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8"/>
          <p:cNvSpPr/>
          <p:nvPr/>
        </p:nvSpPr>
        <p:spPr>
          <a:xfrm>
            <a:off x="3200400" y="1389888"/>
            <a:ext cx="816559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Owns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8"/>
          <p:cNvSpPr/>
          <p:nvPr/>
        </p:nvSpPr>
        <p:spPr>
          <a:xfrm>
            <a:off x="749808" y="1737360"/>
            <a:ext cx="2194560" cy="34747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8"/>
          <p:cNvSpPr/>
          <p:nvPr/>
        </p:nvSpPr>
        <p:spPr>
          <a:xfrm>
            <a:off x="877824" y="1810512"/>
            <a:ext cx="193852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960"/>
              <a:buFont typeface="Arial"/>
              <a:buNone/>
            </a:pPr>
            <a:r>
              <a:rPr b="1" lang="en-US" sz="96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PM assistant</a:t>
            </a:r>
            <a:endParaRPr sz="9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8"/>
          <p:cNvSpPr/>
          <p:nvPr/>
        </p:nvSpPr>
        <p:spPr>
          <a:xfrm>
            <a:off x="3054096" y="1737360"/>
            <a:ext cx="8458200" cy="34747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8"/>
          <p:cNvSpPr/>
          <p:nvPr/>
        </p:nvSpPr>
        <p:spPr>
          <a:xfrm>
            <a:off x="3182112" y="1810512"/>
            <a:ext cx="82021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960"/>
              <a:buFont typeface="Arial"/>
              <a:buNone/>
            </a:pPr>
            <a:r>
              <a:rPr b="1" lang="en-US" sz="96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Intake, sync review, validation gate, priority ordering, progress tracking</a:t>
            </a:r>
            <a:endParaRPr sz="9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8"/>
          <p:cNvSpPr/>
          <p:nvPr/>
        </p:nvSpPr>
        <p:spPr>
          <a:xfrm>
            <a:off x="749808" y="2185416"/>
            <a:ext cx="2194560" cy="34747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8"/>
          <p:cNvSpPr/>
          <p:nvPr/>
        </p:nvSpPr>
        <p:spPr>
          <a:xfrm>
            <a:off x="877824" y="2258568"/>
            <a:ext cx="193852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960"/>
              <a:buFont typeface="Arial"/>
              <a:buNone/>
            </a:pPr>
            <a:r>
              <a:rPr b="1" lang="en-US" sz="96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Designer</a:t>
            </a:r>
            <a:endParaRPr sz="9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8"/>
          <p:cNvSpPr/>
          <p:nvPr/>
        </p:nvSpPr>
        <p:spPr>
          <a:xfrm>
            <a:off x="3054096" y="2185416"/>
            <a:ext cx="8458200" cy="34747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8"/>
          <p:cNvSpPr/>
          <p:nvPr/>
        </p:nvSpPr>
        <p:spPr>
          <a:xfrm>
            <a:off x="3182112" y="2258568"/>
            <a:ext cx="82021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960"/>
              <a:buFont typeface="Arial"/>
              <a:buNone/>
            </a:pPr>
            <a:r>
              <a:rPr b="1" lang="en-US" sz="96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Product coherence, design-index clarity, terminology, documentation pruning, design review</a:t>
            </a:r>
            <a:endParaRPr sz="9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8"/>
          <p:cNvSpPr/>
          <p:nvPr/>
        </p:nvSpPr>
        <p:spPr>
          <a:xfrm>
            <a:off x="749808" y="2633472"/>
            <a:ext cx="2194560" cy="34747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8"/>
          <p:cNvSpPr/>
          <p:nvPr/>
        </p:nvSpPr>
        <p:spPr>
          <a:xfrm>
            <a:off x="877824" y="2706624"/>
            <a:ext cx="193852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960"/>
              <a:buFont typeface="Arial"/>
              <a:buNone/>
            </a:pPr>
            <a:r>
              <a:rPr b="1" lang="en-US" sz="96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Gameplay / Codex</a:t>
            </a:r>
            <a:endParaRPr sz="9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8"/>
          <p:cNvSpPr/>
          <p:nvPr/>
        </p:nvSpPr>
        <p:spPr>
          <a:xfrm>
            <a:off x="3054096" y="2633472"/>
            <a:ext cx="8458200" cy="34747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8"/>
          <p:cNvSpPr/>
          <p:nvPr/>
        </p:nvSpPr>
        <p:spPr>
          <a:xfrm>
            <a:off x="3182112" y="2706624"/>
            <a:ext cx="82021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960"/>
              <a:buFont typeface="Arial"/>
              <a:buNone/>
            </a:pPr>
            <a:r>
              <a:rPr b="1" lang="en-US" sz="96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ECS systems, mission runtime, objectives, rewards, persistence, tactical map rendering</a:t>
            </a:r>
            <a:endParaRPr sz="9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8"/>
          <p:cNvSpPr/>
          <p:nvPr/>
        </p:nvSpPr>
        <p:spPr>
          <a:xfrm>
            <a:off x="749808" y="3081528"/>
            <a:ext cx="2194560" cy="34747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8"/>
          <p:cNvSpPr/>
          <p:nvPr/>
        </p:nvSpPr>
        <p:spPr>
          <a:xfrm>
            <a:off x="877824" y="3154680"/>
            <a:ext cx="193852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960"/>
              <a:buFont typeface="Arial"/>
              <a:buNone/>
            </a:pPr>
            <a:r>
              <a:rPr b="1" lang="en-US" sz="96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UI agent</a:t>
            </a:r>
            <a:endParaRPr sz="9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8"/>
          <p:cNvSpPr/>
          <p:nvPr/>
        </p:nvSpPr>
        <p:spPr>
          <a:xfrm>
            <a:off x="3054096" y="3081528"/>
            <a:ext cx="8458200" cy="34747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8"/>
          <p:cNvSpPr/>
          <p:nvPr/>
        </p:nvSpPr>
        <p:spPr>
          <a:xfrm>
            <a:off x="3182112" y="3154680"/>
            <a:ext cx="82021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960"/>
              <a:buFont typeface="Arial"/>
              <a:buNone/>
            </a:pPr>
            <a:r>
              <a:rPr b="1" lang="en-US" sz="96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Canvas screens, route wiring, tactical HUD, visual-lock implementation, UI tests</a:t>
            </a:r>
            <a:endParaRPr sz="9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8"/>
          <p:cNvSpPr/>
          <p:nvPr/>
        </p:nvSpPr>
        <p:spPr>
          <a:xfrm>
            <a:off x="749808" y="3529584"/>
            <a:ext cx="2194560" cy="34747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8"/>
          <p:cNvSpPr/>
          <p:nvPr/>
        </p:nvSpPr>
        <p:spPr>
          <a:xfrm>
            <a:off x="877824" y="3602736"/>
            <a:ext cx="193852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960"/>
              <a:buFont typeface="Arial"/>
              <a:buNone/>
            </a:pPr>
            <a:r>
              <a:rPr b="1" lang="en-US" sz="96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Art / Atlas</a:t>
            </a:r>
            <a:endParaRPr sz="9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8"/>
          <p:cNvSpPr/>
          <p:nvPr/>
        </p:nvSpPr>
        <p:spPr>
          <a:xfrm>
            <a:off x="3054096" y="3529584"/>
            <a:ext cx="8458200" cy="34747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8"/>
          <p:cNvSpPr/>
          <p:nvPr/>
        </p:nvSpPr>
        <p:spPr>
          <a:xfrm>
            <a:off x="3182112" y="3602736"/>
            <a:ext cx="82021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960"/>
              <a:buFont typeface="Arial"/>
              <a:buNone/>
            </a:pPr>
            <a:r>
              <a:rPr b="1" lang="en-US" sz="96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Sprite atlases, unit/building/VFX coverage, approval packages, readability references</a:t>
            </a:r>
            <a:endParaRPr sz="9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8"/>
          <p:cNvSpPr/>
          <p:nvPr/>
        </p:nvSpPr>
        <p:spPr>
          <a:xfrm>
            <a:off x="749808" y="3977640"/>
            <a:ext cx="2194560" cy="34747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8"/>
          <p:cNvSpPr/>
          <p:nvPr/>
        </p:nvSpPr>
        <p:spPr>
          <a:xfrm>
            <a:off x="877824" y="4050792"/>
            <a:ext cx="193852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960"/>
              <a:buFont typeface="Arial"/>
              <a:buNone/>
            </a:pPr>
            <a:r>
              <a:rPr b="1" lang="en-US" sz="96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QA / HCI</a:t>
            </a:r>
            <a:endParaRPr sz="9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8"/>
          <p:cNvSpPr/>
          <p:nvPr/>
        </p:nvSpPr>
        <p:spPr>
          <a:xfrm>
            <a:off x="3054096" y="3977640"/>
            <a:ext cx="8458200" cy="34747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8"/>
          <p:cNvSpPr/>
          <p:nvPr/>
        </p:nvSpPr>
        <p:spPr>
          <a:xfrm>
            <a:off x="3182112" y="4050792"/>
            <a:ext cx="82021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960"/>
              <a:buFont typeface="Arial"/>
              <a:buNone/>
            </a:pPr>
            <a:r>
              <a:rPr b="1" lang="en-US" sz="96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Public gameplay evidence, readability mode validation, capture comparison, acceptance checks</a:t>
            </a:r>
            <a:endParaRPr sz="9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8"/>
          <p:cNvSpPr/>
          <p:nvPr/>
        </p:nvSpPr>
        <p:spPr>
          <a:xfrm>
            <a:off x="749808" y="4425696"/>
            <a:ext cx="2194560" cy="34747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8"/>
          <p:cNvSpPr/>
          <p:nvPr/>
        </p:nvSpPr>
        <p:spPr>
          <a:xfrm>
            <a:off x="877824" y="4498848"/>
            <a:ext cx="193852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960"/>
              <a:buFont typeface="Arial"/>
              <a:buNone/>
            </a:pPr>
            <a:r>
              <a:rPr b="1" lang="en-US" sz="96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Build agent</a:t>
            </a:r>
            <a:endParaRPr sz="9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8"/>
          <p:cNvSpPr/>
          <p:nvPr/>
        </p:nvSpPr>
        <p:spPr>
          <a:xfrm>
            <a:off x="3054096" y="4425696"/>
            <a:ext cx="8458200" cy="34747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8"/>
          <p:cNvSpPr/>
          <p:nvPr/>
        </p:nvSpPr>
        <p:spPr>
          <a:xfrm>
            <a:off x="3182112" y="4498848"/>
            <a:ext cx="82021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960"/>
              <a:buFont typeface="Arial"/>
              <a:buNone/>
            </a:pPr>
            <a:r>
              <a:rPr b="1" lang="en-US" sz="96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Jenkins/builds, build-log inspection, failure-summary reports, CI handoff</a:t>
            </a:r>
            <a:endParaRPr sz="9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8"/>
          <p:cNvSpPr/>
          <p:nvPr/>
        </p:nvSpPr>
        <p:spPr>
          <a:xfrm>
            <a:off x="749808" y="4873752"/>
            <a:ext cx="2194560" cy="34747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8"/>
          <p:cNvSpPr/>
          <p:nvPr/>
        </p:nvSpPr>
        <p:spPr>
          <a:xfrm>
            <a:off x="877824" y="4946904"/>
            <a:ext cx="193852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BF4F6"/>
              </a:buClr>
              <a:buSzPts val="1200"/>
              <a:buFont typeface="Play"/>
              <a:buNone/>
            </a:pPr>
            <a:r>
              <a:rPr b="1" lang="en-US" sz="1200">
                <a:solidFill>
                  <a:srgbClr val="EBF4F6"/>
                </a:solidFill>
                <a:latin typeface="Play"/>
                <a:ea typeface="Play"/>
                <a:cs typeface="Play"/>
                <a:sym typeface="Play"/>
              </a:rPr>
              <a:t>Analytics / FTUE</a:t>
            </a:r>
            <a:endParaRPr sz="9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8"/>
          <p:cNvSpPr/>
          <p:nvPr/>
        </p:nvSpPr>
        <p:spPr>
          <a:xfrm>
            <a:off x="3054096" y="4873752"/>
            <a:ext cx="8458200" cy="34747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8"/>
          <p:cNvSpPr/>
          <p:nvPr/>
        </p:nvSpPr>
        <p:spPr>
          <a:xfrm>
            <a:off x="3182112" y="4946904"/>
            <a:ext cx="82021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B0B7"/>
              </a:buClr>
              <a:buSzPts val="1100"/>
              <a:buFont typeface="Play"/>
              <a:buNone/>
            </a:pPr>
            <a:r>
              <a:rPr b="1" lang="en-US" sz="1100">
                <a:solidFill>
                  <a:srgbClr val="9AB0B7"/>
                </a:solidFill>
                <a:latin typeface="Play"/>
                <a:ea typeface="Play"/>
                <a:cs typeface="Play"/>
                <a:sym typeface="Play"/>
              </a:rPr>
              <a:t>FTUE funnels, tracking coverage, cohorts, A/B tests, telemetry review, design recommendations</a:t>
            </a:r>
            <a:endParaRPr sz="9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8"/>
          <p:cNvSpPr/>
          <p:nvPr/>
        </p:nvSpPr>
        <p:spPr>
          <a:xfrm>
            <a:off x="868680" y="5376672"/>
            <a:ext cx="10424160" cy="548640"/>
          </a:xfrm>
          <a:prstGeom prst="rect">
            <a:avLst/>
          </a:prstGeom>
          <a:solidFill>
            <a:srgbClr val="0A18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8"/>
          <p:cNvSpPr/>
          <p:nvPr/>
        </p:nvSpPr>
        <p:spPr>
          <a:xfrm>
            <a:off x="941832" y="5449824"/>
            <a:ext cx="1027785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550"/>
              <a:buFont typeface="Arial"/>
              <a:buNone/>
            </a:pPr>
            <a:r>
              <a:rPr b="1" lang="en-US" sz="155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Lane contracts make the system model-agnostic: swap an AI agent for another model or a human without changing the workflow.</a:t>
            </a:r>
            <a:endParaRPr sz="15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09" name="Google Shape;409;p8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0" name="Google Shape;410;p8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Source: WarlineCapture_Agent_Coordination_Workflow.md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8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A0E"/>
        </a:solidFill>
      </p:bgPr>
    </p:bg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0E"/>
          </a:solidFill>
          <a:ln cap="flat" cmpd="sng" w="12700">
            <a:solidFill>
              <a:srgbClr val="050A0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9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9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9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engineering discipline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21" name="Google Shape;421;p9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22" name="Google Shape;422;p9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23" name="Google Shape;423;p9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24" name="Google Shape;424;p9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25" name="Google Shape;425;p9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26" name="Google Shape;426;p9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27" name="Google Shape;427;p9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28" name="Google Shape;428;p9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9" name="Google Shape;429;p9"/>
          <p:cNvSpPr/>
          <p:nvPr/>
        </p:nvSpPr>
        <p:spPr>
          <a:xfrm>
            <a:off x="658368" y="530352"/>
            <a:ext cx="107899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Code architecture direction: preventing AI drift</a:t>
            </a:r>
            <a:endParaRPr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9"/>
          <p:cNvSpPr/>
          <p:nvPr/>
        </p:nvSpPr>
        <p:spPr>
          <a:xfrm>
            <a:off x="749808" y="1097280"/>
            <a:ext cx="10607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520"/>
              <a:buFont typeface="Arial"/>
              <a:buNone/>
            </a:pPr>
            <a:r>
              <a:rPr lang="en-US" sz="15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Without direction, AI agents can produce inconsistent architecture: duplicated logic, scene-wide searches, public serialized fields, hard-coded values, and unclear ownership.</a:t>
            </a:r>
            <a:endParaRPr sz="15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9"/>
          <p:cNvSpPr/>
          <p:nvPr/>
        </p:nvSpPr>
        <p:spPr>
          <a:xfrm>
            <a:off x="786384" y="1874520"/>
            <a:ext cx="5257800" cy="420624"/>
          </a:xfrm>
          <a:prstGeom prst="rect">
            <a:avLst/>
          </a:prstGeom>
          <a:solidFill>
            <a:srgbClr val="0D2117">
              <a:alpha val="96078"/>
            </a:srgbClr>
          </a:solidFill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9"/>
          <p:cNvSpPr/>
          <p:nvPr/>
        </p:nvSpPr>
        <p:spPr>
          <a:xfrm>
            <a:off x="859536" y="1947672"/>
            <a:ext cx="51114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DEB9D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7DEB9D"/>
                </a:solidFill>
                <a:latin typeface="Arial"/>
                <a:ea typeface="Arial"/>
                <a:cs typeface="Arial"/>
                <a:sym typeface="Arial"/>
              </a:rPr>
              <a:t>Architecture contract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9"/>
          <p:cNvSpPr/>
          <p:nvPr/>
        </p:nvSpPr>
        <p:spPr>
          <a:xfrm>
            <a:off x="859536" y="2487168"/>
            <a:ext cx="50749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70"/>
              <a:buFont typeface="Arial"/>
              <a:buNone/>
            </a:pPr>
            <a:r>
              <a:rPr lang="en-US" sz="117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ECS-first gameplay; Canvas UI is the main non-ECS exception.</a:t>
            </a:r>
            <a:br>
              <a:rPr lang="en-US" sz="117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17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GameBootstrap owns runtime systems; new systems are plain classes unless ECS authoring is required.</a:t>
            </a:r>
            <a:br>
              <a:rPr lang="en-US" sz="117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17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Explicit Init(...) / BindDependencies(...) and typed provider APIs replace global lookups.</a:t>
            </a:r>
            <a:br>
              <a:rPr lang="en-US" sz="117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17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ScriptableObject configs hold tunables; scene/subscene authorings stay thin and config-driven.</a:t>
            </a:r>
            <a:br>
              <a:rPr lang="en-US" sz="117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17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Comments and completion reports explain intent, contracts touched, validation, and known gaps.</a:t>
            </a:r>
            <a:br>
              <a:rPr lang="en-US" sz="117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endParaRPr sz="117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9"/>
          <p:cNvSpPr/>
          <p:nvPr/>
        </p:nvSpPr>
        <p:spPr>
          <a:xfrm>
            <a:off x="6364224" y="1874520"/>
            <a:ext cx="5029200" cy="420624"/>
          </a:xfrm>
          <a:prstGeom prst="rect">
            <a:avLst/>
          </a:prstGeom>
          <a:solidFill>
            <a:srgbClr val="1C170A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9"/>
          <p:cNvSpPr/>
          <p:nvPr/>
        </p:nvSpPr>
        <p:spPr>
          <a:xfrm>
            <a:off x="6437376" y="1947672"/>
            <a:ext cx="48828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Validation enforcement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9"/>
          <p:cNvSpPr/>
          <p:nvPr/>
        </p:nvSpPr>
        <p:spPr>
          <a:xfrm>
            <a:off x="6437376" y="2487168"/>
            <a:ext cx="489204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70"/>
              <a:buFont typeface="Arial"/>
              <a:buNone/>
            </a:pPr>
            <a:r>
              <a:rPr lang="en-US" sz="117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Reject Object.Find*, GameObject.Find, Camera.main, Transform.Find path traversal, and broad scene-search patterns.</a:t>
            </a:r>
            <a:br>
              <a:rPr lang="en-US" sz="117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17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Run EditMode tests, Play Mode smoke tests, visual captures, and build checks after meaningful changes.</a:t>
            </a:r>
            <a:br>
              <a:rPr lang="en-US" sz="117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17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Treat missing validation, visual drift, and stale reports as blockers, not polish.</a:t>
            </a:r>
            <a:br>
              <a:rPr lang="en-US" sz="117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17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Only accepted reports, captures/tests, or explicit user approval update progress.</a:t>
            </a:r>
            <a:br>
              <a:rPr lang="en-US" sz="117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endParaRPr sz="117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9"/>
          <p:cNvSpPr/>
          <p:nvPr/>
        </p:nvSpPr>
        <p:spPr>
          <a:xfrm>
            <a:off x="868680" y="5376672"/>
            <a:ext cx="10424160" cy="548640"/>
          </a:xfrm>
          <a:prstGeom prst="rect">
            <a:avLst/>
          </a:prstGeom>
          <a:solidFill>
            <a:srgbClr val="0A18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9"/>
          <p:cNvSpPr/>
          <p:nvPr/>
        </p:nvSpPr>
        <p:spPr>
          <a:xfrm>
            <a:off x="941832" y="5449824"/>
            <a:ext cx="1027785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550"/>
              <a:buFont typeface="Arial"/>
              <a:buNone/>
            </a:pPr>
            <a:r>
              <a:rPr b="1" lang="en-US" sz="155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Clean architecture becomes enforceable when design rules are converted into tests and validation gates.</a:t>
            </a:r>
            <a:endParaRPr sz="15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9" name="Google Shape;439;p9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0" name="Google Shape;440;p9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Sources: README architecture/runtime/performance/testing rules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9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A0E"/>
        </a:solidFill>
      </p:bgPr>
    </p:bg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0E"/>
          </a:solidFill>
          <a:ln cap="flat" cmpd="sng" w="12700">
            <a:solidFill>
              <a:srgbClr val="050A0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1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10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10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from ideas to specs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51" name="Google Shape;451;p10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52" name="Google Shape;452;p10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53" name="Google Shape;453;p10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54" name="Google Shape;454;p10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55" name="Google Shape;455;p10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56" name="Google Shape;456;p10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57" name="Google Shape;457;p10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58" name="Google Shape;458;p10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9" name="Google Shape;459;p10"/>
          <p:cNvSpPr/>
          <p:nvPr/>
        </p:nvSpPr>
        <p:spPr>
          <a:xfrm>
            <a:off x="658368" y="530352"/>
            <a:ext cx="107899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Design-first automation</a:t>
            </a:r>
            <a:endParaRPr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wc_missionbriefing_target.png" id="460" name="Google Shape;460;p10"/>
          <p:cNvPicPr preferRelativeResize="0"/>
          <p:nvPr/>
        </p:nvPicPr>
        <p:blipFill rotWithShape="1">
          <a:blip r:embed="rId3">
            <a:alphaModFix/>
          </a:blip>
          <a:srcRect b="1" l="0" r="0" t="1"/>
          <a:stretch/>
        </p:blipFill>
        <p:spPr>
          <a:xfrm>
            <a:off x="7452360" y="1143000"/>
            <a:ext cx="3931920" cy="2212848"/>
          </a:xfrm>
          <a:prstGeom prst="rect">
            <a:avLst/>
          </a:prstGeom>
          <a:noFill/>
          <a:ln>
            <a:noFill/>
          </a:ln>
        </p:spPr>
      </p:pic>
      <p:sp>
        <p:nvSpPr>
          <p:cNvPr id="461" name="Google Shape;461;p10"/>
          <p:cNvSpPr/>
          <p:nvPr/>
        </p:nvSpPr>
        <p:spPr>
          <a:xfrm>
            <a:off x="7452360" y="1143000"/>
            <a:ext cx="3931920" cy="2212848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15225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10"/>
          <p:cNvSpPr/>
          <p:nvPr/>
        </p:nvSpPr>
        <p:spPr>
          <a:xfrm>
            <a:off x="7452360" y="3008376"/>
            <a:ext cx="3931920" cy="347472"/>
          </a:xfrm>
          <a:prstGeom prst="rect">
            <a:avLst/>
          </a:prstGeom>
          <a:solidFill>
            <a:srgbClr val="000000">
              <a:alpha val="74901"/>
            </a:srgbClr>
          </a:solidFill>
          <a:ln cap="flat" cmpd="sng" w="12700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10"/>
          <p:cNvSpPr/>
          <p:nvPr/>
        </p:nvSpPr>
        <p:spPr>
          <a:xfrm>
            <a:off x="7562088" y="3108960"/>
            <a:ext cx="3712464" cy="1005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750"/>
              <a:buFont typeface="Arial"/>
              <a:buNone/>
            </a:pPr>
            <a:r>
              <a:rPr b="1" lang="en-US" sz="75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MISSION BRIEFING VISUAL TARGET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10"/>
          <p:cNvSpPr/>
          <p:nvPr/>
        </p:nvSpPr>
        <p:spPr>
          <a:xfrm>
            <a:off x="786384" y="1143000"/>
            <a:ext cx="5623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Your high-level ideas become structured documents before implementation starts. This makes Codex execution easier to steer and easier to validate.</a:t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5" name="Google Shape;465;p10"/>
          <p:cNvCxnSpPr/>
          <p:nvPr/>
        </p:nvCxnSpPr>
        <p:spPr>
          <a:xfrm>
            <a:off x="2395728" y="2423160"/>
            <a:ext cx="512064" cy="0"/>
          </a:xfrm>
          <a:prstGeom prst="straightConnector1">
            <a:avLst/>
          </a:prstGeom>
          <a:noFill/>
          <a:ln cap="flat" cmpd="sng" w="11425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66" name="Google Shape;466;p10"/>
          <p:cNvCxnSpPr/>
          <p:nvPr/>
        </p:nvCxnSpPr>
        <p:spPr>
          <a:xfrm>
            <a:off x="4617720" y="2423160"/>
            <a:ext cx="640080" cy="0"/>
          </a:xfrm>
          <a:prstGeom prst="straightConnector1">
            <a:avLst/>
          </a:prstGeom>
          <a:noFill/>
          <a:ln cap="flat" cmpd="sng" w="11425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67" name="Google Shape;467;p10"/>
          <p:cNvSpPr/>
          <p:nvPr/>
        </p:nvSpPr>
        <p:spPr>
          <a:xfrm>
            <a:off x="804672" y="2121408"/>
            <a:ext cx="1600200" cy="594360"/>
          </a:xfrm>
          <a:prstGeom prst="rect">
            <a:avLst/>
          </a:prstGeom>
          <a:solidFill>
            <a:srgbClr val="0D2117">
              <a:alpha val="96078"/>
            </a:srgbClr>
          </a:solidFill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8" name="Google Shape;468;p10"/>
          <p:cNvCxnSpPr/>
          <p:nvPr/>
        </p:nvCxnSpPr>
        <p:spPr>
          <a:xfrm>
            <a:off x="877824" y="219456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69" name="Google Shape;469;p10"/>
          <p:cNvCxnSpPr/>
          <p:nvPr/>
        </p:nvCxnSpPr>
        <p:spPr>
          <a:xfrm>
            <a:off x="2075688" y="264261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0" name="Google Shape;470;p10"/>
          <p:cNvSpPr/>
          <p:nvPr/>
        </p:nvSpPr>
        <p:spPr>
          <a:xfrm>
            <a:off x="877824" y="2194560"/>
            <a:ext cx="1453896" cy="44805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450"/>
              <a:buFont typeface="Arial"/>
              <a:buNone/>
            </a:pPr>
            <a:r>
              <a:rPr b="1" lang="en-US" sz="14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Human ideas</a:t>
            </a:r>
            <a:endParaRPr sz="14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10"/>
          <p:cNvSpPr/>
          <p:nvPr/>
        </p:nvSpPr>
        <p:spPr>
          <a:xfrm>
            <a:off x="2999232" y="2121408"/>
            <a:ext cx="1600200" cy="594360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72" name="Google Shape;472;p10"/>
          <p:cNvCxnSpPr/>
          <p:nvPr/>
        </p:nvCxnSpPr>
        <p:spPr>
          <a:xfrm>
            <a:off x="3072384" y="219456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73" name="Google Shape;473;p10"/>
          <p:cNvCxnSpPr/>
          <p:nvPr/>
        </p:nvCxnSpPr>
        <p:spPr>
          <a:xfrm>
            <a:off x="4270248" y="264261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4" name="Google Shape;474;p10"/>
          <p:cNvSpPr/>
          <p:nvPr/>
        </p:nvSpPr>
        <p:spPr>
          <a:xfrm>
            <a:off x="3072384" y="2194560"/>
            <a:ext cx="1453896" cy="44805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450"/>
              <a:buFont typeface="Arial"/>
              <a:buNone/>
            </a:pPr>
            <a:r>
              <a:rPr b="1" lang="en-US" sz="14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High-level GDD</a:t>
            </a:r>
            <a:endParaRPr sz="14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10"/>
          <p:cNvSpPr/>
          <p:nvPr/>
        </p:nvSpPr>
        <p:spPr>
          <a:xfrm>
            <a:off x="5257800" y="2121408"/>
            <a:ext cx="1600200" cy="594360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76" name="Google Shape;476;p10"/>
          <p:cNvCxnSpPr/>
          <p:nvPr/>
        </p:nvCxnSpPr>
        <p:spPr>
          <a:xfrm>
            <a:off x="5330952" y="219456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77" name="Google Shape;477;p10"/>
          <p:cNvCxnSpPr/>
          <p:nvPr/>
        </p:nvCxnSpPr>
        <p:spPr>
          <a:xfrm>
            <a:off x="6528816" y="264261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8" name="Google Shape;478;p10"/>
          <p:cNvSpPr/>
          <p:nvPr/>
        </p:nvSpPr>
        <p:spPr>
          <a:xfrm>
            <a:off x="5330952" y="2194560"/>
            <a:ext cx="1453896" cy="44805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450"/>
              <a:buFont typeface="Arial"/>
              <a:buNone/>
            </a:pPr>
            <a:r>
              <a:rPr b="1" lang="en-US" sz="14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Detailed specs</a:t>
            </a:r>
            <a:endParaRPr sz="14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10"/>
          <p:cNvSpPr/>
          <p:nvPr/>
        </p:nvSpPr>
        <p:spPr>
          <a:xfrm>
            <a:off x="822960" y="3520440"/>
            <a:ext cx="6080760" cy="566928"/>
          </a:xfrm>
          <a:prstGeom prst="rect">
            <a:avLst/>
          </a:prstGeom>
          <a:solidFill>
            <a:srgbClr val="1A1306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"/>
          <p:cNvSpPr/>
          <p:nvPr/>
        </p:nvSpPr>
        <p:spPr>
          <a:xfrm>
            <a:off x="896112" y="3593592"/>
            <a:ext cx="593445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450"/>
              <a:buFont typeface="Arial"/>
              <a:buNone/>
            </a:pPr>
            <a:r>
              <a:rPr b="1" lang="en-US" sz="145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Acceptance + testing criteria</a:t>
            </a:r>
            <a:endParaRPr sz="14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"/>
          <p:cNvSpPr/>
          <p:nvPr/>
        </p:nvSpPr>
        <p:spPr>
          <a:xfrm>
            <a:off x="914400" y="4617720"/>
            <a:ext cx="630936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20"/>
              <a:buFont typeface="Arial"/>
              <a:buNone/>
            </a:pPr>
            <a:r>
              <a:rPr lang="en-US" sz="12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Design index organizes product direction, visual locks, art, audio, monetization, marketing, and update rules.</a:t>
            </a:r>
            <a:br>
              <a:rPr lang="en-US" sz="12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M01 First Contact is the active playable-slice gate.</a:t>
            </a:r>
            <a:br>
              <a:rPr lang="en-US" sz="12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The PM-controlled task board routes each lane through current tasks, reports, and blockers.</a:t>
            </a:r>
            <a:br>
              <a:rPr lang="en-US" sz="12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endParaRPr sz="12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2" name="Google Shape;482;p10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3" name="Google Shape;483;p10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Sources: Design/README.md and README.md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A0E"/>
        </a:solidFill>
      </p:bgPr>
    </p:bg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0E"/>
          </a:solidFill>
          <a:ln cap="flat" cmpd="sng" w="12700">
            <a:solidFill>
              <a:srgbClr val="050A0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1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11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11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visual targets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4" name="Google Shape;494;p11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95" name="Google Shape;495;p11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96" name="Google Shape;496;p11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97" name="Google Shape;497;p11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98" name="Google Shape;498;p11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99" name="Google Shape;499;p11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00" name="Google Shape;500;p11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01" name="Google Shape;501;p11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2" name="Google Shape;502;p11"/>
          <p:cNvSpPr/>
          <p:nvPr/>
        </p:nvSpPr>
        <p:spPr>
          <a:xfrm>
            <a:off x="658368" y="530352"/>
            <a:ext cx="107899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WarlineCapture visual language</a:t>
            </a:r>
            <a:endParaRPr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wc_mainmenu_target.png" id="503" name="Google Shape;503;p11"/>
          <p:cNvPicPr preferRelativeResize="0"/>
          <p:nvPr/>
        </p:nvPicPr>
        <p:blipFill rotWithShape="1">
          <a:blip r:embed="rId3">
            <a:alphaModFix/>
          </a:blip>
          <a:srcRect b="0" l="116" r="116" t="0"/>
          <a:stretch/>
        </p:blipFill>
        <p:spPr>
          <a:xfrm>
            <a:off x="685800" y="1207008"/>
            <a:ext cx="3566160" cy="2011680"/>
          </a:xfrm>
          <a:prstGeom prst="rect">
            <a:avLst/>
          </a:prstGeom>
          <a:noFill/>
          <a:ln>
            <a:noFill/>
          </a:ln>
        </p:spPr>
      </p:pic>
      <p:sp>
        <p:nvSpPr>
          <p:cNvPr id="504" name="Google Shape;504;p11"/>
          <p:cNvSpPr/>
          <p:nvPr/>
        </p:nvSpPr>
        <p:spPr>
          <a:xfrm>
            <a:off x="685800" y="1207008"/>
            <a:ext cx="3566160" cy="201168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15225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11"/>
          <p:cNvSpPr/>
          <p:nvPr/>
        </p:nvSpPr>
        <p:spPr>
          <a:xfrm>
            <a:off x="685800" y="2871216"/>
            <a:ext cx="3566160" cy="347472"/>
          </a:xfrm>
          <a:prstGeom prst="rect">
            <a:avLst/>
          </a:prstGeom>
          <a:solidFill>
            <a:srgbClr val="000000">
              <a:alpha val="74901"/>
            </a:srgbClr>
          </a:solidFill>
          <a:ln cap="flat" cmpd="sng" w="12700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11"/>
          <p:cNvSpPr/>
          <p:nvPr/>
        </p:nvSpPr>
        <p:spPr>
          <a:xfrm>
            <a:off x="795528" y="2971800"/>
            <a:ext cx="3346704" cy="1005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750"/>
              <a:buFont typeface="Arial"/>
              <a:buNone/>
            </a:pPr>
            <a:r>
              <a:rPr b="1" lang="en-US" sz="75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MAIN MENU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wc_quickcustom_target.png" id="507" name="Google Shape;507;p11"/>
          <p:cNvPicPr preferRelativeResize="0"/>
          <p:nvPr/>
        </p:nvPicPr>
        <p:blipFill rotWithShape="1">
          <a:blip r:embed="rId4">
            <a:alphaModFix/>
          </a:blip>
          <a:srcRect b="0" l="116" r="116" t="0"/>
          <a:stretch/>
        </p:blipFill>
        <p:spPr>
          <a:xfrm>
            <a:off x="4434840" y="1207008"/>
            <a:ext cx="3566160" cy="2011680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11"/>
          <p:cNvSpPr/>
          <p:nvPr/>
        </p:nvSpPr>
        <p:spPr>
          <a:xfrm>
            <a:off x="4434840" y="1207008"/>
            <a:ext cx="3566160" cy="201168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15225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11"/>
          <p:cNvSpPr/>
          <p:nvPr/>
        </p:nvSpPr>
        <p:spPr>
          <a:xfrm>
            <a:off x="4434840" y="2871216"/>
            <a:ext cx="3566160" cy="347472"/>
          </a:xfrm>
          <a:prstGeom prst="rect">
            <a:avLst/>
          </a:prstGeom>
          <a:solidFill>
            <a:srgbClr val="000000">
              <a:alpha val="74901"/>
            </a:srgbClr>
          </a:solidFill>
          <a:ln cap="flat" cmpd="sng" w="12700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11"/>
          <p:cNvSpPr/>
          <p:nvPr/>
        </p:nvSpPr>
        <p:spPr>
          <a:xfrm>
            <a:off x="4544568" y="2971800"/>
            <a:ext cx="3346704" cy="1005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750"/>
              <a:buFont typeface="Arial"/>
              <a:buNone/>
            </a:pPr>
            <a:r>
              <a:rPr b="1" lang="en-US" sz="75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QUICK CUSTOM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wc_battlehud_target.png" id="511" name="Google Shape;511;p11"/>
          <p:cNvPicPr preferRelativeResize="0"/>
          <p:nvPr/>
        </p:nvPicPr>
        <p:blipFill rotWithShape="1">
          <a:blip r:embed="rId5">
            <a:alphaModFix/>
          </a:blip>
          <a:srcRect b="0" l="7790" r="7790" t="0"/>
          <a:stretch/>
        </p:blipFill>
        <p:spPr>
          <a:xfrm>
            <a:off x="8183880" y="1207008"/>
            <a:ext cx="3017520" cy="2011680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11"/>
          <p:cNvSpPr/>
          <p:nvPr/>
        </p:nvSpPr>
        <p:spPr>
          <a:xfrm>
            <a:off x="8183880" y="1207008"/>
            <a:ext cx="3017520" cy="201168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15225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11"/>
          <p:cNvSpPr/>
          <p:nvPr/>
        </p:nvSpPr>
        <p:spPr>
          <a:xfrm>
            <a:off x="8183880" y="2871216"/>
            <a:ext cx="3017520" cy="347472"/>
          </a:xfrm>
          <a:prstGeom prst="rect">
            <a:avLst/>
          </a:prstGeom>
          <a:solidFill>
            <a:srgbClr val="000000">
              <a:alpha val="74901"/>
            </a:srgbClr>
          </a:solidFill>
          <a:ln cap="flat" cmpd="sng" w="12700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11"/>
          <p:cNvSpPr/>
          <p:nvPr/>
        </p:nvSpPr>
        <p:spPr>
          <a:xfrm>
            <a:off x="8293608" y="2971800"/>
            <a:ext cx="2798064" cy="1005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DEB9D"/>
              </a:buClr>
              <a:buSzPts val="750"/>
              <a:buFont typeface="Arial"/>
              <a:buNone/>
            </a:pPr>
            <a:r>
              <a:rPr b="1" lang="en-US" sz="750">
                <a:solidFill>
                  <a:srgbClr val="7DEB9D"/>
                </a:solidFill>
                <a:latin typeface="Arial"/>
                <a:ea typeface="Arial"/>
                <a:cs typeface="Arial"/>
                <a:sym typeface="Arial"/>
              </a:rPr>
              <a:t>BATTLE HUD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11"/>
          <p:cNvSpPr/>
          <p:nvPr/>
        </p:nvSpPr>
        <p:spPr>
          <a:xfrm>
            <a:off x="841248" y="3794760"/>
            <a:ext cx="3246120" cy="310896"/>
          </a:xfrm>
          <a:prstGeom prst="rect">
            <a:avLst/>
          </a:prstGeom>
          <a:solidFill>
            <a:srgbClr val="08151C">
              <a:alpha val="96862"/>
            </a:srgbClr>
          </a:solidFill>
          <a:ln cap="flat" cmpd="sng" w="11425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11"/>
          <p:cNvSpPr/>
          <p:nvPr/>
        </p:nvSpPr>
        <p:spPr>
          <a:xfrm>
            <a:off x="950976" y="3881628"/>
            <a:ext cx="3026664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830"/>
              <a:buFont typeface="Arial"/>
              <a:buNone/>
            </a:pPr>
            <a:r>
              <a:rPr b="1" lang="en-US" sz="83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DARK GRAPHITE HUD PANELS</a:t>
            </a:r>
            <a:endParaRPr sz="83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11"/>
          <p:cNvSpPr/>
          <p:nvPr/>
        </p:nvSpPr>
        <p:spPr>
          <a:xfrm>
            <a:off x="4590288" y="3794760"/>
            <a:ext cx="3246120" cy="310896"/>
          </a:xfrm>
          <a:prstGeom prst="rect">
            <a:avLst/>
          </a:prstGeom>
          <a:solidFill>
            <a:srgbClr val="08151C">
              <a:alpha val="96862"/>
            </a:srgbClr>
          </a:solidFill>
          <a:ln cap="flat" cmpd="sng" w="11425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11"/>
          <p:cNvSpPr/>
          <p:nvPr/>
        </p:nvSpPr>
        <p:spPr>
          <a:xfrm>
            <a:off x="4700016" y="3881628"/>
            <a:ext cx="3026664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830"/>
              <a:buFont typeface="Arial"/>
              <a:buNone/>
            </a:pPr>
            <a:r>
              <a:rPr b="1" lang="en-US" sz="83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CYAN EDGE HIGHLIGHTS</a:t>
            </a:r>
            <a:endParaRPr sz="83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11"/>
          <p:cNvSpPr/>
          <p:nvPr/>
        </p:nvSpPr>
        <p:spPr>
          <a:xfrm>
            <a:off x="8339328" y="3794760"/>
            <a:ext cx="3246120" cy="310896"/>
          </a:xfrm>
          <a:prstGeom prst="rect">
            <a:avLst/>
          </a:prstGeom>
          <a:solidFill>
            <a:srgbClr val="08151C">
              <a:alpha val="96862"/>
            </a:srgbClr>
          </a:solidFill>
          <a:ln cap="flat" cmpd="sng" w="11425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11"/>
          <p:cNvSpPr/>
          <p:nvPr/>
        </p:nvSpPr>
        <p:spPr>
          <a:xfrm>
            <a:off x="8449056" y="3881628"/>
            <a:ext cx="3026664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830"/>
              <a:buFont typeface="Arial"/>
              <a:buNone/>
            </a:pPr>
            <a:r>
              <a:rPr b="1" lang="en-US" sz="83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GOLD CTA / PROGRESSION ACCENTS</a:t>
            </a:r>
            <a:endParaRPr sz="83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11"/>
          <p:cNvSpPr/>
          <p:nvPr/>
        </p:nvSpPr>
        <p:spPr>
          <a:xfrm>
            <a:off x="841248" y="4270248"/>
            <a:ext cx="3246120" cy="310896"/>
          </a:xfrm>
          <a:prstGeom prst="rect">
            <a:avLst/>
          </a:prstGeom>
          <a:solidFill>
            <a:srgbClr val="08151C">
              <a:alpha val="96862"/>
            </a:srgbClr>
          </a:solidFill>
          <a:ln cap="flat" cmpd="sng" w="11425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11"/>
          <p:cNvSpPr/>
          <p:nvPr/>
        </p:nvSpPr>
        <p:spPr>
          <a:xfrm>
            <a:off x="950976" y="4357116"/>
            <a:ext cx="3026664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DEB9D"/>
              </a:buClr>
              <a:buSzPts val="830"/>
              <a:buFont typeface="Arial"/>
              <a:buNone/>
            </a:pPr>
            <a:r>
              <a:rPr b="1" lang="en-US" sz="830">
                <a:solidFill>
                  <a:srgbClr val="7DEB9D"/>
                </a:solidFill>
                <a:latin typeface="Arial"/>
                <a:ea typeface="Arial"/>
                <a:cs typeface="Arial"/>
                <a:sym typeface="Arial"/>
              </a:rPr>
              <a:t>MOBILE-READABLE MILITARY UI</a:t>
            </a:r>
            <a:endParaRPr sz="83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11"/>
          <p:cNvSpPr/>
          <p:nvPr/>
        </p:nvSpPr>
        <p:spPr>
          <a:xfrm>
            <a:off x="4590288" y="4270248"/>
            <a:ext cx="3246120" cy="310896"/>
          </a:xfrm>
          <a:prstGeom prst="rect">
            <a:avLst/>
          </a:prstGeom>
          <a:solidFill>
            <a:srgbClr val="08151C">
              <a:alpha val="96862"/>
            </a:srgbClr>
          </a:solidFill>
          <a:ln cap="flat" cmpd="sng" w="11425">
            <a:solidFill>
              <a:srgbClr val="9A8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11"/>
          <p:cNvSpPr/>
          <p:nvPr/>
        </p:nvSpPr>
        <p:spPr>
          <a:xfrm>
            <a:off x="4700016" y="4357116"/>
            <a:ext cx="3026664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84FF"/>
              </a:buClr>
              <a:buSzPts val="830"/>
              <a:buFont typeface="Arial"/>
              <a:buNone/>
            </a:pPr>
            <a:r>
              <a:rPr b="1" lang="en-US" sz="830">
                <a:solidFill>
                  <a:srgbClr val="9A84FF"/>
                </a:solidFill>
                <a:latin typeface="Arial"/>
                <a:ea typeface="Arial"/>
                <a:cs typeface="Arial"/>
                <a:sym typeface="Arial"/>
              </a:rPr>
              <a:t>PREMIUM 2D ISOMETRIC CONTEXT ART</a:t>
            </a:r>
            <a:endParaRPr sz="83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11"/>
          <p:cNvSpPr/>
          <p:nvPr/>
        </p:nvSpPr>
        <p:spPr>
          <a:xfrm>
            <a:off x="868680" y="5376672"/>
            <a:ext cx="10424160" cy="548640"/>
          </a:xfrm>
          <a:prstGeom prst="rect">
            <a:avLst/>
          </a:prstGeom>
          <a:solidFill>
            <a:srgbClr val="0A18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p11"/>
          <p:cNvSpPr/>
          <p:nvPr/>
        </p:nvSpPr>
        <p:spPr>
          <a:xfrm>
            <a:off x="941832" y="5449824"/>
            <a:ext cx="1027785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550"/>
              <a:buFont typeface="Arial"/>
              <a:buNone/>
            </a:pPr>
            <a:r>
              <a:rPr b="1" lang="en-US" sz="155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The presentation now uses the same dark tactical HUD palette, cyan trims, amber CTAs, and visual-target screenshots.</a:t>
            </a:r>
            <a:endParaRPr sz="15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7" name="Google Shape;527;p11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8" name="Google Shape;528;p11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Sources: VisualLock targets in the WarlineCapture repository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11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A0E"/>
        </a:solidFill>
      </p:bgPr>
    </p:bg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0E"/>
          </a:solidFill>
          <a:ln cap="flat" cmpd="sng" w="12700">
            <a:solidFill>
              <a:srgbClr val="050A0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12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12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target-to-canvas workflow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39" name="Google Shape;539;p12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40" name="Google Shape;540;p12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41" name="Google Shape;541;p12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42" name="Google Shape;542;p12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43" name="Google Shape;543;p12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44" name="Google Shape;544;p12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45" name="Google Shape;545;p12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46" name="Google Shape;546;p12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7" name="Google Shape;547;p12"/>
          <p:cNvSpPr/>
          <p:nvPr/>
        </p:nvSpPr>
        <p:spPr>
          <a:xfrm>
            <a:off x="658368" y="530352"/>
            <a:ext cx="107899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Mockups become production targets</a:t>
            </a:r>
            <a:endParaRPr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wc_quickcustom_target.png" id="548" name="Google Shape;548;p12"/>
          <p:cNvPicPr preferRelativeResize="0"/>
          <p:nvPr/>
        </p:nvPicPr>
        <p:blipFill rotWithShape="1">
          <a:blip r:embed="rId3">
            <a:alphaModFix/>
          </a:blip>
          <a:srcRect b="0" l="125" r="125" t="0"/>
          <a:stretch/>
        </p:blipFill>
        <p:spPr>
          <a:xfrm>
            <a:off x="758952" y="1124712"/>
            <a:ext cx="4343400" cy="2450592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12"/>
          <p:cNvSpPr/>
          <p:nvPr/>
        </p:nvSpPr>
        <p:spPr>
          <a:xfrm>
            <a:off x="758952" y="1124712"/>
            <a:ext cx="4343400" cy="2450592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15225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12"/>
          <p:cNvSpPr/>
          <p:nvPr/>
        </p:nvSpPr>
        <p:spPr>
          <a:xfrm>
            <a:off x="758952" y="3227832"/>
            <a:ext cx="4343400" cy="347472"/>
          </a:xfrm>
          <a:prstGeom prst="rect">
            <a:avLst/>
          </a:prstGeom>
          <a:solidFill>
            <a:srgbClr val="000000">
              <a:alpha val="74901"/>
            </a:srgbClr>
          </a:solidFill>
          <a:ln cap="flat" cmpd="sng" w="12700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12"/>
          <p:cNvSpPr/>
          <p:nvPr/>
        </p:nvSpPr>
        <p:spPr>
          <a:xfrm>
            <a:off x="868680" y="3328416"/>
            <a:ext cx="4123944" cy="1005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750"/>
              <a:buFont typeface="Arial"/>
              <a:buNone/>
            </a:pPr>
            <a:r>
              <a:rPr b="1" lang="en-US" sz="75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APPROVED VISUAL TARGET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2" name="Google Shape;552;p12"/>
          <p:cNvCxnSpPr/>
          <p:nvPr/>
        </p:nvCxnSpPr>
        <p:spPr>
          <a:xfrm>
            <a:off x="5486400" y="2395728"/>
            <a:ext cx="502920" cy="0"/>
          </a:xfrm>
          <a:prstGeom prst="straightConnector1">
            <a:avLst/>
          </a:prstGeom>
          <a:noFill/>
          <a:ln cap="flat" cmpd="sng" w="12700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53" name="Google Shape;553;p12"/>
          <p:cNvCxnSpPr/>
          <p:nvPr/>
        </p:nvCxnSpPr>
        <p:spPr>
          <a:xfrm>
            <a:off x="7406640" y="2395728"/>
            <a:ext cx="502920" cy="0"/>
          </a:xfrm>
          <a:prstGeom prst="straightConnector1">
            <a:avLst/>
          </a:prstGeom>
          <a:noFill/>
          <a:ln cap="flat" cmpd="sng" w="12700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54" name="Google Shape;554;p12"/>
          <p:cNvCxnSpPr/>
          <p:nvPr/>
        </p:nvCxnSpPr>
        <p:spPr>
          <a:xfrm>
            <a:off x="9326880" y="2395728"/>
            <a:ext cx="502920" cy="0"/>
          </a:xfrm>
          <a:prstGeom prst="straightConnector1">
            <a:avLst/>
          </a:prstGeom>
          <a:noFill/>
          <a:ln cap="flat" cmpd="sng" w="12700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55" name="Google Shape;555;p12"/>
          <p:cNvSpPr/>
          <p:nvPr/>
        </p:nvSpPr>
        <p:spPr>
          <a:xfrm>
            <a:off x="5989320" y="1920240"/>
            <a:ext cx="1417320" cy="868680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6" name="Google Shape;556;p12"/>
          <p:cNvCxnSpPr/>
          <p:nvPr/>
        </p:nvCxnSpPr>
        <p:spPr>
          <a:xfrm>
            <a:off x="6062472" y="199339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57" name="Google Shape;557;p12"/>
          <p:cNvCxnSpPr/>
          <p:nvPr/>
        </p:nvCxnSpPr>
        <p:spPr>
          <a:xfrm>
            <a:off x="7077456" y="2715768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58" name="Google Shape;558;p12"/>
          <p:cNvSpPr/>
          <p:nvPr/>
        </p:nvSpPr>
        <p:spPr>
          <a:xfrm>
            <a:off x="6062472" y="1993392"/>
            <a:ext cx="1271016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Layer pack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frames • icons • text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12"/>
          <p:cNvSpPr/>
          <p:nvPr/>
        </p:nvSpPr>
        <p:spPr>
          <a:xfrm>
            <a:off x="7909560" y="1920240"/>
            <a:ext cx="1417320" cy="868680"/>
          </a:xfrm>
          <a:prstGeom prst="rect">
            <a:avLst/>
          </a:prstGeom>
          <a:solidFill>
            <a:srgbClr val="0D2117">
              <a:alpha val="96078"/>
            </a:srgbClr>
          </a:solidFill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0" name="Google Shape;560;p12"/>
          <p:cNvCxnSpPr/>
          <p:nvPr/>
        </p:nvCxnSpPr>
        <p:spPr>
          <a:xfrm>
            <a:off x="7982712" y="199339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61" name="Google Shape;561;p12"/>
          <p:cNvCxnSpPr/>
          <p:nvPr/>
        </p:nvCxnSpPr>
        <p:spPr>
          <a:xfrm>
            <a:off x="8997696" y="2715768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2" name="Google Shape;562;p12"/>
          <p:cNvSpPr/>
          <p:nvPr/>
        </p:nvSpPr>
        <p:spPr>
          <a:xfrm>
            <a:off x="7982712" y="1993392"/>
            <a:ext cx="1271016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Real Unity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Canvas hierarchy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12"/>
          <p:cNvSpPr/>
          <p:nvPr/>
        </p:nvSpPr>
        <p:spPr>
          <a:xfrm>
            <a:off x="9829800" y="1920240"/>
            <a:ext cx="1417320" cy="868680"/>
          </a:xfrm>
          <a:prstGeom prst="rect">
            <a:avLst/>
          </a:prstGeom>
          <a:solidFill>
            <a:srgbClr val="1A1306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4" name="Google Shape;564;p12"/>
          <p:cNvCxnSpPr/>
          <p:nvPr/>
        </p:nvCxnSpPr>
        <p:spPr>
          <a:xfrm>
            <a:off x="9902952" y="199339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65" name="Google Shape;565;p12"/>
          <p:cNvCxnSpPr/>
          <p:nvPr/>
        </p:nvCxnSpPr>
        <p:spPr>
          <a:xfrm>
            <a:off x="10917936" y="2715768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6" name="Google Shape;566;p12"/>
          <p:cNvSpPr/>
          <p:nvPr/>
        </p:nvSpPr>
        <p:spPr>
          <a:xfrm>
            <a:off x="9902952" y="1993392"/>
            <a:ext cx="1271016" cy="72237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Runtime route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+ data wiring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12"/>
          <p:cNvSpPr/>
          <p:nvPr/>
        </p:nvSpPr>
        <p:spPr>
          <a:xfrm>
            <a:off x="5715000" y="3429000"/>
            <a:ext cx="57150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420"/>
              <a:buFont typeface="Arial"/>
              <a:buNone/>
            </a:pPr>
            <a:r>
              <a:rPr lang="en-US" sz="14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Core rule: the mockup is a comparison target, not the final shipped UI. Production screens must be decomposed into real responsive layout, panels, sprites, icons, TMP text, controls, states, and safe-area behavior.</a:t>
            </a:r>
            <a:endParaRPr sz="14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12"/>
          <p:cNvSpPr/>
          <p:nvPr/>
        </p:nvSpPr>
        <p:spPr>
          <a:xfrm>
            <a:off x="868680" y="5376672"/>
            <a:ext cx="10424160" cy="548640"/>
          </a:xfrm>
          <a:prstGeom prst="rect">
            <a:avLst/>
          </a:prstGeom>
          <a:solidFill>
            <a:srgbClr val="0A18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12"/>
          <p:cNvSpPr/>
          <p:nvPr/>
        </p:nvSpPr>
        <p:spPr>
          <a:xfrm>
            <a:off x="941832" y="5449824"/>
            <a:ext cx="1027785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550"/>
              <a:buFont typeface="Arial"/>
              <a:buNone/>
            </a:pPr>
            <a:r>
              <a:rPr b="1" lang="en-US" sz="155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Work proceeds screen-by-screen: target → canvas → route/runtime → capture comparison → tests → optimization.</a:t>
            </a:r>
            <a:endParaRPr sz="15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0" name="Google Shape;570;p12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1" name="Google Shape;571;p12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Source: WarlineCapture_UIUX_Mockup_To_Canvas_Conversion_Plan.md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12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A0E"/>
        </a:solidFill>
      </p:bgPr>
    </p:bg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0E"/>
          </a:solidFill>
          <a:ln cap="flat" cmpd="sng" w="12700">
            <a:solidFill>
              <a:srgbClr val="050A0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13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13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human-like inspection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2" name="Google Shape;582;p13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83" name="Google Shape;583;p13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84" name="Google Shape;584;p13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85" name="Google Shape;585;p13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86" name="Google Shape;586;p13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87" name="Google Shape;587;p13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88" name="Google Shape;588;p13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89" name="Google Shape;589;p13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90" name="Google Shape;590;p13"/>
          <p:cNvSpPr/>
          <p:nvPr/>
        </p:nvSpPr>
        <p:spPr>
          <a:xfrm>
            <a:off x="658368" y="530352"/>
            <a:ext cx="107899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Visual QA loop: mockup vs in-game result</a:t>
            </a:r>
            <a:endParaRPr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wc_mainmenu_target.png" id="591" name="Google Shape;591;p13"/>
          <p:cNvPicPr preferRelativeResize="0"/>
          <p:nvPr/>
        </p:nvPicPr>
        <p:blipFill rotWithShape="1">
          <a:blip r:embed="rId3">
            <a:alphaModFix/>
          </a:blip>
          <a:srcRect b="531" l="0" r="0" t="531"/>
          <a:stretch/>
        </p:blipFill>
        <p:spPr>
          <a:xfrm>
            <a:off x="685800" y="1170432"/>
            <a:ext cx="4023360" cy="2240280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13"/>
          <p:cNvSpPr/>
          <p:nvPr/>
        </p:nvSpPr>
        <p:spPr>
          <a:xfrm>
            <a:off x="685800" y="1170432"/>
            <a:ext cx="4023360" cy="224028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15225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13"/>
          <p:cNvSpPr/>
          <p:nvPr/>
        </p:nvSpPr>
        <p:spPr>
          <a:xfrm>
            <a:off x="685800" y="3063240"/>
            <a:ext cx="4023360" cy="347472"/>
          </a:xfrm>
          <a:prstGeom prst="rect">
            <a:avLst/>
          </a:prstGeom>
          <a:solidFill>
            <a:srgbClr val="000000">
              <a:alpha val="74901"/>
            </a:srgbClr>
          </a:solidFill>
          <a:ln cap="flat" cmpd="sng" w="12700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p13"/>
          <p:cNvSpPr/>
          <p:nvPr/>
        </p:nvSpPr>
        <p:spPr>
          <a:xfrm>
            <a:off x="795528" y="3163824"/>
            <a:ext cx="3803904" cy="1005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750"/>
              <a:buFont typeface="Arial"/>
              <a:buNone/>
            </a:pPr>
            <a:r>
              <a:rPr b="1" lang="en-US" sz="75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APPROVED TARGET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wc_progress_tracker.png" id="595" name="Google Shape;595;p13"/>
          <p:cNvPicPr preferRelativeResize="0"/>
          <p:nvPr/>
        </p:nvPicPr>
        <p:blipFill rotWithShape="1">
          <a:blip r:embed="rId4">
            <a:alphaModFix/>
          </a:blip>
          <a:srcRect b="505" l="0" r="0" t="505"/>
          <a:stretch/>
        </p:blipFill>
        <p:spPr>
          <a:xfrm>
            <a:off x="7406640" y="1170432"/>
            <a:ext cx="4023360" cy="2240280"/>
          </a:xfrm>
          <a:prstGeom prst="rect">
            <a:avLst/>
          </a:prstGeom>
          <a:noFill/>
          <a:ln>
            <a:noFill/>
          </a:ln>
        </p:spPr>
      </p:pic>
      <p:sp>
        <p:nvSpPr>
          <p:cNvPr id="596" name="Google Shape;596;p13"/>
          <p:cNvSpPr/>
          <p:nvPr/>
        </p:nvSpPr>
        <p:spPr>
          <a:xfrm>
            <a:off x="7406640" y="1170432"/>
            <a:ext cx="4023360" cy="224028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15225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p13"/>
          <p:cNvSpPr/>
          <p:nvPr/>
        </p:nvSpPr>
        <p:spPr>
          <a:xfrm>
            <a:off x="7406640" y="3063240"/>
            <a:ext cx="4023360" cy="347472"/>
          </a:xfrm>
          <a:prstGeom prst="rect">
            <a:avLst/>
          </a:prstGeom>
          <a:solidFill>
            <a:srgbClr val="000000">
              <a:alpha val="74901"/>
            </a:srgbClr>
          </a:solidFill>
          <a:ln cap="flat" cmpd="sng" w="12700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p13"/>
          <p:cNvSpPr/>
          <p:nvPr/>
        </p:nvSpPr>
        <p:spPr>
          <a:xfrm>
            <a:off x="7516368" y="3163824"/>
            <a:ext cx="3803904" cy="1005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DEB9D"/>
              </a:buClr>
              <a:buSzPts val="750"/>
              <a:buFont typeface="Arial"/>
              <a:buNone/>
            </a:pPr>
            <a:r>
              <a:rPr b="1" lang="en-US" sz="750">
                <a:solidFill>
                  <a:srgbClr val="7DEB9D"/>
                </a:solidFill>
                <a:latin typeface="Arial"/>
                <a:ea typeface="Arial"/>
                <a:cs typeface="Arial"/>
                <a:sym typeface="Arial"/>
              </a:rPr>
              <a:t>RUNTIME PROOF / CAPTURE CONTEXT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99" name="Google Shape;599;p13"/>
          <p:cNvCxnSpPr/>
          <p:nvPr/>
        </p:nvCxnSpPr>
        <p:spPr>
          <a:xfrm>
            <a:off x="4892040" y="2286000"/>
            <a:ext cx="594360" cy="0"/>
          </a:xfrm>
          <a:prstGeom prst="straightConnector1">
            <a:avLst/>
          </a:prstGeom>
          <a:noFill/>
          <a:ln cap="flat" cmpd="sng" w="12700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00" name="Google Shape;600;p13"/>
          <p:cNvCxnSpPr/>
          <p:nvPr/>
        </p:nvCxnSpPr>
        <p:spPr>
          <a:xfrm>
            <a:off x="6565392" y="2286000"/>
            <a:ext cx="676656" cy="0"/>
          </a:xfrm>
          <a:prstGeom prst="straightConnector1">
            <a:avLst/>
          </a:prstGeom>
          <a:noFill/>
          <a:ln cap="flat" cmpd="sng" w="12700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601" name="Google Shape;601;p13"/>
          <p:cNvSpPr/>
          <p:nvPr/>
        </p:nvSpPr>
        <p:spPr>
          <a:xfrm>
            <a:off x="5440680" y="1828800"/>
            <a:ext cx="1298448" cy="841248"/>
          </a:xfrm>
          <a:prstGeom prst="rect">
            <a:avLst/>
          </a:prstGeom>
          <a:solidFill>
            <a:srgbClr val="111026">
              <a:alpha val="96078"/>
            </a:srgbClr>
          </a:solidFill>
          <a:ln cap="flat" cmpd="sng" w="12700">
            <a:solidFill>
              <a:srgbClr val="9A84F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2" name="Google Shape;602;p13"/>
          <p:cNvCxnSpPr/>
          <p:nvPr/>
        </p:nvCxnSpPr>
        <p:spPr>
          <a:xfrm>
            <a:off x="5513832" y="190195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9A84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3" name="Google Shape;603;p13"/>
          <p:cNvCxnSpPr/>
          <p:nvPr/>
        </p:nvCxnSpPr>
        <p:spPr>
          <a:xfrm>
            <a:off x="6409944" y="259689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9A84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4" name="Google Shape;604;p13"/>
          <p:cNvSpPr/>
          <p:nvPr/>
        </p:nvSpPr>
        <p:spPr>
          <a:xfrm>
            <a:off x="5513832" y="1901952"/>
            <a:ext cx="1152144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AI visual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comparison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3"/>
          <p:cNvSpPr/>
          <p:nvPr/>
        </p:nvSpPr>
        <p:spPr>
          <a:xfrm>
            <a:off x="3840480" y="3977640"/>
            <a:ext cx="4526280" cy="713232"/>
          </a:xfrm>
          <a:prstGeom prst="rect">
            <a:avLst/>
          </a:prstGeom>
          <a:solidFill>
            <a:srgbClr val="1A1306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3"/>
          <p:cNvSpPr/>
          <p:nvPr/>
        </p:nvSpPr>
        <p:spPr>
          <a:xfrm>
            <a:off x="3913632" y="4050792"/>
            <a:ext cx="4379976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600"/>
              <a:buFont typeface="Arial"/>
              <a:buNone/>
            </a:pPr>
            <a:r>
              <a:rPr b="1" lang="en-US" sz="160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Mismatch report</a:t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600"/>
              <a:buFont typeface="Arial"/>
              <a:buNone/>
            </a:pPr>
            <a:r>
              <a:rPr b="1" lang="en-US" sz="160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+ targeted fixes</a:t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3"/>
          <p:cNvCxnSpPr/>
          <p:nvPr/>
        </p:nvCxnSpPr>
        <p:spPr>
          <a:xfrm flipH="1">
            <a:off x="6080760" y="3456432"/>
            <a:ext cx="1344168" cy="50292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608" name="Google Shape;608;p13"/>
          <p:cNvSpPr/>
          <p:nvPr/>
        </p:nvSpPr>
        <p:spPr>
          <a:xfrm>
            <a:off x="1051560" y="4983480"/>
            <a:ext cx="100584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20"/>
              <a:buFont typeface="Arial"/>
              <a:buNone/>
            </a:pPr>
            <a:r>
              <a:rPr lang="en-US" sz="12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AI evaluates layout, spacing, scale, color direction, readability, and style consistency.</a:t>
            </a:r>
            <a:br>
              <a:rPr lang="en-US" sz="12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It gives an honest opinion instead of only claiming completion.</a:t>
            </a:r>
            <a:br>
              <a:rPr lang="en-US" sz="12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Developer/UI/Artist lanes iterate until the Unity result matches the approved target.</a:t>
            </a:r>
            <a:br>
              <a:rPr lang="en-US" sz="12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Human approval remains the final authority for visuals and milestone completion.</a:t>
            </a:r>
            <a:br>
              <a:rPr lang="en-US" sz="12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endParaRPr sz="12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9" name="Google Shape;609;p13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0" name="Google Shape;610;p13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13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A0E"/>
        </a:solidFill>
      </p:bgPr>
    </p:bg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0E"/>
          </a:solidFill>
          <a:ln cap="flat" cmpd="sng" w="12700">
            <a:solidFill>
              <a:srgbClr val="050A0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1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14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14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engineering engine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21" name="Google Shape;621;p14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2" name="Google Shape;622;p14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4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4" name="Google Shape;624;p14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5" name="Google Shape;625;p14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4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4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4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9" name="Google Shape;629;p14"/>
          <p:cNvSpPr/>
          <p:nvPr/>
        </p:nvSpPr>
        <p:spPr>
          <a:xfrm>
            <a:off x="658368" y="530352"/>
            <a:ext cx="107899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Development loop: implement, test, validate</a:t>
            </a:r>
            <a:endParaRPr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0" name="Google Shape;630;p14"/>
          <p:cNvCxnSpPr/>
          <p:nvPr/>
        </p:nvCxnSpPr>
        <p:spPr>
          <a:xfrm>
            <a:off x="2029968" y="2240280"/>
            <a:ext cx="292608" cy="0"/>
          </a:xfrm>
          <a:prstGeom prst="straightConnector1">
            <a:avLst/>
          </a:prstGeom>
          <a:noFill/>
          <a:ln cap="flat" cmpd="sng" w="11425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31" name="Google Shape;631;p14"/>
          <p:cNvCxnSpPr/>
          <p:nvPr/>
        </p:nvCxnSpPr>
        <p:spPr>
          <a:xfrm>
            <a:off x="3694176" y="2240280"/>
            <a:ext cx="292608" cy="0"/>
          </a:xfrm>
          <a:prstGeom prst="straightConnector1">
            <a:avLst/>
          </a:prstGeom>
          <a:noFill/>
          <a:ln cap="flat" cmpd="sng" w="11425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32" name="Google Shape;632;p14"/>
          <p:cNvCxnSpPr/>
          <p:nvPr/>
        </p:nvCxnSpPr>
        <p:spPr>
          <a:xfrm>
            <a:off x="5358384" y="2240280"/>
            <a:ext cx="292608" cy="0"/>
          </a:xfrm>
          <a:prstGeom prst="straightConnector1">
            <a:avLst/>
          </a:prstGeom>
          <a:noFill/>
          <a:ln cap="flat" cmpd="sng" w="11425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33" name="Google Shape;633;p14"/>
          <p:cNvCxnSpPr/>
          <p:nvPr/>
        </p:nvCxnSpPr>
        <p:spPr>
          <a:xfrm>
            <a:off x="7022592" y="2240280"/>
            <a:ext cx="292608" cy="0"/>
          </a:xfrm>
          <a:prstGeom prst="straightConnector1">
            <a:avLst/>
          </a:prstGeom>
          <a:noFill/>
          <a:ln cap="flat" cmpd="sng" w="11425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34" name="Google Shape;634;p14"/>
          <p:cNvCxnSpPr/>
          <p:nvPr/>
        </p:nvCxnSpPr>
        <p:spPr>
          <a:xfrm>
            <a:off x="8686800" y="2240280"/>
            <a:ext cx="292608" cy="0"/>
          </a:xfrm>
          <a:prstGeom prst="straightConnector1">
            <a:avLst/>
          </a:prstGeom>
          <a:noFill/>
          <a:ln cap="flat" cmpd="sng" w="11425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35" name="Google Shape;635;p14"/>
          <p:cNvCxnSpPr/>
          <p:nvPr/>
        </p:nvCxnSpPr>
        <p:spPr>
          <a:xfrm>
            <a:off x="10351008" y="2240280"/>
            <a:ext cx="292608" cy="0"/>
          </a:xfrm>
          <a:prstGeom prst="straightConnector1">
            <a:avLst/>
          </a:prstGeom>
          <a:noFill/>
          <a:ln cap="flat" cmpd="sng" w="11425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636" name="Google Shape;636;p14"/>
          <p:cNvSpPr/>
          <p:nvPr/>
        </p:nvSpPr>
        <p:spPr>
          <a:xfrm>
            <a:off x="566928" y="1874520"/>
            <a:ext cx="1298448" cy="74980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7" name="Google Shape;637;p14"/>
          <p:cNvCxnSpPr/>
          <p:nvPr/>
        </p:nvCxnSpPr>
        <p:spPr>
          <a:xfrm>
            <a:off x="640080" y="194767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8" name="Google Shape;638;p14"/>
          <p:cNvCxnSpPr/>
          <p:nvPr/>
        </p:nvCxnSpPr>
        <p:spPr>
          <a:xfrm>
            <a:off x="1536192" y="255117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9" name="Google Shape;639;p14"/>
          <p:cNvSpPr/>
          <p:nvPr/>
        </p:nvSpPr>
        <p:spPr>
          <a:xfrm>
            <a:off x="640080" y="1947672"/>
            <a:ext cx="115214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20"/>
              <a:buFont typeface="Arial"/>
              <a:buNone/>
            </a:pPr>
            <a:r>
              <a:rPr b="1" lang="en-US" sz="10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Spec</a:t>
            </a:r>
            <a:endParaRPr sz="10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20"/>
              <a:buFont typeface="Arial"/>
              <a:buNone/>
            </a:pPr>
            <a:r>
              <a:rPr b="1" lang="en-US" sz="10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selected</a:t>
            </a:r>
            <a:endParaRPr sz="10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14"/>
          <p:cNvSpPr/>
          <p:nvPr/>
        </p:nvSpPr>
        <p:spPr>
          <a:xfrm>
            <a:off x="2231136" y="1874520"/>
            <a:ext cx="1298448" cy="74980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1" name="Google Shape;641;p14"/>
          <p:cNvCxnSpPr/>
          <p:nvPr/>
        </p:nvCxnSpPr>
        <p:spPr>
          <a:xfrm>
            <a:off x="2304288" y="194767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4"/>
          <p:cNvCxnSpPr/>
          <p:nvPr/>
        </p:nvCxnSpPr>
        <p:spPr>
          <a:xfrm>
            <a:off x="3200400" y="255117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3" name="Google Shape;643;p14"/>
          <p:cNvSpPr/>
          <p:nvPr/>
        </p:nvSpPr>
        <p:spPr>
          <a:xfrm>
            <a:off x="2304288" y="1947672"/>
            <a:ext cx="115214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20"/>
              <a:buFont typeface="Arial"/>
              <a:buNone/>
            </a:pPr>
            <a:r>
              <a:rPr b="1" lang="en-US" sz="10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Codex</a:t>
            </a:r>
            <a:endParaRPr sz="10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20"/>
              <a:buFont typeface="Arial"/>
              <a:buNone/>
            </a:pPr>
            <a:r>
              <a:rPr b="1" lang="en-US" sz="10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implements</a:t>
            </a:r>
            <a:endParaRPr sz="10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14"/>
          <p:cNvSpPr/>
          <p:nvPr/>
        </p:nvSpPr>
        <p:spPr>
          <a:xfrm>
            <a:off x="3895344" y="1874520"/>
            <a:ext cx="1298448" cy="74980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5" name="Google Shape;645;p14"/>
          <p:cNvCxnSpPr/>
          <p:nvPr/>
        </p:nvCxnSpPr>
        <p:spPr>
          <a:xfrm>
            <a:off x="3968496" y="194767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4"/>
          <p:cNvCxnSpPr/>
          <p:nvPr/>
        </p:nvCxnSpPr>
        <p:spPr>
          <a:xfrm>
            <a:off x="4864608" y="255117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7" name="Google Shape;647;p14"/>
          <p:cNvSpPr/>
          <p:nvPr/>
        </p:nvSpPr>
        <p:spPr>
          <a:xfrm>
            <a:off x="3968496" y="1947672"/>
            <a:ext cx="115214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20"/>
              <a:buFont typeface="Arial"/>
              <a:buNone/>
            </a:pPr>
            <a:r>
              <a:rPr b="1" lang="en-US" sz="10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Code tests</a:t>
            </a:r>
            <a:endParaRPr sz="10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20"/>
              <a:buFont typeface="Arial"/>
              <a:buNone/>
            </a:pPr>
            <a:r>
              <a:rPr b="1" lang="en-US" sz="10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logic + regressions</a:t>
            </a:r>
            <a:endParaRPr sz="10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14"/>
          <p:cNvSpPr/>
          <p:nvPr/>
        </p:nvSpPr>
        <p:spPr>
          <a:xfrm>
            <a:off x="5559552" y="1874520"/>
            <a:ext cx="1298448" cy="74980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9" name="Google Shape;649;p14"/>
          <p:cNvCxnSpPr/>
          <p:nvPr/>
        </p:nvCxnSpPr>
        <p:spPr>
          <a:xfrm>
            <a:off x="5632704" y="194767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4"/>
          <p:cNvCxnSpPr/>
          <p:nvPr/>
        </p:nvCxnSpPr>
        <p:spPr>
          <a:xfrm>
            <a:off x="6528816" y="255117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1" name="Google Shape;651;p14"/>
          <p:cNvSpPr/>
          <p:nvPr/>
        </p:nvSpPr>
        <p:spPr>
          <a:xfrm>
            <a:off x="5632704" y="1947672"/>
            <a:ext cx="115214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20"/>
              <a:buFont typeface="Arial"/>
              <a:buNone/>
            </a:pPr>
            <a:r>
              <a:rPr b="1" lang="en-US" sz="10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Unity Play Mode</a:t>
            </a:r>
            <a:endParaRPr sz="10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20"/>
              <a:buFont typeface="Arial"/>
              <a:buNone/>
            </a:pPr>
            <a:r>
              <a:rPr b="1" lang="en-US" sz="10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runtime behavior</a:t>
            </a:r>
            <a:endParaRPr sz="10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14"/>
          <p:cNvSpPr/>
          <p:nvPr/>
        </p:nvSpPr>
        <p:spPr>
          <a:xfrm>
            <a:off x="7223760" y="1874520"/>
            <a:ext cx="1298448" cy="74980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53" name="Google Shape;653;p14"/>
          <p:cNvCxnSpPr/>
          <p:nvPr/>
        </p:nvCxnSpPr>
        <p:spPr>
          <a:xfrm>
            <a:off x="7296912" y="194767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4" name="Google Shape;654;p14"/>
          <p:cNvCxnSpPr/>
          <p:nvPr/>
        </p:nvCxnSpPr>
        <p:spPr>
          <a:xfrm>
            <a:off x="8193024" y="255117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5" name="Google Shape;655;p14"/>
          <p:cNvSpPr/>
          <p:nvPr/>
        </p:nvSpPr>
        <p:spPr>
          <a:xfrm>
            <a:off x="7296912" y="1947672"/>
            <a:ext cx="115214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20"/>
              <a:buFont typeface="Arial"/>
              <a:buNone/>
            </a:pPr>
            <a:r>
              <a:rPr b="1" lang="en-US" sz="10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Visual capture</a:t>
            </a:r>
            <a:endParaRPr sz="10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20"/>
              <a:buFont typeface="Arial"/>
              <a:buNone/>
            </a:pPr>
            <a:r>
              <a:rPr b="1" lang="en-US" sz="10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mockup comparison</a:t>
            </a:r>
            <a:endParaRPr sz="10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14"/>
          <p:cNvSpPr/>
          <p:nvPr/>
        </p:nvSpPr>
        <p:spPr>
          <a:xfrm>
            <a:off x="8887968" y="1874520"/>
            <a:ext cx="1298448" cy="74980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57" name="Google Shape;657;p14"/>
          <p:cNvCxnSpPr/>
          <p:nvPr/>
        </p:nvCxnSpPr>
        <p:spPr>
          <a:xfrm>
            <a:off x="8961120" y="194767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8" name="Google Shape;658;p14"/>
          <p:cNvCxnSpPr/>
          <p:nvPr/>
        </p:nvCxnSpPr>
        <p:spPr>
          <a:xfrm>
            <a:off x="9857232" y="255117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9" name="Google Shape;659;p14"/>
          <p:cNvSpPr/>
          <p:nvPr/>
        </p:nvSpPr>
        <p:spPr>
          <a:xfrm>
            <a:off x="8961120" y="1947672"/>
            <a:ext cx="115214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20"/>
              <a:buFont typeface="Arial"/>
              <a:buNone/>
            </a:pPr>
            <a:r>
              <a:rPr b="1" lang="en-US" sz="10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QA report</a:t>
            </a:r>
            <a:endParaRPr sz="10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20"/>
              <a:buFont typeface="Arial"/>
              <a:buNone/>
            </a:pPr>
            <a:r>
              <a:rPr b="1" lang="en-US" sz="10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pass / fail / blocked</a:t>
            </a:r>
            <a:endParaRPr sz="10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p14"/>
          <p:cNvSpPr/>
          <p:nvPr/>
        </p:nvSpPr>
        <p:spPr>
          <a:xfrm>
            <a:off x="10552176" y="1874520"/>
            <a:ext cx="1298448" cy="74980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61" name="Google Shape;661;p14"/>
          <p:cNvCxnSpPr/>
          <p:nvPr/>
        </p:nvCxnSpPr>
        <p:spPr>
          <a:xfrm>
            <a:off x="10625328" y="194767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4"/>
          <p:cNvCxnSpPr/>
          <p:nvPr/>
        </p:nvCxnSpPr>
        <p:spPr>
          <a:xfrm>
            <a:off x="11521440" y="255117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4"/>
          <p:cNvSpPr/>
          <p:nvPr/>
        </p:nvSpPr>
        <p:spPr>
          <a:xfrm>
            <a:off x="10625328" y="1947672"/>
            <a:ext cx="115214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20"/>
              <a:buFont typeface="Arial"/>
              <a:buNone/>
            </a:pPr>
            <a:r>
              <a:rPr b="1" lang="en-US" sz="10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Build</a:t>
            </a:r>
            <a:endParaRPr sz="10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20"/>
              <a:buFont typeface="Arial"/>
              <a:buNone/>
            </a:pPr>
            <a:r>
              <a:rPr b="1" lang="en-US" sz="10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artifact</a:t>
            </a:r>
            <a:endParaRPr sz="10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4"/>
          <p:cNvSpPr/>
          <p:nvPr/>
        </p:nvSpPr>
        <p:spPr>
          <a:xfrm>
            <a:off x="841248" y="3383280"/>
            <a:ext cx="2011680" cy="502920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14"/>
          <p:cNvSpPr/>
          <p:nvPr/>
        </p:nvSpPr>
        <p:spPr>
          <a:xfrm>
            <a:off x="914400" y="3456432"/>
            <a:ext cx="1865376" cy="356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Two-level testing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14"/>
          <p:cNvSpPr/>
          <p:nvPr/>
        </p:nvSpPr>
        <p:spPr>
          <a:xfrm>
            <a:off x="3108960" y="3218688"/>
            <a:ext cx="3383280" cy="84124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67" name="Google Shape;667;p14"/>
          <p:cNvCxnSpPr/>
          <p:nvPr/>
        </p:nvCxnSpPr>
        <p:spPr>
          <a:xfrm>
            <a:off x="3182112" y="329184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8" name="Google Shape;668;p14"/>
          <p:cNvCxnSpPr/>
          <p:nvPr/>
        </p:nvCxnSpPr>
        <p:spPr>
          <a:xfrm>
            <a:off x="6163056" y="3986784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9" name="Google Shape;669;p14"/>
          <p:cNvSpPr/>
          <p:nvPr/>
        </p:nvSpPr>
        <p:spPr>
          <a:xfrm>
            <a:off x="3182112" y="3291840"/>
            <a:ext cx="3236976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Code tests</a:t>
            </a:r>
            <a:endParaRPr sz="1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unit behavior • data sanity • integration • regressions</a:t>
            </a:r>
            <a:endParaRPr sz="1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14"/>
          <p:cNvSpPr/>
          <p:nvPr/>
        </p:nvSpPr>
        <p:spPr>
          <a:xfrm>
            <a:off x="6903720" y="3218688"/>
            <a:ext cx="4069080" cy="84124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1" name="Google Shape;671;p14"/>
          <p:cNvCxnSpPr/>
          <p:nvPr/>
        </p:nvCxnSpPr>
        <p:spPr>
          <a:xfrm>
            <a:off x="6976872" y="329184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2" name="Google Shape;672;p14"/>
          <p:cNvCxnSpPr/>
          <p:nvPr/>
        </p:nvCxnSpPr>
        <p:spPr>
          <a:xfrm>
            <a:off x="10643616" y="3986784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3" name="Google Shape;673;p14"/>
          <p:cNvSpPr/>
          <p:nvPr/>
        </p:nvSpPr>
        <p:spPr>
          <a:xfrm>
            <a:off x="6976872" y="3291840"/>
            <a:ext cx="3922776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Unity Play Mode tests</a:t>
            </a:r>
            <a:endParaRPr sz="1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scene interaction • UI behavior • runtime errors • player-facing flow</a:t>
            </a:r>
            <a:endParaRPr sz="1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14"/>
          <p:cNvSpPr/>
          <p:nvPr/>
        </p:nvSpPr>
        <p:spPr>
          <a:xfrm>
            <a:off x="868680" y="5376672"/>
            <a:ext cx="10424160" cy="548640"/>
          </a:xfrm>
          <a:prstGeom prst="rect">
            <a:avLst/>
          </a:prstGeom>
          <a:solidFill>
            <a:srgbClr val="0A18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14"/>
          <p:cNvSpPr/>
          <p:nvPr/>
        </p:nvSpPr>
        <p:spPr>
          <a:xfrm>
            <a:off x="941832" y="5449824"/>
            <a:ext cx="1027785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550"/>
              <a:buFont typeface="Arial"/>
              <a:buNone/>
            </a:pPr>
            <a:r>
              <a:rPr b="1" lang="en-US" sz="155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For games, code correctness is not enough: the engine must run, the scene must behave, and the result must match the target.</a:t>
            </a:r>
            <a:endParaRPr sz="15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6" name="Google Shape;676;p14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7" name="Google Shape;677;p14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14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A0E"/>
        </a:solidFill>
      </p:bgPr>
    </p:bg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0E"/>
          </a:solidFill>
          <a:ln cap="flat" cmpd="sng" w="12700">
            <a:solidFill>
              <a:srgbClr val="050A0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15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15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15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tool fit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88" name="Google Shape;688;p15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9" name="Google Shape;689;p15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0" name="Google Shape;690;p15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5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2" name="Google Shape;692;p15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3" name="Google Shape;693;p15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4" name="Google Shape;694;p15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5" name="Google Shape;695;p15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6" name="Google Shape;696;p15"/>
          <p:cNvSpPr/>
          <p:nvPr/>
        </p:nvSpPr>
        <p:spPr>
          <a:xfrm>
            <a:off x="658368" y="530352"/>
            <a:ext cx="107899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Codex as the engineering execution layer</a:t>
            </a:r>
            <a:endParaRPr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wc_operationdashboard_target.png" id="697" name="Google Shape;697;p15"/>
          <p:cNvPicPr preferRelativeResize="0"/>
          <p:nvPr/>
        </p:nvPicPr>
        <p:blipFill rotWithShape="1">
          <a:blip r:embed="rId3">
            <a:alphaModFix/>
          </a:blip>
          <a:srcRect b="97" l="0" r="0" t="97"/>
          <a:stretch/>
        </p:blipFill>
        <p:spPr>
          <a:xfrm>
            <a:off x="6995160" y="1170432"/>
            <a:ext cx="4297680" cy="2414016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15"/>
          <p:cNvSpPr/>
          <p:nvPr/>
        </p:nvSpPr>
        <p:spPr>
          <a:xfrm>
            <a:off x="6995160" y="1170432"/>
            <a:ext cx="4297680" cy="2414016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15225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15"/>
          <p:cNvSpPr/>
          <p:nvPr/>
        </p:nvSpPr>
        <p:spPr>
          <a:xfrm>
            <a:off x="6995160" y="3236976"/>
            <a:ext cx="4297680" cy="347472"/>
          </a:xfrm>
          <a:prstGeom prst="rect">
            <a:avLst/>
          </a:prstGeom>
          <a:solidFill>
            <a:srgbClr val="000000">
              <a:alpha val="74901"/>
            </a:srgbClr>
          </a:solidFill>
          <a:ln cap="flat" cmpd="sng" w="12700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15"/>
          <p:cNvSpPr/>
          <p:nvPr/>
        </p:nvSpPr>
        <p:spPr>
          <a:xfrm>
            <a:off x="7104888" y="3337560"/>
            <a:ext cx="4078224" cy="1005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750"/>
              <a:buFont typeface="Arial"/>
              <a:buNone/>
            </a:pPr>
            <a:r>
              <a:rPr b="1" lang="en-US" sz="75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OPERATION DASHBOARD CONTEXT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15"/>
          <p:cNvSpPr/>
          <p:nvPr/>
        </p:nvSpPr>
        <p:spPr>
          <a:xfrm>
            <a:off x="786384" y="1207008"/>
            <a:ext cx="5806440" cy="3547872"/>
          </a:xfrm>
          <a:prstGeom prst="rect">
            <a:avLst/>
          </a:prstGeom>
          <a:solidFill>
            <a:srgbClr val="07151C"/>
          </a:solidFill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2" name="Google Shape;702;p15"/>
          <p:cNvCxnSpPr/>
          <p:nvPr/>
        </p:nvCxnSpPr>
        <p:spPr>
          <a:xfrm>
            <a:off x="859536" y="128016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03" name="Google Shape;703;p15"/>
          <p:cNvCxnSpPr/>
          <p:nvPr/>
        </p:nvCxnSpPr>
        <p:spPr>
          <a:xfrm>
            <a:off x="6263640" y="4681728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A6B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4" name="Google Shape;704;p15"/>
          <p:cNvSpPr/>
          <p:nvPr/>
        </p:nvSpPr>
        <p:spPr>
          <a:xfrm>
            <a:off x="1051560" y="1536192"/>
            <a:ext cx="1965960" cy="640080"/>
          </a:xfrm>
          <a:prstGeom prst="rect">
            <a:avLst/>
          </a:prstGeom>
          <a:solidFill>
            <a:srgbClr val="0D2117">
              <a:alpha val="96078"/>
            </a:srgbClr>
          </a:solidFill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5" name="Google Shape;705;p15"/>
          <p:cNvCxnSpPr/>
          <p:nvPr/>
        </p:nvCxnSpPr>
        <p:spPr>
          <a:xfrm>
            <a:off x="1124712" y="1609344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06" name="Google Shape;706;p15"/>
          <p:cNvCxnSpPr/>
          <p:nvPr/>
        </p:nvCxnSpPr>
        <p:spPr>
          <a:xfrm>
            <a:off x="2688336" y="210312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7" name="Google Shape;707;p15"/>
          <p:cNvSpPr/>
          <p:nvPr/>
        </p:nvSpPr>
        <p:spPr>
          <a:xfrm>
            <a:off x="1124712" y="1609344"/>
            <a:ext cx="1819656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FFFEA"/>
              </a:buClr>
              <a:buSzPts val="2300"/>
              <a:buFont typeface="Arial"/>
              <a:buNone/>
            </a:pPr>
            <a:r>
              <a:rPr b="1" lang="en-US" sz="2300">
                <a:solidFill>
                  <a:srgbClr val="DFFFEA"/>
                </a:solidFill>
                <a:latin typeface="Arial"/>
                <a:ea typeface="Arial"/>
                <a:cs typeface="Arial"/>
                <a:sym typeface="Arial"/>
              </a:rPr>
              <a:t>CODEX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15"/>
          <p:cNvSpPr/>
          <p:nvPr/>
        </p:nvSpPr>
        <p:spPr>
          <a:xfrm>
            <a:off x="3246120" y="1444752"/>
            <a:ext cx="3291840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450"/>
              <a:buFont typeface="Arial"/>
              <a:buNone/>
            </a:pPr>
            <a:r>
              <a:rPr b="1" lang="en-US" sz="14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In this project, Codex functioned as the primary engineering execution agent — not just a coding assistant.</a:t>
            </a:r>
            <a:endParaRPr sz="14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15"/>
          <p:cNvSpPr/>
          <p:nvPr/>
        </p:nvSpPr>
        <p:spPr>
          <a:xfrm>
            <a:off x="1051560" y="2487168"/>
            <a:ext cx="54864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80"/>
              <a:buFont typeface="Arial"/>
              <a:buNone/>
            </a:pPr>
            <a:r>
              <a:rPr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Solved Unity-running issues quickly in this project context.</a:t>
            </a:r>
            <a:br>
              <a:rPr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Created/explained visuals and described what it was doing.</a:t>
            </a:r>
            <a:br>
              <a:rPr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Worked smoothly through repo-driven, milestone-driven tasks.</a:t>
            </a:r>
            <a:br>
              <a:rPr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Performed best when architecture rules, tests, and reports were explicit.</a:t>
            </a:r>
            <a:br>
              <a:rPr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endParaRPr sz="12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15"/>
          <p:cNvSpPr/>
          <p:nvPr/>
        </p:nvSpPr>
        <p:spPr>
          <a:xfrm>
            <a:off x="6995160" y="4041648"/>
            <a:ext cx="2057400" cy="402336"/>
          </a:xfrm>
          <a:prstGeom prst="rect">
            <a:avLst/>
          </a:prstGeom>
          <a:solidFill>
            <a:srgbClr val="1A1306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15"/>
          <p:cNvSpPr/>
          <p:nvPr/>
        </p:nvSpPr>
        <p:spPr>
          <a:xfrm>
            <a:off x="7068312" y="4114800"/>
            <a:ext cx="19110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350"/>
              <a:buFont typeface="Arial"/>
              <a:buNone/>
            </a:pPr>
            <a:r>
              <a:rPr b="1" lang="en-US" sz="135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Operational value</a:t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2" name="Google Shape;712;p15"/>
          <p:cNvSpPr/>
          <p:nvPr/>
        </p:nvSpPr>
        <p:spPr>
          <a:xfrm>
            <a:off x="9217152" y="4005072"/>
            <a:ext cx="2057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60"/>
              <a:buFont typeface="Arial"/>
              <a:buNone/>
            </a:pPr>
            <a:r>
              <a:rPr b="1" lang="en-US" sz="126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Repository access + command execution + Unity troubleshooting + testing + reporting + iteration.</a:t>
            </a:r>
            <a:endParaRPr sz="12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15"/>
          <p:cNvSpPr/>
          <p:nvPr/>
        </p:nvSpPr>
        <p:spPr>
          <a:xfrm>
            <a:off x="868680" y="5376672"/>
            <a:ext cx="10424160" cy="548640"/>
          </a:xfrm>
          <a:prstGeom prst="rect">
            <a:avLst/>
          </a:prstGeom>
          <a:solidFill>
            <a:srgbClr val="0A18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15"/>
          <p:cNvSpPr/>
          <p:nvPr/>
        </p:nvSpPr>
        <p:spPr>
          <a:xfrm>
            <a:off x="941832" y="5449824"/>
            <a:ext cx="1027785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550"/>
              <a:buFont typeface="Arial"/>
              <a:buNone/>
            </a:pPr>
            <a:r>
              <a:rPr b="1" lang="en-US" sz="155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Codex was strongest when used as a supervised execution engine inside a governed workflow.</a:t>
            </a:r>
            <a:endParaRPr sz="15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15" name="Google Shape;715;p15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16" name="Google Shape;716;p15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Sources: project case notes + OpenAI Codex product information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15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A0E"/>
        </a:solidFill>
      </p:bgPr>
    </p:bg>
    <p:spTree>
      <p:nvGrpSpPr>
        <p:cNvPr id="722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0E"/>
          </a:solidFill>
          <a:ln cap="flat" cmpd="sng" w="12700">
            <a:solidFill>
              <a:srgbClr val="050A0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1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5" name="Google Shape;725;p16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16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Claude Code • Unity AI • Codex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7" name="Google Shape;727;p16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8" name="Google Shape;728;p16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9" name="Google Shape;729;p16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0" name="Google Shape;730;p16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1" name="Google Shape;731;p16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2" name="Google Shape;732;p16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3" name="Google Shape;733;p16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4" name="Google Shape;734;p16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5" name="Google Shape;735;p16"/>
          <p:cNvSpPr/>
          <p:nvPr/>
        </p:nvSpPr>
        <p:spPr>
          <a:xfrm>
            <a:off x="658368" y="530352"/>
            <a:ext cx="107899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Field report: agent fit matters</a:t>
            </a:r>
            <a:endParaRPr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6" name="Google Shape;736;p16"/>
          <p:cNvSpPr/>
          <p:nvPr/>
        </p:nvSpPr>
        <p:spPr>
          <a:xfrm>
            <a:off x="749808" y="1115568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550"/>
              <a:buFont typeface="Arial"/>
              <a:buNone/>
            </a:pPr>
            <a:r>
              <a:rPr lang="en-US" sz="15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A powerful model is not automatically a production-ready game-development agent. The bottleneck is operational fit: files, Unity execution, context endurance, honesty, permissions, and smooth handoffs.</a:t>
            </a:r>
            <a:endParaRPr sz="15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7" name="Google Shape;737;p16"/>
          <p:cNvSpPr/>
          <p:nvPr/>
        </p:nvSpPr>
        <p:spPr>
          <a:xfrm>
            <a:off x="822960" y="2039112"/>
            <a:ext cx="2057400" cy="384048"/>
          </a:xfrm>
          <a:prstGeom prst="rect">
            <a:avLst/>
          </a:prstGeom>
          <a:solidFill>
            <a:srgbClr val="0D2630">
              <a:alpha val="96078"/>
            </a:srgbClr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16"/>
          <p:cNvSpPr/>
          <p:nvPr/>
        </p:nvSpPr>
        <p:spPr>
          <a:xfrm>
            <a:off x="941832" y="2112264"/>
            <a:ext cx="181965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1060"/>
              <a:buFont typeface="Arial"/>
              <a:buNone/>
            </a:pPr>
            <a:r>
              <a:rPr b="1" lang="en-US" sz="106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Dimension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16"/>
          <p:cNvSpPr/>
          <p:nvPr/>
        </p:nvSpPr>
        <p:spPr>
          <a:xfrm>
            <a:off x="2971800" y="2039112"/>
            <a:ext cx="8412480" cy="384048"/>
          </a:xfrm>
          <a:prstGeom prst="rect">
            <a:avLst/>
          </a:prstGeom>
          <a:solidFill>
            <a:srgbClr val="0D2630">
              <a:alpha val="96078"/>
            </a:srgbClr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16"/>
          <p:cNvSpPr/>
          <p:nvPr/>
        </p:nvSpPr>
        <p:spPr>
          <a:xfrm>
            <a:off x="3090672" y="2112264"/>
            <a:ext cx="817473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1060"/>
              <a:buFont typeface="Arial"/>
              <a:buNone/>
            </a:pPr>
            <a:r>
              <a:rPr b="1" lang="en-US" sz="106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Observed lesson from this project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16"/>
          <p:cNvSpPr/>
          <p:nvPr/>
        </p:nvSpPr>
        <p:spPr>
          <a:xfrm>
            <a:off x="822960" y="2542032"/>
            <a:ext cx="2057400" cy="38404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16"/>
          <p:cNvSpPr/>
          <p:nvPr/>
        </p:nvSpPr>
        <p:spPr>
          <a:xfrm>
            <a:off x="941832" y="2615184"/>
            <a:ext cx="181965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60"/>
              <a:buFont typeface="Arial"/>
              <a:buNone/>
            </a:pPr>
            <a:r>
              <a:rPr b="1" lang="en-US" sz="106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Claude Code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16"/>
          <p:cNvSpPr/>
          <p:nvPr/>
        </p:nvSpPr>
        <p:spPr>
          <a:xfrm>
            <a:off x="2971800" y="2542032"/>
            <a:ext cx="8412480" cy="38404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p16"/>
          <p:cNvSpPr/>
          <p:nvPr/>
        </p:nvSpPr>
        <p:spPr>
          <a:xfrm>
            <a:off x="3090672" y="2615184"/>
            <a:ext cx="817473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1060"/>
              <a:buFont typeface="Arial"/>
              <a:buNone/>
            </a:pPr>
            <a:r>
              <a:rPr b="1" lang="en-US" sz="106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Understood the process, but struggled with Unity execution, token/context limits, beta desktop friction, and model switching constraints.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5" name="Google Shape;745;p16"/>
          <p:cNvSpPr/>
          <p:nvPr/>
        </p:nvSpPr>
        <p:spPr>
          <a:xfrm>
            <a:off x="822960" y="3044952"/>
            <a:ext cx="2057400" cy="38404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6" name="Google Shape;746;p16"/>
          <p:cNvSpPr/>
          <p:nvPr/>
        </p:nvSpPr>
        <p:spPr>
          <a:xfrm>
            <a:off x="941832" y="3118104"/>
            <a:ext cx="181965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60"/>
              <a:buFont typeface="Arial"/>
              <a:buNone/>
            </a:pPr>
            <a:r>
              <a:rPr b="1" lang="en-US" sz="106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Delivery reliability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7" name="Google Shape;747;p16"/>
          <p:cNvSpPr/>
          <p:nvPr/>
        </p:nvSpPr>
        <p:spPr>
          <a:xfrm>
            <a:off x="2971800" y="3044952"/>
            <a:ext cx="8412480" cy="38404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16"/>
          <p:cNvSpPr/>
          <p:nvPr/>
        </p:nvSpPr>
        <p:spPr>
          <a:xfrm>
            <a:off x="3090672" y="3118104"/>
            <a:ext cx="817473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1060"/>
              <a:buFont typeface="Arial"/>
              <a:buNone/>
            </a:pPr>
            <a:r>
              <a:rPr b="1" lang="en-US" sz="106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A production agent must be honest when it cannot access files or complete the work.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16"/>
          <p:cNvSpPr/>
          <p:nvPr/>
        </p:nvSpPr>
        <p:spPr>
          <a:xfrm>
            <a:off x="822960" y="3547872"/>
            <a:ext cx="2057400" cy="38404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0" name="Google Shape;750;p16"/>
          <p:cNvSpPr/>
          <p:nvPr/>
        </p:nvSpPr>
        <p:spPr>
          <a:xfrm>
            <a:off x="941832" y="3621024"/>
            <a:ext cx="181965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60"/>
              <a:buFont typeface="Arial"/>
              <a:buNone/>
            </a:pPr>
            <a:r>
              <a:rPr b="1" lang="en-US" sz="106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Unity AI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1" name="Google Shape;751;p16"/>
          <p:cNvSpPr/>
          <p:nvPr/>
        </p:nvSpPr>
        <p:spPr>
          <a:xfrm>
            <a:off x="2971800" y="3547872"/>
            <a:ext cx="8412480" cy="38404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2" name="Google Shape;752;p16"/>
          <p:cNvSpPr/>
          <p:nvPr/>
        </p:nvSpPr>
        <p:spPr>
          <a:xfrm>
            <a:off x="3090672" y="3621024"/>
            <a:ext cx="817473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1060"/>
              <a:buFont typeface="Arial"/>
              <a:buNone/>
            </a:pPr>
            <a:r>
              <a:rPr b="1" lang="en-US" sz="106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Promising Unity-native direction, but not yet ideal for governed multi-agent automation; uncontrolled edits conflict with approval gates.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3" name="Google Shape;753;p16"/>
          <p:cNvSpPr/>
          <p:nvPr/>
        </p:nvSpPr>
        <p:spPr>
          <a:xfrm>
            <a:off x="822960" y="4050792"/>
            <a:ext cx="2057400" cy="38404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4" name="Google Shape;754;p16"/>
          <p:cNvSpPr/>
          <p:nvPr/>
        </p:nvSpPr>
        <p:spPr>
          <a:xfrm>
            <a:off x="941832" y="4123944"/>
            <a:ext cx="181965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60"/>
              <a:buFont typeface="Arial"/>
              <a:buNone/>
            </a:pPr>
            <a:r>
              <a:rPr b="1" lang="en-US" sz="106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Codex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5" name="Google Shape;755;p16"/>
          <p:cNvSpPr/>
          <p:nvPr/>
        </p:nvSpPr>
        <p:spPr>
          <a:xfrm>
            <a:off x="2971800" y="4050792"/>
            <a:ext cx="8412480" cy="38404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16"/>
          <p:cNvSpPr/>
          <p:nvPr/>
        </p:nvSpPr>
        <p:spPr>
          <a:xfrm>
            <a:off x="3090672" y="4123944"/>
            <a:ext cx="817473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C2CC"/>
              </a:buClr>
              <a:buSzPts val="1060"/>
              <a:buFont typeface="Arial"/>
              <a:buNone/>
            </a:pPr>
            <a:r>
              <a:rPr b="1" lang="en-US" sz="1060">
                <a:solidFill>
                  <a:srgbClr val="A7C2CC"/>
                </a:solidFill>
                <a:latin typeface="Arial"/>
                <a:ea typeface="Arial"/>
                <a:cs typeface="Arial"/>
                <a:sym typeface="Arial"/>
              </a:rPr>
              <a:t>Better operational fit here: resolved Unity running, explained actions, and worked more smoothly through milestones.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16"/>
          <p:cNvSpPr/>
          <p:nvPr/>
        </p:nvSpPr>
        <p:spPr>
          <a:xfrm>
            <a:off x="822960" y="4553712"/>
            <a:ext cx="2057400" cy="38404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16"/>
          <p:cNvSpPr/>
          <p:nvPr/>
        </p:nvSpPr>
        <p:spPr>
          <a:xfrm>
            <a:off x="941832" y="4626864"/>
            <a:ext cx="181965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060"/>
              <a:buFont typeface="Arial"/>
              <a:buNone/>
            </a:pPr>
            <a:r>
              <a:rPr b="1" lang="en-US" sz="106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Takeaway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16"/>
          <p:cNvSpPr/>
          <p:nvPr/>
        </p:nvSpPr>
        <p:spPr>
          <a:xfrm>
            <a:off x="2971800" y="4553712"/>
            <a:ext cx="8412480" cy="38404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16"/>
          <p:cNvSpPr/>
          <p:nvPr/>
        </p:nvSpPr>
        <p:spPr>
          <a:xfrm>
            <a:off x="3090672" y="4626864"/>
            <a:ext cx="817473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060"/>
              <a:buFont typeface="Arial"/>
              <a:buNone/>
            </a:pPr>
            <a:r>
              <a:rPr b="1" lang="en-US" sz="106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Benchmark intelligence is not enough; evaluate agents by production behavior.</a:t>
            </a:r>
            <a:endParaRPr sz="106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16"/>
          <p:cNvSpPr/>
          <p:nvPr/>
        </p:nvSpPr>
        <p:spPr>
          <a:xfrm>
            <a:off x="868680" y="5376672"/>
            <a:ext cx="10424160" cy="548640"/>
          </a:xfrm>
          <a:prstGeom prst="rect">
            <a:avLst/>
          </a:prstGeom>
          <a:solidFill>
            <a:srgbClr val="0A18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2" name="Google Shape;762;p16"/>
          <p:cNvSpPr/>
          <p:nvPr/>
        </p:nvSpPr>
        <p:spPr>
          <a:xfrm>
            <a:off x="941832" y="5449824"/>
            <a:ext cx="1027785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550"/>
              <a:buFont typeface="Arial"/>
              <a:buNone/>
            </a:pPr>
            <a:r>
              <a:rPr b="1" lang="en-US" sz="155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Frame this as a production-fit comparison, not tool-bashing: the goal is reliable orchestration.</a:t>
            </a:r>
            <a:endParaRPr sz="15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63" name="Google Shape;763;p16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4" name="Google Shape;764;p16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16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A0E"/>
        </a:solidFill>
      </p:bgPr>
    </p:bg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0E"/>
          </a:solidFill>
          <a:ln cap="flat" cmpd="sng" w="12700">
            <a:solidFill>
              <a:srgbClr val="050A0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17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3" name="Google Shape;773;p17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17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2026 landscape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75" name="Google Shape;775;p17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6" name="Google Shape;776;p17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7" name="Google Shape;777;p17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8" name="Google Shape;778;p17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9" name="Google Shape;779;p17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80" name="Google Shape;780;p17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81" name="Google Shape;781;p17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82" name="Google Shape;782;p17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3" name="Google Shape;783;p17"/>
          <p:cNvSpPr/>
          <p:nvPr/>
        </p:nvSpPr>
        <p:spPr>
          <a:xfrm>
            <a:off x="658368" y="530352"/>
            <a:ext cx="107899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Latest AI tools &amp; models: organize by role</a:t>
            </a:r>
            <a:endParaRPr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17"/>
          <p:cNvSpPr/>
          <p:nvPr/>
        </p:nvSpPr>
        <p:spPr>
          <a:xfrm>
            <a:off x="777240" y="1234440"/>
            <a:ext cx="5074920" cy="74980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85" name="Google Shape;785;p17"/>
          <p:cNvCxnSpPr/>
          <p:nvPr/>
        </p:nvCxnSpPr>
        <p:spPr>
          <a:xfrm>
            <a:off x="850392" y="130759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86" name="Google Shape;786;p17"/>
          <p:cNvCxnSpPr/>
          <p:nvPr/>
        </p:nvCxnSpPr>
        <p:spPr>
          <a:xfrm>
            <a:off x="5522976" y="191109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7" name="Google Shape;787;p17"/>
          <p:cNvSpPr/>
          <p:nvPr/>
        </p:nvSpPr>
        <p:spPr>
          <a:xfrm>
            <a:off x="850392" y="1307592"/>
            <a:ext cx="4928616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Coding agents / IDEs</a:t>
            </a:r>
            <a:endParaRPr sz="1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Codex • Google Antigravity </a:t>
            </a:r>
            <a:r>
              <a:rPr b="1" lang="en-US" sz="1250">
                <a:solidFill>
                  <a:srgbClr val="EAF7FB"/>
                </a:solidFill>
              </a:rPr>
              <a:t>• </a:t>
            </a:r>
            <a:r>
              <a:rPr b="1" lang="en-US" sz="12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Claude Code • GitHub Copilot cloud agent • Cursor</a:t>
            </a:r>
            <a:endParaRPr sz="1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17"/>
          <p:cNvSpPr/>
          <p:nvPr/>
        </p:nvSpPr>
        <p:spPr>
          <a:xfrm>
            <a:off x="6355080" y="1234440"/>
            <a:ext cx="5074920" cy="74980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89" name="Google Shape;789;p17"/>
          <p:cNvCxnSpPr/>
          <p:nvPr/>
        </p:nvCxnSpPr>
        <p:spPr>
          <a:xfrm>
            <a:off x="6428232" y="130759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90" name="Google Shape;790;p17"/>
          <p:cNvCxnSpPr/>
          <p:nvPr/>
        </p:nvCxnSpPr>
        <p:spPr>
          <a:xfrm>
            <a:off x="11100816" y="191109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91" name="Google Shape;791;p17"/>
          <p:cNvSpPr/>
          <p:nvPr/>
        </p:nvSpPr>
        <p:spPr>
          <a:xfrm>
            <a:off x="6428232" y="1307592"/>
            <a:ext cx="4928616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Unity-native tooling</a:t>
            </a:r>
            <a:endParaRPr sz="1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Unity AI Assistant • Unity AI Gateway • Unity MCP Server • Sentis</a:t>
            </a:r>
            <a:endParaRPr sz="1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2" name="Google Shape;792;p17"/>
          <p:cNvSpPr/>
          <p:nvPr/>
        </p:nvSpPr>
        <p:spPr>
          <a:xfrm>
            <a:off x="777240" y="2377440"/>
            <a:ext cx="5074920" cy="74980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9A84F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93" name="Google Shape;793;p17"/>
          <p:cNvCxnSpPr/>
          <p:nvPr/>
        </p:nvCxnSpPr>
        <p:spPr>
          <a:xfrm>
            <a:off x="850392" y="245059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9A84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94" name="Google Shape;794;p17"/>
          <p:cNvCxnSpPr/>
          <p:nvPr/>
        </p:nvCxnSpPr>
        <p:spPr>
          <a:xfrm>
            <a:off x="5522976" y="305409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9A84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95" name="Google Shape;795;p17"/>
          <p:cNvSpPr/>
          <p:nvPr/>
        </p:nvSpPr>
        <p:spPr>
          <a:xfrm>
            <a:off x="850392" y="2450592"/>
            <a:ext cx="4928616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Frontier multimodal models</a:t>
            </a:r>
            <a:endParaRPr sz="1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GPT-family • Claude/Opus • Gemini models</a:t>
            </a:r>
            <a:endParaRPr sz="1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17"/>
          <p:cNvSpPr/>
          <p:nvPr/>
        </p:nvSpPr>
        <p:spPr>
          <a:xfrm>
            <a:off x="6355080" y="2377440"/>
            <a:ext cx="5074920" cy="74980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97" name="Google Shape;797;p17"/>
          <p:cNvCxnSpPr/>
          <p:nvPr/>
        </p:nvCxnSpPr>
        <p:spPr>
          <a:xfrm>
            <a:off x="6428232" y="245059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98" name="Google Shape;798;p17"/>
          <p:cNvCxnSpPr/>
          <p:nvPr/>
        </p:nvCxnSpPr>
        <p:spPr>
          <a:xfrm>
            <a:off x="11100816" y="305409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99" name="Google Shape;799;p17"/>
          <p:cNvSpPr/>
          <p:nvPr/>
        </p:nvSpPr>
        <p:spPr>
          <a:xfrm>
            <a:off x="6428232" y="2450592"/>
            <a:ext cx="4928616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Visual + video generation</a:t>
            </a:r>
            <a:endParaRPr sz="1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Sora • Veo • Runway • Midjourney • Firefly</a:t>
            </a:r>
            <a:endParaRPr sz="1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0" name="Google Shape;800;p17"/>
          <p:cNvSpPr/>
          <p:nvPr/>
        </p:nvSpPr>
        <p:spPr>
          <a:xfrm>
            <a:off x="777240" y="3520440"/>
            <a:ext cx="5074920" cy="74980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19BEE4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01" name="Google Shape;801;p17"/>
          <p:cNvCxnSpPr/>
          <p:nvPr/>
        </p:nvCxnSpPr>
        <p:spPr>
          <a:xfrm>
            <a:off x="850392" y="359359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9BEE4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02" name="Google Shape;802;p17"/>
          <p:cNvCxnSpPr/>
          <p:nvPr/>
        </p:nvCxnSpPr>
        <p:spPr>
          <a:xfrm>
            <a:off x="5522976" y="419709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9BEE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3" name="Google Shape;803;p17"/>
          <p:cNvSpPr/>
          <p:nvPr/>
        </p:nvSpPr>
        <p:spPr>
          <a:xfrm>
            <a:off x="850392" y="3593592"/>
            <a:ext cx="4928616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Orchestration + validation</a:t>
            </a:r>
            <a:endParaRPr sz="1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MCP • Agent SDKs • CI/CD • Play Mode tests • visual comparison</a:t>
            </a:r>
            <a:endParaRPr sz="1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4" name="Google Shape;804;p17"/>
          <p:cNvSpPr/>
          <p:nvPr/>
        </p:nvSpPr>
        <p:spPr>
          <a:xfrm>
            <a:off x="6355080" y="3520440"/>
            <a:ext cx="5074920" cy="74980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93D36A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05" name="Google Shape;805;p17"/>
          <p:cNvCxnSpPr/>
          <p:nvPr/>
        </p:nvCxnSpPr>
        <p:spPr>
          <a:xfrm>
            <a:off x="6428232" y="359359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93D36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06" name="Google Shape;806;p17"/>
          <p:cNvCxnSpPr/>
          <p:nvPr/>
        </p:nvCxnSpPr>
        <p:spPr>
          <a:xfrm>
            <a:off x="11100816" y="419709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93D36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7" name="Google Shape;807;p17"/>
          <p:cNvSpPr/>
          <p:nvPr/>
        </p:nvSpPr>
        <p:spPr>
          <a:xfrm>
            <a:off x="6428232" y="3593592"/>
            <a:ext cx="4928616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Project memory + governance</a:t>
            </a:r>
            <a:endParaRPr sz="1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task boards • reports • source of truth • approval gates</a:t>
            </a:r>
            <a:endParaRPr sz="12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8" name="Google Shape;808;p17"/>
          <p:cNvSpPr/>
          <p:nvPr/>
        </p:nvSpPr>
        <p:spPr>
          <a:xfrm>
            <a:off x="868680" y="5376672"/>
            <a:ext cx="10424160" cy="548640"/>
          </a:xfrm>
          <a:prstGeom prst="rect">
            <a:avLst/>
          </a:prstGeom>
          <a:solidFill>
            <a:srgbClr val="0A18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9" name="Google Shape;809;p17"/>
          <p:cNvSpPr/>
          <p:nvPr/>
        </p:nvSpPr>
        <p:spPr>
          <a:xfrm>
            <a:off x="941832" y="5449824"/>
            <a:ext cx="1027785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550"/>
              <a:buFont typeface="Arial"/>
              <a:buNone/>
            </a:pPr>
            <a:r>
              <a:rPr b="1" lang="en-US" sz="155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Do not present tools as a ranked list. Present them as replaceable capabilities inside a governed pipeline.</a:t>
            </a:r>
            <a:endParaRPr sz="15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10" name="Google Shape;810;p17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1" name="Google Shape;811;p17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Sources: OpenAI, Anthropic, GitHub Docs, Unity AI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2" name="Google Shape;812;p17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A0E"/>
        </a:solidFill>
      </p:bgPr>
    </p:bg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0E"/>
          </a:solidFill>
          <a:ln cap="flat" cmpd="sng" w="12700">
            <a:solidFill>
              <a:srgbClr val="050A0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9" name="Google Shape;819;p18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0" name="Google Shape;820;p18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1" name="Google Shape;821;p18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control layer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22" name="Google Shape;822;p18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23" name="Google Shape;823;p18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24" name="Google Shape;824;p18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25" name="Google Shape;825;p18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26" name="Google Shape;826;p18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27" name="Google Shape;827;p18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28" name="Google Shape;828;p18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29" name="Google Shape;829;p18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0" name="Google Shape;830;p18"/>
          <p:cNvSpPr/>
          <p:nvPr/>
        </p:nvSpPr>
        <p:spPr>
          <a:xfrm>
            <a:off x="658368" y="530352"/>
            <a:ext cx="107899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Governance: autonomous execution under human authority</a:t>
            </a:r>
            <a:endParaRPr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8"/>
          <p:cNvSpPr/>
          <p:nvPr/>
        </p:nvSpPr>
        <p:spPr>
          <a:xfrm>
            <a:off x="777240" y="1170432"/>
            <a:ext cx="10789920" cy="621792"/>
          </a:xfrm>
          <a:prstGeom prst="rect">
            <a:avLst/>
          </a:prstGeom>
          <a:solidFill>
            <a:srgbClr val="0D2117">
              <a:alpha val="96078"/>
            </a:srgbClr>
          </a:solidFill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8"/>
          <p:cNvSpPr/>
          <p:nvPr/>
        </p:nvSpPr>
        <p:spPr>
          <a:xfrm>
            <a:off x="850392" y="1243584"/>
            <a:ext cx="10643616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3FFEB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E3FFEB"/>
                </a:solidFill>
                <a:latin typeface="Arial"/>
                <a:ea typeface="Arial"/>
                <a:cs typeface="Arial"/>
                <a:sym typeface="Arial"/>
              </a:rPr>
              <a:t>Human authority layer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3FFEB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E3FFEB"/>
                </a:solidFill>
                <a:latin typeface="Arial"/>
                <a:ea typeface="Arial"/>
                <a:cs typeface="Arial"/>
                <a:sym typeface="Arial"/>
              </a:rPr>
              <a:t>vision • product direction • code architecture • testing criteria • visuals • milestone acceptance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33" name="Google Shape;833;p18"/>
          <p:cNvCxnSpPr/>
          <p:nvPr/>
        </p:nvCxnSpPr>
        <p:spPr>
          <a:xfrm>
            <a:off x="1920240" y="2606040"/>
            <a:ext cx="731520" cy="0"/>
          </a:xfrm>
          <a:prstGeom prst="straightConnector1">
            <a:avLst/>
          </a:prstGeom>
          <a:noFill/>
          <a:ln cap="flat" cmpd="sng" w="10150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834" name="Google Shape;834;p18"/>
          <p:cNvCxnSpPr/>
          <p:nvPr/>
        </p:nvCxnSpPr>
        <p:spPr>
          <a:xfrm>
            <a:off x="3886200" y="2606040"/>
            <a:ext cx="731520" cy="0"/>
          </a:xfrm>
          <a:prstGeom prst="straightConnector1">
            <a:avLst/>
          </a:prstGeom>
          <a:noFill/>
          <a:ln cap="flat" cmpd="sng" w="10150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835" name="Google Shape;835;p18"/>
          <p:cNvCxnSpPr/>
          <p:nvPr/>
        </p:nvCxnSpPr>
        <p:spPr>
          <a:xfrm>
            <a:off x="5852160" y="2606040"/>
            <a:ext cx="731520" cy="0"/>
          </a:xfrm>
          <a:prstGeom prst="straightConnector1">
            <a:avLst/>
          </a:prstGeom>
          <a:noFill/>
          <a:ln cap="flat" cmpd="sng" w="10150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836" name="Google Shape;836;p18"/>
          <p:cNvCxnSpPr/>
          <p:nvPr/>
        </p:nvCxnSpPr>
        <p:spPr>
          <a:xfrm>
            <a:off x="7818120" y="2606040"/>
            <a:ext cx="731520" cy="0"/>
          </a:xfrm>
          <a:prstGeom prst="straightConnector1">
            <a:avLst/>
          </a:prstGeom>
          <a:noFill/>
          <a:ln cap="flat" cmpd="sng" w="10150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837" name="Google Shape;837;p18"/>
          <p:cNvSpPr/>
          <p:nvPr/>
        </p:nvSpPr>
        <p:spPr>
          <a:xfrm>
            <a:off x="914400" y="2249424"/>
            <a:ext cx="1417320" cy="694944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38" name="Google Shape;838;p18"/>
          <p:cNvCxnSpPr/>
          <p:nvPr/>
        </p:nvCxnSpPr>
        <p:spPr>
          <a:xfrm>
            <a:off x="987552" y="232257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39" name="Google Shape;839;p18"/>
          <p:cNvCxnSpPr/>
          <p:nvPr/>
        </p:nvCxnSpPr>
        <p:spPr>
          <a:xfrm>
            <a:off x="2002536" y="287121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40" name="Google Shape;840;p18"/>
          <p:cNvSpPr/>
          <p:nvPr/>
        </p:nvSpPr>
        <p:spPr>
          <a:xfrm>
            <a:off x="987552" y="2322576"/>
            <a:ext cx="1271016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Design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approval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8"/>
          <p:cNvSpPr/>
          <p:nvPr/>
        </p:nvSpPr>
        <p:spPr>
          <a:xfrm>
            <a:off x="2880360" y="2249424"/>
            <a:ext cx="1417320" cy="694944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42" name="Google Shape;842;p18"/>
          <p:cNvCxnSpPr/>
          <p:nvPr/>
        </p:nvCxnSpPr>
        <p:spPr>
          <a:xfrm>
            <a:off x="2953512" y="232257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43" name="Google Shape;843;p18"/>
          <p:cNvCxnSpPr/>
          <p:nvPr/>
        </p:nvCxnSpPr>
        <p:spPr>
          <a:xfrm>
            <a:off x="3968496" y="287121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44" name="Google Shape;844;p18"/>
          <p:cNvSpPr/>
          <p:nvPr/>
        </p:nvSpPr>
        <p:spPr>
          <a:xfrm>
            <a:off x="2953512" y="2322576"/>
            <a:ext cx="1271016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Visual target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approval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8"/>
          <p:cNvSpPr/>
          <p:nvPr/>
        </p:nvSpPr>
        <p:spPr>
          <a:xfrm>
            <a:off x="4846320" y="2249424"/>
            <a:ext cx="1417320" cy="694944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46" name="Google Shape;846;p18"/>
          <p:cNvCxnSpPr/>
          <p:nvPr/>
        </p:nvCxnSpPr>
        <p:spPr>
          <a:xfrm>
            <a:off x="4919472" y="232257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47" name="Google Shape;847;p18"/>
          <p:cNvCxnSpPr/>
          <p:nvPr/>
        </p:nvCxnSpPr>
        <p:spPr>
          <a:xfrm>
            <a:off x="5934456" y="287121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48" name="Google Shape;848;p18"/>
          <p:cNvSpPr/>
          <p:nvPr/>
        </p:nvSpPr>
        <p:spPr>
          <a:xfrm>
            <a:off x="4919472" y="2322576"/>
            <a:ext cx="1271016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Architecture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constraints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8"/>
          <p:cNvSpPr/>
          <p:nvPr/>
        </p:nvSpPr>
        <p:spPr>
          <a:xfrm>
            <a:off x="6812280" y="2249424"/>
            <a:ext cx="1417320" cy="694944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0" name="Google Shape;850;p18"/>
          <p:cNvCxnSpPr/>
          <p:nvPr/>
        </p:nvCxnSpPr>
        <p:spPr>
          <a:xfrm>
            <a:off x="6885432" y="232257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51" name="Google Shape;851;p18"/>
          <p:cNvCxnSpPr/>
          <p:nvPr/>
        </p:nvCxnSpPr>
        <p:spPr>
          <a:xfrm>
            <a:off x="7900416" y="287121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2" name="Google Shape;852;p18"/>
          <p:cNvSpPr/>
          <p:nvPr/>
        </p:nvSpPr>
        <p:spPr>
          <a:xfrm>
            <a:off x="6885432" y="2322576"/>
            <a:ext cx="1271016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Unity test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acceptance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8"/>
          <p:cNvSpPr/>
          <p:nvPr/>
        </p:nvSpPr>
        <p:spPr>
          <a:xfrm>
            <a:off x="8778240" y="2249424"/>
            <a:ext cx="1417320" cy="694944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4" name="Google Shape;854;p18"/>
          <p:cNvCxnSpPr/>
          <p:nvPr/>
        </p:nvCxnSpPr>
        <p:spPr>
          <a:xfrm>
            <a:off x="8851392" y="232257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55" name="Google Shape;855;p18"/>
          <p:cNvCxnSpPr/>
          <p:nvPr/>
        </p:nvCxnSpPr>
        <p:spPr>
          <a:xfrm>
            <a:off x="9866376" y="287121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6" name="Google Shape;856;p18"/>
          <p:cNvSpPr/>
          <p:nvPr/>
        </p:nvSpPr>
        <p:spPr>
          <a:xfrm>
            <a:off x="8851392" y="2322576"/>
            <a:ext cx="1271016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Milestone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150"/>
              <a:buFont typeface="Arial"/>
              <a:buNone/>
            </a:pPr>
            <a:r>
              <a:rPr b="1" lang="en-US" sz="11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sign-off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7" name="Google Shape;857;p18"/>
          <p:cNvSpPr/>
          <p:nvPr/>
        </p:nvSpPr>
        <p:spPr>
          <a:xfrm>
            <a:off x="1097280" y="3703320"/>
            <a:ext cx="9966960" cy="594360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8"/>
          <p:cNvSpPr/>
          <p:nvPr/>
        </p:nvSpPr>
        <p:spPr>
          <a:xfrm>
            <a:off x="1170432" y="3776472"/>
            <a:ext cx="9820656" cy="448056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600"/>
              <a:buFont typeface="Arial"/>
              <a:buNone/>
            </a:pPr>
            <a:r>
              <a:rPr b="1" lang="en-US" sz="16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Agent execution layer</a:t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600"/>
              <a:buFont typeface="Arial"/>
              <a:buNone/>
            </a:pPr>
            <a:r>
              <a:rPr b="1" lang="en-US" sz="16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Design • Art • Development • QA • Build • PM tracking</a:t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9" name="Google Shape;859;p18"/>
          <p:cNvSpPr/>
          <p:nvPr/>
        </p:nvSpPr>
        <p:spPr>
          <a:xfrm>
            <a:off x="960120" y="4983480"/>
            <a:ext cx="100584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30"/>
              <a:buFont typeface="Arial"/>
              <a:buNone/>
            </a:pPr>
            <a:r>
              <a:rPr lang="en-US" sz="123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Agents can work autonomously inside boundaries, but approval gates prevent uncontrolled drift.</a:t>
            </a:r>
            <a:br>
              <a:rPr lang="en-US" sz="123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3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Reports and captures create traceability for human review.</a:t>
            </a:r>
            <a:br>
              <a:rPr lang="en-US" sz="123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3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Blockers are escalated when the next action needs a human decision or unavailable tool access.</a:t>
            </a:r>
            <a:br>
              <a:rPr lang="en-US" sz="123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endParaRPr sz="123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60" name="Google Shape;860;p18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61" name="Google Shape;861;p18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8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6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67" name="Google Shape;86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7882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19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19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FFC4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19"/>
          <p:cNvSpPr txBox="1"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ANALYTICS AGENT</a:t>
            </a:r>
            <a:endParaRPr/>
          </a:p>
        </p:txBody>
      </p:sp>
      <p:sp>
        <p:nvSpPr>
          <p:cNvPr id="872" name="Google Shape;872;p19"/>
          <p:cNvSpPr/>
          <p:nvPr/>
        </p:nvSpPr>
        <p:spPr>
          <a:xfrm>
            <a:off x="292608" y="292608"/>
            <a:ext cx="685800" cy="914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19"/>
          <p:cNvSpPr/>
          <p:nvPr/>
        </p:nvSpPr>
        <p:spPr>
          <a:xfrm>
            <a:off x="292608" y="292608"/>
            <a:ext cx="9144" cy="43891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9"/>
          <p:cNvSpPr/>
          <p:nvPr/>
        </p:nvSpPr>
        <p:spPr>
          <a:xfrm>
            <a:off x="11210544" y="292608"/>
            <a:ext cx="685800" cy="914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5" name="Google Shape;875;p19"/>
          <p:cNvSpPr/>
          <p:nvPr/>
        </p:nvSpPr>
        <p:spPr>
          <a:xfrm>
            <a:off x="11896344" y="292608"/>
            <a:ext cx="9144" cy="43891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6" name="Google Shape;876;p19"/>
          <p:cNvSpPr/>
          <p:nvPr/>
        </p:nvSpPr>
        <p:spPr>
          <a:xfrm>
            <a:off x="292608" y="6126480"/>
            <a:ext cx="685800" cy="914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7" name="Google Shape;877;p19"/>
          <p:cNvSpPr/>
          <p:nvPr/>
        </p:nvSpPr>
        <p:spPr>
          <a:xfrm>
            <a:off x="292608" y="6126480"/>
            <a:ext cx="9144" cy="43891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8" name="Google Shape;878;p19"/>
          <p:cNvSpPr/>
          <p:nvPr/>
        </p:nvSpPr>
        <p:spPr>
          <a:xfrm>
            <a:off x="11210544" y="6126480"/>
            <a:ext cx="685800" cy="914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9" name="Google Shape;879;p19"/>
          <p:cNvSpPr/>
          <p:nvPr/>
        </p:nvSpPr>
        <p:spPr>
          <a:xfrm>
            <a:off x="11896344" y="6126480"/>
            <a:ext cx="9144" cy="43891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19"/>
          <p:cNvSpPr/>
          <p:nvPr/>
        </p:nvSpPr>
        <p:spPr>
          <a:xfrm>
            <a:off x="576072" y="6428232"/>
            <a:ext cx="10881360" cy="9144"/>
          </a:xfrm>
          <a:prstGeom prst="rect">
            <a:avLst/>
          </a:prstGeom>
          <a:solidFill>
            <a:srgbClr val="007788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1" name="Google Shape;881;p19"/>
          <p:cNvSpPr txBox="1"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>
                <a:solidFill>
                  <a:srgbClr val="7D9198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/>
          </a:p>
        </p:txBody>
      </p:sp>
      <p:sp>
        <p:nvSpPr>
          <p:cNvPr id="882" name="Google Shape;882;p19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  <a:endParaRPr/>
          </a:p>
        </p:txBody>
      </p:sp>
      <p:sp>
        <p:nvSpPr>
          <p:cNvPr id="883" name="Google Shape;883;p19"/>
          <p:cNvSpPr txBox="1"/>
          <p:nvPr/>
        </p:nvSpPr>
        <p:spPr>
          <a:xfrm>
            <a:off x="658368" y="530352"/>
            <a:ext cx="10789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0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Analytics Agent: instrument before launch</a:t>
            </a:r>
            <a:endParaRPr/>
          </a:p>
        </p:txBody>
      </p:sp>
      <p:sp>
        <p:nvSpPr>
          <p:cNvPr id="884" name="Google Shape;884;p19"/>
          <p:cNvSpPr txBox="1"/>
          <p:nvPr/>
        </p:nvSpPr>
        <p:spPr>
          <a:xfrm>
            <a:off x="694944" y="1078992"/>
            <a:ext cx="10607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AI can audit the GDD, Unity scenes, UI flows, and gameplay code to propose a tracking plan — then wait for approval before Codex touches code.</a:t>
            </a:r>
            <a:endParaRPr/>
          </a:p>
        </p:txBody>
      </p:sp>
      <p:sp>
        <p:nvSpPr>
          <p:cNvPr id="885" name="Google Shape;885;p19"/>
          <p:cNvSpPr/>
          <p:nvPr/>
        </p:nvSpPr>
        <p:spPr>
          <a:xfrm>
            <a:off x="658368" y="1783080"/>
            <a:ext cx="3063240" cy="2331720"/>
          </a:xfrm>
          <a:prstGeom prst="rect">
            <a:avLst/>
          </a:prstGeom>
          <a:solidFill>
            <a:srgbClr val="041B22">
              <a:alpha val="87843"/>
            </a:srgbClr>
          </a:solidFill>
          <a:ln cap="flat" cmpd="sng" w="152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19"/>
          <p:cNvSpPr/>
          <p:nvPr/>
        </p:nvSpPr>
        <p:spPr>
          <a:xfrm>
            <a:off x="731519" y="1865376"/>
            <a:ext cx="256032" cy="914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7" name="Google Shape;887;p19"/>
          <p:cNvSpPr/>
          <p:nvPr/>
        </p:nvSpPr>
        <p:spPr>
          <a:xfrm>
            <a:off x="3374136" y="4005072"/>
            <a:ext cx="256032" cy="914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19"/>
          <p:cNvSpPr txBox="1"/>
          <p:nvPr/>
        </p:nvSpPr>
        <p:spPr>
          <a:xfrm>
            <a:off x="822959" y="1947672"/>
            <a:ext cx="273405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Inputs reviewed</a:t>
            </a:r>
            <a:endParaRPr/>
          </a:p>
        </p:txBody>
      </p:sp>
      <p:sp>
        <p:nvSpPr>
          <p:cNvPr id="889" name="Google Shape;889;p19"/>
          <p:cNvSpPr txBox="1"/>
          <p:nvPr/>
        </p:nvSpPr>
        <p:spPr>
          <a:xfrm>
            <a:off x="822959" y="2286000"/>
            <a:ext cx="2734056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Game design docs</a:t>
            </a:r>
            <a:b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Unity scenes + prefabs</a:t>
            </a:r>
            <a:b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UI screens and buttons</a:t>
            </a:r>
            <a:b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Gameplay state changes</a:t>
            </a:r>
            <a:b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Economy / rewards</a:t>
            </a:r>
            <a:b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Tutorial and failure states</a:t>
            </a:r>
            <a:endParaRPr/>
          </a:p>
        </p:txBody>
      </p:sp>
      <p:sp>
        <p:nvSpPr>
          <p:cNvPr id="890" name="Google Shape;890;p19"/>
          <p:cNvSpPr/>
          <p:nvPr/>
        </p:nvSpPr>
        <p:spPr>
          <a:xfrm>
            <a:off x="4041648" y="1572768"/>
            <a:ext cx="3840480" cy="2743200"/>
          </a:xfrm>
          <a:prstGeom prst="rect">
            <a:avLst/>
          </a:prstGeom>
          <a:solidFill>
            <a:srgbClr val="121508">
              <a:alpha val="90196"/>
            </a:srgbClr>
          </a:solidFill>
          <a:ln cap="flat" cmpd="sng" w="15225">
            <a:solidFill>
              <a:srgbClr val="FFC4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1" name="Google Shape;891;p19"/>
          <p:cNvSpPr/>
          <p:nvPr/>
        </p:nvSpPr>
        <p:spPr>
          <a:xfrm>
            <a:off x="4114800" y="1655064"/>
            <a:ext cx="256032" cy="9144"/>
          </a:xfrm>
          <a:prstGeom prst="rect">
            <a:avLst/>
          </a:prstGeom>
          <a:solidFill>
            <a:srgbClr val="FFC4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p19"/>
          <p:cNvSpPr/>
          <p:nvPr/>
        </p:nvSpPr>
        <p:spPr>
          <a:xfrm>
            <a:off x="7534656" y="4206240"/>
            <a:ext cx="256032" cy="9144"/>
          </a:xfrm>
          <a:prstGeom prst="rect">
            <a:avLst/>
          </a:prstGeom>
          <a:solidFill>
            <a:srgbClr val="FFC4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3" name="Google Shape;893;p19"/>
          <p:cNvSpPr txBox="1"/>
          <p:nvPr/>
        </p:nvSpPr>
        <p:spPr>
          <a:xfrm>
            <a:off x="4206240" y="1737360"/>
            <a:ext cx="35112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Analytics Agent</a:t>
            </a:r>
            <a:endParaRPr/>
          </a:p>
        </p:txBody>
      </p:sp>
      <p:sp>
        <p:nvSpPr>
          <p:cNvPr id="894" name="Google Shape;894;p19"/>
          <p:cNvSpPr txBox="1"/>
          <p:nvPr/>
        </p:nvSpPr>
        <p:spPr>
          <a:xfrm>
            <a:off x="4206240" y="2075688"/>
            <a:ext cx="3511296" cy="2148840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Creates a tracking contract:</a:t>
            </a:r>
            <a:br>
              <a:rPr b="0" i="0" lang="en-US" sz="13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3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event schema</a:t>
            </a:r>
            <a:br>
              <a:rPr b="0" i="0" lang="en-US" sz="13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3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required properties</a:t>
            </a:r>
            <a:br>
              <a:rPr b="0" i="0" lang="en-US" sz="13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3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trigger map in code</a:t>
            </a:r>
            <a:br>
              <a:rPr b="0" i="0" lang="en-US" sz="13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3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funnels and cohorts</a:t>
            </a:r>
            <a:br>
              <a:rPr b="0" i="0" lang="en-US" sz="13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3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dashboard questions</a:t>
            </a:r>
            <a:br>
              <a:rPr b="0" i="0" lang="en-US" sz="13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3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test coverage plan</a:t>
            </a:r>
            <a:endParaRPr/>
          </a:p>
        </p:txBody>
      </p:sp>
      <p:sp>
        <p:nvSpPr>
          <p:cNvPr id="895" name="Google Shape;895;p19"/>
          <p:cNvSpPr/>
          <p:nvPr/>
        </p:nvSpPr>
        <p:spPr>
          <a:xfrm>
            <a:off x="8211312" y="1783080"/>
            <a:ext cx="3246120" cy="2331720"/>
          </a:xfrm>
          <a:prstGeom prst="rect">
            <a:avLst/>
          </a:prstGeom>
          <a:solidFill>
            <a:srgbClr val="041A12">
              <a:alpha val="90196"/>
            </a:srgbClr>
          </a:solidFill>
          <a:ln cap="flat" cmpd="sng" w="15225">
            <a:solidFill>
              <a:srgbClr val="62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6" name="Google Shape;896;p19"/>
          <p:cNvSpPr/>
          <p:nvPr/>
        </p:nvSpPr>
        <p:spPr>
          <a:xfrm>
            <a:off x="8284464" y="1865376"/>
            <a:ext cx="256032" cy="9144"/>
          </a:xfrm>
          <a:prstGeom prst="rect">
            <a:avLst/>
          </a:prstGeom>
          <a:solidFill>
            <a:srgbClr val="62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19"/>
          <p:cNvSpPr/>
          <p:nvPr/>
        </p:nvSpPr>
        <p:spPr>
          <a:xfrm>
            <a:off x="11109960" y="4005072"/>
            <a:ext cx="256032" cy="9144"/>
          </a:xfrm>
          <a:prstGeom prst="rect">
            <a:avLst/>
          </a:prstGeom>
          <a:solidFill>
            <a:srgbClr val="62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8" name="Google Shape;898;p19"/>
          <p:cNvSpPr txBox="1"/>
          <p:nvPr/>
        </p:nvSpPr>
        <p:spPr>
          <a:xfrm>
            <a:off x="8375904" y="1947672"/>
            <a:ext cx="291693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Outputs delivered</a:t>
            </a:r>
            <a:endParaRPr/>
          </a:p>
        </p:txBody>
      </p:sp>
      <p:sp>
        <p:nvSpPr>
          <p:cNvPr id="899" name="Google Shape;899;p19"/>
          <p:cNvSpPr txBox="1"/>
          <p:nvPr/>
        </p:nvSpPr>
        <p:spPr>
          <a:xfrm>
            <a:off x="8375904" y="2286000"/>
            <a:ext cx="2916936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Tracking plan for PM approval</a:t>
            </a:r>
            <a:b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Codex implementation tasks</a:t>
            </a:r>
            <a:b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QA analytics checks</a:t>
            </a:r>
            <a:b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BigQuery / Firebase / Mixpanel dashboard needs</a:t>
            </a:r>
            <a:b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Data-quality acceptance criteria</a:t>
            </a:r>
            <a:endParaRPr/>
          </a:p>
        </p:txBody>
      </p:sp>
      <p:cxnSp>
        <p:nvCxnSpPr>
          <p:cNvPr id="900" name="Google Shape;900;p19"/>
          <p:cNvCxnSpPr/>
          <p:nvPr/>
        </p:nvCxnSpPr>
        <p:spPr>
          <a:xfrm>
            <a:off x="3703320" y="2907792"/>
            <a:ext cx="338328" cy="0"/>
          </a:xfrm>
          <a:prstGeom prst="straightConnector1">
            <a:avLst/>
          </a:prstGeom>
          <a:noFill/>
          <a:ln cap="flat" cmpd="sng" w="1777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901" name="Google Shape;901;p19"/>
          <p:cNvCxnSpPr/>
          <p:nvPr/>
        </p:nvCxnSpPr>
        <p:spPr>
          <a:xfrm>
            <a:off x="7882127" y="2907792"/>
            <a:ext cx="329185" cy="0"/>
          </a:xfrm>
          <a:prstGeom prst="straightConnector1">
            <a:avLst/>
          </a:prstGeom>
          <a:noFill/>
          <a:ln cap="flat" cmpd="sng" w="17775">
            <a:solidFill>
              <a:srgbClr val="62FF9A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02" name="Google Shape;902;p19"/>
          <p:cNvSpPr/>
          <p:nvPr/>
        </p:nvSpPr>
        <p:spPr>
          <a:xfrm>
            <a:off x="1005840" y="4709160"/>
            <a:ext cx="1417320" cy="411480"/>
          </a:xfrm>
          <a:prstGeom prst="rect">
            <a:avLst/>
          </a:prstGeom>
          <a:solidFill>
            <a:srgbClr val="041B22">
              <a:alpha val="90196"/>
            </a:srgbClr>
          </a:solidFill>
          <a:ln cap="flat" cmpd="sng" w="1395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3" name="Google Shape;903;p19"/>
          <p:cNvSpPr txBox="1"/>
          <p:nvPr/>
        </p:nvSpPr>
        <p:spPr>
          <a:xfrm>
            <a:off x="1051560" y="4782312"/>
            <a:ext cx="132588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Plan</a:t>
            </a:r>
            <a:endParaRPr/>
          </a:p>
        </p:txBody>
      </p:sp>
      <p:cxnSp>
        <p:nvCxnSpPr>
          <p:cNvPr id="904" name="Google Shape;904;p19"/>
          <p:cNvCxnSpPr/>
          <p:nvPr/>
        </p:nvCxnSpPr>
        <p:spPr>
          <a:xfrm>
            <a:off x="2423160" y="4910328"/>
            <a:ext cx="548640" cy="0"/>
          </a:xfrm>
          <a:prstGeom prst="straightConnector1">
            <a:avLst/>
          </a:prstGeom>
          <a:noFill/>
          <a:ln cap="flat" cmpd="sng" w="13950">
            <a:solidFill>
              <a:srgbClr val="007788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05" name="Google Shape;905;p19"/>
          <p:cNvSpPr/>
          <p:nvPr/>
        </p:nvSpPr>
        <p:spPr>
          <a:xfrm>
            <a:off x="3063240" y="4709160"/>
            <a:ext cx="1417320" cy="411480"/>
          </a:xfrm>
          <a:prstGeom prst="rect">
            <a:avLst/>
          </a:prstGeom>
          <a:solidFill>
            <a:srgbClr val="041B22">
              <a:alpha val="90196"/>
            </a:srgbClr>
          </a:solidFill>
          <a:ln cap="flat" cmpd="sng" w="13950">
            <a:solidFill>
              <a:srgbClr val="FFC4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19"/>
          <p:cNvSpPr txBox="1"/>
          <p:nvPr/>
        </p:nvSpPr>
        <p:spPr>
          <a:xfrm>
            <a:off x="3108960" y="4782312"/>
            <a:ext cx="132588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Approve</a:t>
            </a:r>
            <a:endParaRPr/>
          </a:p>
        </p:txBody>
      </p:sp>
      <p:cxnSp>
        <p:nvCxnSpPr>
          <p:cNvPr id="907" name="Google Shape;907;p19"/>
          <p:cNvCxnSpPr/>
          <p:nvPr/>
        </p:nvCxnSpPr>
        <p:spPr>
          <a:xfrm>
            <a:off x="4480560" y="4910328"/>
            <a:ext cx="548640" cy="0"/>
          </a:xfrm>
          <a:prstGeom prst="straightConnector1">
            <a:avLst/>
          </a:prstGeom>
          <a:noFill/>
          <a:ln cap="flat" cmpd="sng" w="13950">
            <a:solidFill>
              <a:srgbClr val="007788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08" name="Google Shape;908;p19"/>
          <p:cNvSpPr/>
          <p:nvPr/>
        </p:nvSpPr>
        <p:spPr>
          <a:xfrm>
            <a:off x="5120640" y="4709160"/>
            <a:ext cx="1417320" cy="411480"/>
          </a:xfrm>
          <a:prstGeom prst="rect">
            <a:avLst/>
          </a:prstGeom>
          <a:solidFill>
            <a:srgbClr val="041B22">
              <a:alpha val="90196"/>
            </a:srgbClr>
          </a:solidFill>
          <a:ln cap="flat" cmpd="sng" w="1395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p19"/>
          <p:cNvSpPr txBox="1"/>
          <p:nvPr/>
        </p:nvSpPr>
        <p:spPr>
          <a:xfrm>
            <a:off x="5166359" y="4782312"/>
            <a:ext cx="132588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Implement</a:t>
            </a:r>
            <a:endParaRPr/>
          </a:p>
        </p:txBody>
      </p:sp>
      <p:cxnSp>
        <p:nvCxnSpPr>
          <p:cNvPr id="910" name="Google Shape;910;p19"/>
          <p:cNvCxnSpPr/>
          <p:nvPr/>
        </p:nvCxnSpPr>
        <p:spPr>
          <a:xfrm>
            <a:off x="6537959" y="4910328"/>
            <a:ext cx="548641" cy="0"/>
          </a:xfrm>
          <a:prstGeom prst="straightConnector1">
            <a:avLst/>
          </a:prstGeom>
          <a:noFill/>
          <a:ln cap="flat" cmpd="sng" w="13950">
            <a:solidFill>
              <a:srgbClr val="007788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11" name="Google Shape;911;p19"/>
          <p:cNvSpPr/>
          <p:nvPr/>
        </p:nvSpPr>
        <p:spPr>
          <a:xfrm>
            <a:off x="7178040" y="4709160"/>
            <a:ext cx="1417320" cy="411480"/>
          </a:xfrm>
          <a:prstGeom prst="rect">
            <a:avLst/>
          </a:prstGeom>
          <a:solidFill>
            <a:srgbClr val="041B22">
              <a:alpha val="90196"/>
            </a:srgbClr>
          </a:solidFill>
          <a:ln cap="flat" cmpd="sng" w="13950">
            <a:solidFill>
              <a:srgbClr val="62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2" name="Google Shape;912;p19"/>
          <p:cNvSpPr txBox="1"/>
          <p:nvPr/>
        </p:nvSpPr>
        <p:spPr>
          <a:xfrm>
            <a:off x="7223759" y="4782312"/>
            <a:ext cx="132588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Validate</a:t>
            </a:r>
            <a:endParaRPr/>
          </a:p>
        </p:txBody>
      </p:sp>
      <p:cxnSp>
        <p:nvCxnSpPr>
          <p:cNvPr id="913" name="Google Shape;913;p19"/>
          <p:cNvCxnSpPr/>
          <p:nvPr/>
        </p:nvCxnSpPr>
        <p:spPr>
          <a:xfrm>
            <a:off x="8595360" y="4910328"/>
            <a:ext cx="548640" cy="0"/>
          </a:xfrm>
          <a:prstGeom prst="straightConnector1">
            <a:avLst/>
          </a:prstGeom>
          <a:noFill/>
          <a:ln cap="flat" cmpd="sng" w="13950">
            <a:solidFill>
              <a:srgbClr val="007788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14" name="Google Shape;914;p19"/>
          <p:cNvSpPr/>
          <p:nvPr/>
        </p:nvSpPr>
        <p:spPr>
          <a:xfrm>
            <a:off x="9235440" y="4709160"/>
            <a:ext cx="1417320" cy="411480"/>
          </a:xfrm>
          <a:prstGeom prst="rect">
            <a:avLst/>
          </a:prstGeom>
          <a:solidFill>
            <a:srgbClr val="041B22">
              <a:alpha val="90196"/>
            </a:srgbClr>
          </a:solidFill>
          <a:ln cap="flat" cmpd="sng" w="13950">
            <a:solidFill>
              <a:srgbClr val="FFC4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19"/>
          <p:cNvSpPr txBox="1"/>
          <p:nvPr/>
        </p:nvSpPr>
        <p:spPr>
          <a:xfrm>
            <a:off x="9281160" y="4782312"/>
            <a:ext cx="132588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Dashboard</a:t>
            </a:r>
            <a:endParaRPr/>
          </a:p>
        </p:txBody>
      </p:sp>
      <p:sp>
        <p:nvSpPr>
          <p:cNvPr id="916" name="Google Shape;916;p19"/>
          <p:cNvSpPr/>
          <p:nvPr/>
        </p:nvSpPr>
        <p:spPr>
          <a:xfrm>
            <a:off x="868680" y="5596128"/>
            <a:ext cx="10424160" cy="530352"/>
          </a:xfrm>
          <a:prstGeom prst="rect">
            <a:avLst/>
          </a:prstGeom>
          <a:solidFill>
            <a:srgbClr val="041B22">
              <a:alpha val="90196"/>
            </a:srgbClr>
          </a:solidFill>
          <a:ln cap="flat" cmpd="sng" w="15225">
            <a:solidFill>
              <a:srgbClr val="FFC4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7" name="Google Shape;917;p19"/>
          <p:cNvSpPr txBox="1"/>
          <p:nvPr/>
        </p:nvSpPr>
        <p:spPr>
          <a:xfrm>
            <a:off x="960120" y="5705856"/>
            <a:ext cx="10241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FFC400"/>
                </a:solidFill>
                <a:latin typeface="Arial"/>
                <a:ea typeface="Arial"/>
                <a:cs typeface="Arial"/>
                <a:sym typeface="Arial"/>
              </a:rPr>
              <a:t>Analytics instrumentation becomes part of the production pipeline — not an afterthought.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22" name="Google Shape;922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3" name="Google Shape;923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8117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4" name="Google Shape;924;p2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5" name="Google Shape;925;p20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FFC4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20"/>
          <p:cNvSpPr txBox="1"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UNITY ANALYTICS INSTRUMENTATION</a:t>
            </a:r>
            <a:endParaRPr/>
          </a:p>
        </p:txBody>
      </p:sp>
      <p:sp>
        <p:nvSpPr>
          <p:cNvPr id="927" name="Google Shape;927;p20"/>
          <p:cNvSpPr/>
          <p:nvPr/>
        </p:nvSpPr>
        <p:spPr>
          <a:xfrm>
            <a:off x="292608" y="292608"/>
            <a:ext cx="685800" cy="914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8" name="Google Shape;928;p20"/>
          <p:cNvSpPr/>
          <p:nvPr/>
        </p:nvSpPr>
        <p:spPr>
          <a:xfrm>
            <a:off x="292608" y="292608"/>
            <a:ext cx="9144" cy="43891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9" name="Google Shape;929;p20"/>
          <p:cNvSpPr/>
          <p:nvPr/>
        </p:nvSpPr>
        <p:spPr>
          <a:xfrm>
            <a:off x="11210544" y="292608"/>
            <a:ext cx="685800" cy="914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0" name="Google Shape;930;p20"/>
          <p:cNvSpPr/>
          <p:nvPr/>
        </p:nvSpPr>
        <p:spPr>
          <a:xfrm>
            <a:off x="11896344" y="292608"/>
            <a:ext cx="9144" cy="43891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1" name="Google Shape;931;p20"/>
          <p:cNvSpPr/>
          <p:nvPr/>
        </p:nvSpPr>
        <p:spPr>
          <a:xfrm>
            <a:off x="292608" y="6126480"/>
            <a:ext cx="685800" cy="914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2" name="Google Shape;932;p20"/>
          <p:cNvSpPr/>
          <p:nvPr/>
        </p:nvSpPr>
        <p:spPr>
          <a:xfrm>
            <a:off x="292608" y="6126480"/>
            <a:ext cx="9144" cy="43891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3" name="Google Shape;933;p20"/>
          <p:cNvSpPr/>
          <p:nvPr/>
        </p:nvSpPr>
        <p:spPr>
          <a:xfrm>
            <a:off x="11210544" y="6126480"/>
            <a:ext cx="685800" cy="914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4" name="Google Shape;934;p20"/>
          <p:cNvSpPr/>
          <p:nvPr/>
        </p:nvSpPr>
        <p:spPr>
          <a:xfrm>
            <a:off x="11896344" y="6126480"/>
            <a:ext cx="9144" cy="43891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20"/>
          <p:cNvSpPr/>
          <p:nvPr/>
        </p:nvSpPr>
        <p:spPr>
          <a:xfrm>
            <a:off x="576072" y="6428232"/>
            <a:ext cx="10881360" cy="9144"/>
          </a:xfrm>
          <a:prstGeom prst="rect">
            <a:avLst/>
          </a:prstGeom>
          <a:solidFill>
            <a:srgbClr val="007788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6" name="Google Shape;936;p20"/>
          <p:cNvSpPr txBox="1"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>
                <a:solidFill>
                  <a:srgbClr val="7D9198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/>
          </a:p>
        </p:txBody>
      </p:sp>
      <p:sp>
        <p:nvSpPr>
          <p:cNvPr id="937" name="Google Shape;937;p20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/>
          </a:p>
        </p:txBody>
      </p:sp>
      <p:sp>
        <p:nvSpPr>
          <p:cNvPr id="938" name="Google Shape;938;p20"/>
          <p:cNvSpPr txBox="1"/>
          <p:nvPr/>
        </p:nvSpPr>
        <p:spPr>
          <a:xfrm>
            <a:off x="658368" y="530352"/>
            <a:ext cx="10881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AI decides where tracking belongs — then proves it</a:t>
            </a:r>
            <a:endParaRPr/>
          </a:p>
        </p:txBody>
      </p:sp>
      <p:sp>
        <p:nvSpPr>
          <p:cNvPr id="939" name="Google Shape;939;p20"/>
          <p:cNvSpPr txBox="1"/>
          <p:nvPr/>
        </p:nvSpPr>
        <p:spPr>
          <a:xfrm>
            <a:off x="694944" y="1069848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The agent should not randomly inject analytics calls. It proposes trigger points, event names, properties, and validation tests as a reviewable contract.</a:t>
            </a:r>
            <a:endParaRPr/>
          </a:p>
        </p:txBody>
      </p:sp>
      <p:sp>
        <p:nvSpPr>
          <p:cNvPr id="940" name="Google Shape;940;p20"/>
          <p:cNvSpPr txBox="1"/>
          <p:nvPr/>
        </p:nvSpPr>
        <p:spPr>
          <a:xfrm>
            <a:off x="841248" y="1755648"/>
            <a:ext cx="2834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Unity trigger map</a:t>
            </a:r>
            <a:endParaRPr/>
          </a:p>
        </p:txBody>
      </p:sp>
      <p:sp>
        <p:nvSpPr>
          <p:cNvPr id="941" name="Google Shape;941;p20"/>
          <p:cNvSpPr/>
          <p:nvPr/>
        </p:nvSpPr>
        <p:spPr>
          <a:xfrm>
            <a:off x="777240" y="2148840"/>
            <a:ext cx="3063240" cy="429768"/>
          </a:xfrm>
          <a:prstGeom prst="rect">
            <a:avLst/>
          </a:prstGeom>
          <a:solidFill>
            <a:srgbClr val="041B22">
              <a:alpha val="90196"/>
            </a:srgbClr>
          </a:solidFill>
          <a:ln cap="flat" cmpd="sng" w="114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2" name="Google Shape;942;p20"/>
          <p:cNvSpPr txBox="1"/>
          <p:nvPr/>
        </p:nvSpPr>
        <p:spPr>
          <a:xfrm>
            <a:off x="914400" y="2221992"/>
            <a:ext cx="12344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UI action</a:t>
            </a:r>
            <a:endParaRPr/>
          </a:p>
        </p:txBody>
      </p:sp>
      <p:sp>
        <p:nvSpPr>
          <p:cNvPr id="943" name="Google Shape;943;p20"/>
          <p:cNvSpPr txBox="1"/>
          <p:nvPr/>
        </p:nvSpPr>
        <p:spPr>
          <a:xfrm>
            <a:off x="2057400" y="2221992"/>
            <a:ext cx="1600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button click • screen enter</a:t>
            </a:r>
            <a:endParaRPr/>
          </a:p>
        </p:txBody>
      </p:sp>
      <p:sp>
        <p:nvSpPr>
          <p:cNvPr id="944" name="Google Shape;944;p20"/>
          <p:cNvSpPr/>
          <p:nvPr/>
        </p:nvSpPr>
        <p:spPr>
          <a:xfrm>
            <a:off x="777240" y="2724912"/>
            <a:ext cx="3063240" cy="429768"/>
          </a:xfrm>
          <a:prstGeom prst="rect">
            <a:avLst/>
          </a:prstGeom>
          <a:solidFill>
            <a:srgbClr val="041B22">
              <a:alpha val="90196"/>
            </a:srgbClr>
          </a:solidFill>
          <a:ln cap="flat" cmpd="sng" w="114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5" name="Google Shape;945;p20"/>
          <p:cNvSpPr txBox="1"/>
          <p:nvPr/>
        </p:nvSpPr>
        <p:spPr>
          <a:xfrm>
            <a:off x="914400" y="2798064"/>
            <a:ext cx="12344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Tutorial gate</a:t>
            </a:r>
            <a:endParaRPr/>
          </a:p>
        </p:txBody>
      </p:sp>
      <p:sp>
        <p:nvSpPr>
          <p:cNvPr id="946" name="Google Shape;946;p20"/>
          <p:cNvSpPr txBox="1"/>
          <p:nvPr/>
        </p:nvSpPr>
        <p:spPr>
          <a:xfrm>
            <a:off x="2057400" y="2798064"/>
            <a:ext cx="1600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step start / complete / fail</a:t>
            </a:r>
            <a:endParaRPr/>
          </a:p>
        </p:txBody>
      </p:sp>
      <p:sp>
        <p:nvSpPr>
          <p:cNvPr id="947" name="Google Shape;947;p20"/>
          <p:cNvSpPr/>
          <p:nvPr/>
        </p:nvSpPr>
        <p:spPr>
          <a:xfrm>
            <a:off x="777240" y="3300984"/>
            <a:ext cx="3063240" cy="429768"/>
          </a:xfrm>
          <a:prstGeom prst="rect">
            <a:avLst/>
          </a:prstGeom>
          <a:solidFill>
            <a:srgbClr val="041B22">
              <a:alpha val="90196"/>
            </a:srgbClr>
          </a:solidFill>
          <a:ln cap="flat" cmpd="sng" w="11425">
            <a:solidFill>
              <a:srgbClr val="007788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20"/>
          <p:cNvSpPr txBox="1"/>
          <p:nvPr/>
        </p:nvSpPr>
        <p:spPr>
          <a:xfrm>
            <a:off x="914400" y="3374136"/>
            <a:ext cx="12344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Mission state</a:t>
            </a:r>
            <a:endParaRPr/>
          </a:p>
        </p:txBody>
      </p:sp>
      <p:sp>
        <p:nvSpPr>
          <p:cNvPr id="949" name="Google Shape;949;p20"/>
          <p:cNvSpPr txBox="1"/>
          <p:nvPr/>
        </p:nvSpPr>
        <p:spPr>
          <a:xfrm>
            <a:off x="2057400" y="3374136"/>
            <a:ext cx="1600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start • win • abandon • retry</a:t>
            </a:r>
            <a:endParaRPr/>
          </a:p>
        </p:txBody>
      </p:sp>
      <p:sp>
        <p:nvSpPr>
          <p:cNvPr id="950" name="Google Shape;950;p20"/>
          <p:cNvSpPr/>
          <p:nvPr/>
        </p:nvSpPr>
        <p:spPr>
          <a:xfrm>
            <a:off x="777240" y="3877056"/>
            <a:ext cx="3063240" cy="429768"/>
          </a:xfrm>
          <a:prstGeom prst="rect">
            <a:avLst/>
          </a:prstGeom>
          <a:solidFill>
            <a:srgbClr val="041B22">
              <a:alpha val="90196"/>
            </a:srgbClr>
          </a:solidFill>
          <a:ln cap="flat" cmpd="sng" w="11425">
            <a:solidFill>
              <a:srgbClr val="007788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1" name="Google Shape;951;p20"/>
          <p:cNvSpPr txBox="1"/>
          <p:nvPr/>
        </p:nvSpPr>
        <p:spPr>
          <a:xfrm>
            <a:off x="914400" y="3950208"/>
            <a:ext cx="12344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Economy event</a:t>
            </a:r>
            <a:endParaRPr/>
          </a:p>
        </p:txBody>
      </p:sp>
      <p:sp>
        <p:nvSpPr>
          <p:cNvPr id="952" name="Google Shape;952;p20"/>
          <p:cNvSpPr txBox="1"/>
          <p:nvPr/>
        </p:nvSpPr>
        <p:spPr>
          <a:xfrm>
            <a:off x="2057400" y="3950208"/>
            <a:ext cx="1600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reward • spend • unlock</a:t>
            </a:r>
            <a:endParaRPr/>
          </a:p>
        </p:txBody>
      </p:sp>
      <p:sp>
        <p:nvSpPr>
          <p:cNvPr id="953" name="Google Shape;953;p20"/>
          <p:cNvSpPr/>
          <p:nvPr/>
        </p:nvSpPr>
        <p:spPr>
          <a:xfrm>
            <a:off x="777240" y="4453128"/>
            <a:ext cx="3063240" cy="429768"/>
          </a:xfrm>
          <a:prstGeom prst="rect">
            <a:avLst/>
          </a:prstGeom>
          <a:solidFill>
            <a:srgbClr val="041B22">
              <a:alpha val="90196"/>
            </a:srgbClr>
          </a:solidFill>
          <a:ln cap="flat" cmpd="sng" w="11425">
            <a:solidFill>
              <a:srgbClr val="007788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4" name="Google Shape;954;p20"/>
          <p:cNvSpPr txBox="1"/>
          <p:nvPr/>
        </p:nvSpPr>
        <p:spPr>
          <a:xfrm>
            <a:off x="914400" y="4526280"/>
            <a:ext cx="12344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Gameplay signal</a:t>
            </a:r>
            <a:endParaRPr/>
          </a:p>
        </p:txBody>
      </p:sp>
      <p:sp>
        <p:nvSpPr>
          <p:cNvPr id="955" name="Google Shape;955;p20"/>
          <p:cNvSpPr txBox="1"/>
          <p:nvPr/>
        </p:nvSpPr>
        <p:spPr>
          <a:xfrm>
            <a:off x="2057400" y="4526280"/>
            <a:ext cx="1600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unit deploy • objective captured</a:t>
            </a:r>
            <a:endParaRPr/>
          </a:p>
        </p:txBody>
      </p:sp>
      <p:sp>
        <p:nvSpPr>
          <p:cNvPr id="956" name="Google Shape;956;p20"/>
          <p:cNvSpPr/>
          <p:nvPr/>
        </p:nvSpPr>
        <p:spPr>
          <a:xfrm>
            <a:off x="4343400" y="1783080"/>
            <a:ext cx="3337560" cy="3246120"/>
          </a:xfrm>
          <a:prstGeom prst="rect">
            <a:avLst/>
          </a:prstGeom>
          <a:solidFill>
            <a:srgbClr val="06171B">
              <a:alpha val="92156"/>
            </a:srgbClr>
          </a:solidFill>
          <a:ln cap="flat" cmpd="sng" w="15225">
            <a:solidFill>
              <a:srgbClr val="FFC4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7" name="Google Shape;957;p20"/>
          <p:cNvSpPr txBox="1"/>
          <p:nvPr/>
        </p:nvSpPr>
        <p:spPr>
          <a:xfrm>
            <a:off x="4572000" y="1993392"/>
            <a:ext cx="2880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FFC400"/>
                </a:solidFill>
                <a:latin typeface="Arial"/>
                <a:ea typeface="Arial"/>
                <a:cs typeface="Arial"/>
                <a:sym typeface="Arial"/>
              </a:rPr>
              <a:t>Event contract</a:t>
            </a:r>
            <a:endParaRPr/>
          </a:p>
        </p:txBody>
      </p:sp>
      <p:sp>
        <p:nvSpPr>
          <p:cNvPr id="958" name="Google Shape;958;p20"/>
          <p:cNvSpPr txBox="1"/>
          <p:nvPr/>
        </p:nvSpPr>
        <p:spPr>
          <a:xfrm>
            <a:off x="4617720" y="2423160"/>
            <a:ext cx="278892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>
                <a:solidFill>
                  <a:srgbClr val="ECFAFF"/>
                </a:solidFill>
                <a:latin typeface="Cascadia Mono"/>
                <a:ea typeface="Cascadia Mono"/>
                <a:cs typeface="Cascadia Mono"/>
                <a:sym typeface="Cascadia Mono"/>
              </a:rPr>
              <a:t>mission_started</a:t>
            </a:r>
            <a:br>
              <a:rPr b="0" i="0" lang="en-US" sz="1350">
                <a:solidFill>
                  <a:srgbClr val="ECFAFF"/>
                </a:solidFill>
                <a:latin typeface="Cascadia Mono"/>
                <a:ea typeface="Cascadia Mono"/>
                <a:cs typeface="Cascadia Mono"/>
                <a:sym typeface="Cascadia Mono"/>
              </a:rPr>
            </a:br>
            <a:r>
              <a:rPr b="0" i="0" lang="en-US" sz="1350">
                <a:solidFill>
                  <a:srgbClr val="ECFAFF"/>
                </a:solidFill>
                <a:latin typeface="Cascadia Mono"/>
                <a:ea typeface="Cascadia Mono"/>
                <a:cs typeface="Cascadia Mono"/>
                <a:sym typeface="Cascadia Mono"/>
              </a:rPr>
              <a:t>mission_abandoned</a:t>
            </a:r>
            <a:br>
              <a:rPr b="0" i="0" lang="en-US" sz="1350">
                <a:solidFill>
                  <a:srgbClr val="ECFAFF"/>
                </a:solidFill>
                <a:latin typeface="Cascadia Mono"/>
                <a:ea typeface="Cascadia Mono"/>
                <a:cs typeface="Cascadia Mono"/>
                <a:sym typeface="Cascadia Mono"/>
              </a:rPr>
            </a:br>
            <a:r>
              <a:rPr b="0" i="0" lang="en-US" sz="1350">
                <a:solidFill>
                  <a:srgbClr val="ECFAFF"/>
                </a:solidFill>
                <a:latin typeface="Cascadia Mono"/>
                <a:ea typeface="Cascadia Mono"/>
                <a:cs typeface="Cascadia Mono"/>
                <a:sym typeface="Cascadia Mono"/>
              </a:rPr>
              <a:t>tutorial_step_completed</a:t>
            </a:r>
            <a:br>
              <a:rPr b="0" i="0" lang="en-US" sz="1350">
                <a:solidFill>
                  <a:srgbClr val="ECFAFF"/>
                </a:solidFill>
                <a:latin typeface="Cascadia Mono"/>
                <a:ea typeface="Cascadia Mono"/>
                <a:cs typeface="Cascadia Mono"/>
                <a:sym typeface="Cascadia Mono"/>
              </a:rPr>
            </a:br>
            <a:r>
              <a:rPr b="0" i="0" lang="en-US" sz="1350">
                <a:solidFill>
                  <a:srgbClr val="ECFAFF"/>
                </a:solidFill>
                <a:latin typeface="Cascadia Mono"/>
                <a:ea typeface="Cascadia Mono"/>
                <a:cs typeface="Cascadia Mono"/>
                <a:sym typeface="Cascadia Mono"/>
              </a:rPr>
              <a:t>unit_deployed</a:t>
            </a:r>
            <a:br>
              <a:rPr b="0" i="0" lang="en-US" sz="1350">
                <a:solidFill>
                  <a:srgbClr val="ECFAFF"/>
                </a:solidFill>
                <a:latin typeface="Cascadia Mono"/>
                <a:ea typeface="Cascadia Mono"/>
                <a:cs typeface="Cascadia Mono"/>
                <a:sym typeface="Cascadia Mono"/>
              </a:rPr>
            </a:br>
            <a:r>
              <a:rPr b="0" i="0" lang="en-US" sz="1350">
                <a:solidFill>
                  <a:srgbClr val="ECFAFF"/>
                </a:solidFill>
                <a:latin typeface="Cascadia Mono"/>
                <a:ea typeface="Cascadia Mono"/>
                <a:cs typeface="Cascadia Mono"/>
                <a:sym typeface="Cascadia Mono"/>
              </a:rPr>
              <a:t>reward_claimed</a:t>
            </a:r>
            <a:endParaRPr/>
          </a:p>
        </p:txBody>
      </p:sp>
      <p:sp>
        <p:nvSpPr>
          <p:cNvPr id="959" name="Google Shape;959;p20"/>
          <p:cNvSpPr txBox="1"/>
          <p:nvPr/>
        </p:nvSpPr>
        <p:spPr>
          <a:xfrm>
            <a:off x="4617720" y="3886200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Required properties: mission_id, step_id, player_level, attempt_no, build_version, session_id</a:t>
            </a:r>
            <a:endParaRPr/>
          </a:p>
        </p:txBody>
      </p:sp>
      <p:sp>
        <p:nvSpPr>
          <p:cNvPr id="960" name="Google Shape;960;p20"/>
          <p:cNvSpPr/>
          <p:nvPr/>
        </p:nvSpPr>
        <p:spPr>
          <a:xfrm>
            <a:off x="8183879" y="1783080"/>
            <a:ext cx="3337560" cy="3246120"/>
          </a:xfrm>
          <a:prstGeom prst="rect">
            <a:avLst/>
          </a:prstGeom>
          <a:solidFill>
            <a:srgbClr val="031912">
              <a:alpha val="90980"/>
            </a:srgbClr>
          </a:solidFill>
          <a:ln cap="flat" cmpd="sng" w="15225">
            <a:solidFill>
              <a:srgbClr val="62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1" name="Google Shape;961;p20"/>
          <p:cNvSpPr/>
          <p:nvPr/>
        </p:nvSpPr>
        <p:spPr>
          <a:xfrm>
            <a:off x="8257031" y="1865376"/>
            <a:ext cx="256032" cy="9144"/>
          </a:xfrm>
          <a:prstGeom prst="rect">
            <a:avLst/>
          </a:prstGeom>
          <a:solidFill>
            <a:srgbClr val="62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2" name="Google Shape;962;p20"/>
          <p:cNvSpPr/>
          <p:nvPr/>
        </p:nvSpPr>
        <p:spPr>
          <a:xfrm>
            <a:off x="11173967" y="4919472"/>
            <a:ext cx="256032" cy="9144"/>
          </a:xfrm>
          <a:prstGeom prst="rect">
            <a:avLst/>
          </a:prstGeom>
          <a:solidFill>
            <a:srgbClr val="62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3" name="Google Shape;963;p20"/>
          <p:cNvSpPr txBox="1"/>
          <p:nvPr/>
        </p:nvSpPr>
        <p:spPr>
          <a:xfrm>
            <a:off x="8348471" y="1947672"/>
            <a:ext cx="300837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Guardrails</a:t>
            </a:r>
            <a:endParaRPr/>
          </a:p>
        </p:txBody>
      </p:sp>
      <p:sp>
        <p:nvSpPr>
          <p:cNvPr id="964" name="Google Shape;964;p20"/>
          <p:cNvSpPr txBox="1"/>
          <p:nvPr/>
        </p:nvSpPr>
        <p:spPr>
          <a:xfrm>
            <a:off x="8348471" y="2286000"/>
            <a:ext cx="3008376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3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PM approves schema before code changes</a:t>
            </a:r>
            <a:br>
              <a:rPr b="0" i="0" lang="en-US" sz="123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3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Privacy / consent rules checked</a:t>
            </a:r>
            <a:br>
              <a:rPr b="0" i="0" lang="en-US" sz="123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3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No missing or duplicate events</a:t>
            </a:r>
            <a:br>
              <a:rPr b="0" i="0" lang="en-US" sz="123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3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Required properties validated</a:t>
            </a:r>
            <a:br>
              <a:rPr b="0" i="0" lang="en-US" sz="123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3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Test fails if event coverage breaks</a:t>
            </a:r>
            <a:br>
              <a:rPr b="0" i="0" lang="en-US" sz="123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3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• Dashboards show data-quality warnings</a:t>
            </a:r>
            <a:endParaRPr/>
          </a:p>
        </p:txBody>
      </p:sp>
      <p:cxnSp>
        <p:nvCxnSpPr>
          <p:cNvPr id="965" name="Google Shape;965;p20"/>
          <p:cNvCxnSpPr/>
          <p:nvPr/>
        </p:nvCxnSpPr>
        <p:spPr>
          <a:xfrm>
            <a:off x="3840480" y="3291840"/>
            <a:ext cx="502920" cy="0"/>
          </a:xfrm>
          <a:prstGeom prst="straightConnector1">
            <a:avLst/>
          </a:prstGeom>
          <a:noFill/>
          <a:ln cap="flat" cmpd="sng" w="1777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966" name="Google Shape;966;p20"/>
          <p:cNvCxnSpPr/>
          <p:nvPr/>
        </p:nvCxnSpPr>
        <p:spPr>
          <a:xfrm>
            <a:off x="7680960" y="3291840"/>
            <a:ext cx="502919" cy="0"/>
          </a:xfrm>
          <a:prstGeom prst="straightConnector1">
            <a:avLst/>
          </a:prstGeom>
          <a:noFill/>
          <a:ln cap="flat" cmpd="sng" w="17775">
            <a:solidFill>
              <a:srgbClr val="62FF9A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67" name="Google Shape;967;p20"/>
          <p:cNvSpPr/>
          <p:nvPr/>
        </p:nvSpPr>
        <p:spPr>
          <a:xfrm>
            <a:off x="868680" y="5577840"/>
            <a:ext cx="10424160" cy="530352"/>
          </a:xfrm>
          <a:prstGeom prst="rect">
            <a:avLst/>
          </a:prstGeom>
          <a:solidFill>
            <a:srgbClr val="041B22">
              <a:alpha val="90196"/>
            </a:srgbClr>
          </a:solidFill>
          <a:ln cap="flat" cmpd="sng" w="15225">
            <a:solidFill>
              <a:srgbClr val="FFC4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8" name="Google Shape;968;p20"/>
          <p:cNvSpPr txBox="1"/>
          <p:nvPr/>
        </p:nvSpPr>
        <p:spPr>
          <a:xfrm>
            <a:off x="960120" y="5687568"/>
            <a:ext cx="10241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60">
                <a:solidFill>
                  <a:srgbClr val="FFC400"/>
                </a:solidFill>
                <a:latin typeface="Arial"/>
                <a:ea typeface="Arial"/>
                <a:cs typeface="Arial"/>
                <a:sym typeface="Arial"/>
              </a:rPr>
              <a:t>Codex can add the tracking calls, but the analytics contract, privacy boundary, and acceptance tests stay human-reviewable.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2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73" name="Google Shape;97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4" name="Google Shape;974;p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8117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5" name="Google Shape;975;p2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6" name="Google Shape;976;p21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FFC4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7" name="Google Shape;977;p21"/>
          <p:cNvSpPr txBox="1"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PRODUCT INTELLIGENCE LOOP</a:t>
            </a:r>
            <a:endParaRPr/>
          </a:p>
        </p:txBody>
      </p:sp>
      <p:sp>
        <p:nvSpPr>
          <p:cNvPr id="978" name="Google Shape;978;p21"/>
          <p:cNvSpPr/>
          <p:nvPr/>
        </p:nvSpPr>
        <p:spPr>
          <a:xfrm>
            <a:off x="292608" y="292608"/>
            <a:ext cx="685800" cy="914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9" name="Google Shape;979;p21"/>
          <p:cNvSpPr/>
          <p:nvPr/>
        </p:nvSpPr>
        <p:spPr>
          <a:xfrm>
            <a:off x="292608" y="292608"/>
            <a:ext cx="9144" cy="43891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0" name="Google Shape;980;p21"/>
          <p:cNvSpPr/>
          <p:nvPr/>
        </p:nvSpPr>
        <p:spPr>
          <a:xfrm>
            <a:off x="11210544" y="292608"/>
            <a:ext cx="685800" cy="914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1" name="Google Shape;981;p21"/>
          <p:cNvSpPr/>
          <p:nvPr/>
        </p:nvSpPr>
        <p:spPr>
          <a:xfrm>
            <a:off x="11896344" y="292608"/>
            <a:ext cx="9144" cy="43891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2" name="Google Shape;982;p21"/>
          <p:cNvSpPr/>
          <p:nvPr/>
        </p:nvSpPr>
        <p:spPr>
          <a:xfrm>
            <a:off x="292608" y="6126480"/>
            <a:ext cx="685800" cy="914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3" name="Google Shape;983;p21"/>
          <p:cNvSpPr/>
          <p:nvPr/>
        </p:nvSpPr>
        <p:spPr>
          <a:xfrm>
            <a:off x="292608" y="6126480"/>
            <a:ext cx="9144" cy="43891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4" name="Google Shape;984;p21"/>
          <p:cNvSpPr/>
          <p:nvPr/>
        </p:nvSpPr>
        <p:spPr>
          <a:xfrm>
            <a:off x="11210544" y="6126480"/>
            <a:ext cx="685800" cy="914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5" name="Google Shape;985;p21"/>
          <p:cNvSpPr/>
          <p:nvPr/>
        </p:nvSpPr>
        <p:spPr>
          <a:xfrm>
            <a:off x="11896344" y="6126480"/>
            <a:ext cx="9144" cy="43891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6" name="Google Shape;986;p21"/>
          <p:cNvSpPr/>
          <p:nvPr/>
        </p:nvSpPr>
        <p:spPr>
          <a:xfrm>
            <a:off x="576072" y="6428232"/>
            <a:ext cx="10881360" cy="9144"/>
          </a:xfrm>
          <a:prstGeom prst="rect">
            <a:avLst/>
          </a:prstGeom>
          <a:solidFill>
            <a:srgbClr val="007788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7" name="Google Shape;987;p21"/>
          <p:cNvSpPr txBox="1"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>
                <a:solidFill>
                  <a:srgbClr val="7D9198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/>
          </a:p>
        </p:txBody>
      </p:sp>
      <p:sp>
        <p:nvSpPr>
          <p:cNvPr id="988" name="Google Shape;988;p21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endParaRPr/>
          </a:p>
        </p:txBody>
      </p:sp>
      <p:sp>
        <p:nvSpPr>
          <p:cNvPr id="989" name="Google Shape;989;p21"/>
          <p:cNvSpPr txBox="1"/>
          <p:nvPr/>
        </p:nvSpPr>
        <p:spPr>
          <a:xfrm>
            <a:off x="658368" y="530352"/>
            <a:ext cx="10789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From telemetry to design fixes</a:t>
            </a:r>
            <a:endParaRPr/>
          </a:p>
        </p:txBody>
      </p:sp>
      <p:sp>
        <p:nvSpPr>
          <p:cNvPr id="990" name="Google Shape;990;p21"/>
          <p:cNvSpPr txBox="1"/>
          <p:nvPr/>
        </p:nvSpPr>
        <p:spPr>
          <a:xfrm>
            <a:off x="694944" y="1078992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8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Analytics Agent reads Mixpanel, Firebase, BigQuery, playtest notes, and build telemetry; then turns player behavior into hypotheses, experiments, and implementation tasks.</a:t>
            </a:r>
            <a:endParaRPr/>
          </a:p>
        </p:txBody>
      </p:sp>
      <p:sp>
        <p:nvSpPr>
          <p:cNvPr id="991" name="Google Shape;991;p21"/>
          <p:cNvSpPr/>
          <p:nvPr/>
        </p:nvSpPr>
        <p:spPr>
          <a:xfrm>
            <a:off x="868680" y="1691640"/>
            <a:ext cx="2011680" cy="457200"/>
          </a:xfrm>
          <a:prstGeom prst="rect">
            <a:avLst/>
          </a:prstGeom>
          <a:solidFill>
            <a:srgbClr val="041B22">
              <a:alpha val="90196"/>
            </a:srgbClr>
          </a:solidFill>
          <a:ln cap="flat" cmpd="sng" w="1395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2" name="Google Shape;992;p21"/>
          <p:cNvSpPr txBox="1"/>
          <p:nvPr/>
        </p:nvSpPr>
        <p:spPr>
          <a:xfrm>
            <a:off x="914400" y="176479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Mixpanel</a:t>
            </a:r>
            <a:endParaRPr/>
          </a:p>
        </p:txBody>
      </p:sp>
      <p:cxnSp>
        <p:nvCxnSpPr>
          <p:cNvPr id="993" name="Google Shape;993;p21"/>
          <p:cNvCxnSpPr/>
          <p:nvPr/>
        </p:nvCxnSpPr>
        <p:spPr>
          <a:xfrm>
            <a:off x="1874519" y="2148840"/>
            <a:ext cx="4206241" cy="484632"/>
          </a:xfrm>
          <a:prstGeom prst="straightConnector1">
            <a:avLst/>
          </a:prstGeom>
          <a:noFill/>
          <a:ln cap="flat" cmpd="sng" w="11425">
            <a:solidFill>
              <a:srgbClr val="007788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94" name="Google Shape;994;p21"/>
          <p:cNvSpPr/>
          <p:nvPr/>
        </p:nvSpPr>
        <p:spPr>
          <a:xfrm>
            <a:off x="3383280" y="1691640"/>
            <a:ext cx="2011680" cy="457200"/>
          </a:xfrm>
          <a:prstGeom prst="rect">
            <a:avLst/>
          </a:prstGeom>
          <a:solidFill>
            <a:srgbClr val="041B22">
              <a:alpha val="90196"/>
            </a:srgbClr>
          </a:solidFill>
          <a:ln cap="flat" cmpd="sng" w="13950">
            <a:solidFill>
              <a:srgbClr val="FFC4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5" name="Google Shape;995;p21"/>
          <p:cNvSpPr txBox="1"/>
          <p:nvPr/>
        </p:nvSpPr>
        <p:spPr>
          <a:xfrm>
            <a:off x="3429000" y="176479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Firebase</a:t>
            </a:r>
            <a:endParaRPr/>
          </a:p>
        </p:txBody>
      </p:sp>
      <p:cxnSp>
        <p:nvCxnSpPr>
          <p:cNvPr id="996" name="Google Shape;996;p21"/>
          <p:cNvCxnSpPr/>
          <p:nvPr/>
        </p:nvCxnSpPr>
        <p:spPr>
          <a:xfrm>
            <a:off x="4389120" y="2148840"/>
            <a:ext cx="1691640" cy="484632"/>
          </a:xfrm>
          <a:prstGeom prst="straightConnector1">
            <a:avLst/>
          </a:prstGeom>
          <a:noFill/>
          <a:ln cap="flat" cmpd="sng" w="11425">
            <a:solidFill>
              <a:srgbClr val="007788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97" name="Google Shape;997;p21"/>
          <p:cNvSpPr/>
          <p:nvPr/>
        </p:nvSpPr>
        <p:spPr>
          <a:xfrm>
            <a:off x="5897880" y="1691640"/>
            <a:ext cx="2011680" cy="457200"/>
          </a:xfrm>
          <a:prstGeom prst="rect">
            <a:avLst/>
          </a:prstGeom>
          <a:solidFill>
            <a:srgbClr val="041B22">
              <a:alpha val="90196"/>
            </a:srgbClr>
          </a:solidFill>
          <a:ln cap="flat" cmpd="sng" w="13950">
            <a:solidFill>
              <a:srgbClr val="62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8" name="Google Shape;998;p21"/>
          <p:cNvSpPr txBox="1"/>
          <p:nvPr/>
        </p:nvSpPr>
        <p:spPr>
          <a:xfrm>
            <a:off x="5943600" y="176479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BigQuery</a:t>
            </a:r>
            <a:endParaRPr/>
          </a:p>
        </p:txBody>
      </p:sp>
      <p:cxnSp>
        <p:nvCxnSpPr>
          <p:cNvPr id="999" name="Google Shape;999;p21"/>
          <p:cNvCxnSpPr/>
          <p:nvPr/>
        </p:nvCxnSpPr>
        <p:spPr>
          <a:xfrm flipH="1">
            <a:off x="6080760" y="2148840"/>
            <a:ext cx="822960" cy="484632"/>
          </a:xfrm>
          <a:prstGeom prst="straightConnector1">
            <a:avLst/>
          </a:prstGeom>
          <a:noFill/>
          <a:ln cap="flat" cmpd="sng" w="11425">
            <a:solidFill>
              <a:srgbClr val="007788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00" name="Google Shape;1000;p21"/>
          <p:cNvSpPr/>
          <p:nvPr/>
        </p:nvSpPr>
        <p:spPr>
          <a:xfrm>
            <a:off x="8412480" y="1691640"/>
            <a:ext cx="2011680" cy="457200"/>
          </a:xfrm>
          <a:prstGeom prst="rect">
            <a:avLst/>
          </a:prstGeom>
          <a:solidFill>
            <a:srgbClr val="041B22">
              <a:alpha val="90196"/>
            </a:srgbClr>
          </a:solidFill>
          <a:ln cap="flat" cmpd="sng" w="1395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1" name="Google Shape;1001;p21"/>
          <p:cNvSpPr txBox="1"/>
          <p:nvPr/>
        </p:nvSpPr>
        <p:spPr>
          <a:xfrm>
            <a:off x="8458200" y="176479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Playtest notes</a:t>
            </a:r>
            <a:endParaRPr/>
          </a:p>
        </p:txBody>
      </p:sp>
      <p:cxnSp>
        <p:nvCxnSpPr>
          <p:cNvPr id="1002" name="Google Shape;1002;p21"/>
          <p:cNvCxnSpPr/>
          <p:nvPr/>
        </p:nvCxnSpPr>
        <p:spPr>
          <a:xfrm flipH="1">
            <a:off x="6080760" y="2148840"/>
            <a:ext cx="3337559" cy="484632"/>
          </a:xfrm>
          <a:prstGeom prst="straightConnector1">
            <a:avLst/>
          </a:prstGeom>
          <a:noFill/>
          <a:ln cap="flat" cmpd="sng" w="11425">
            <a:solidFill>
              <a:srgbClr val="007788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03" name="Google Shape;1003;p21"/>
          <p:cNvSpPr/>
          <p:nvPr/>
        </p:nvSpPr>
        <p:spPr>
          <a:xfrm>
            <a:off x="4160520" y="2651760"/>
            <a:ext cx="3886200" cy="749808"/>
          </a:xfrm>
          <a:prstGeom prst="rect">
            <a:avLst/>
          </a:prstGeom>
          <a:solidFill>
            <a:srgbClr val="111508">
              <a:alpha val="92941"/>
            </a:srgbClr>
          </a:solidFill>
          <a:ln cap="flat" cmpd="sng" w="17775">
            <a:solidFill>
              <a:srgbClr val="FFC4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4" name="Google Shape;1004;p21"/>
          <p:cNvSpPr txBox="1"/>
          <p:nvPr/>
        </p:nvSpPr>
        <p:spPr>
          <a:xfrm>
            <a:off x="4343400" y="2816352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FFC400"/>
                </a:solidFill>
                <a:latin typeface="Arial"/>
                <a:ea typeface="Arial"/>
                <a:cs typeface="Arial"/>
                <a:sym typeface="Arial"/>
              </a:rPr>
              <a:t>Analytics Agent</a:t>
            </a:r>
            <a:endParaRPr/>
          </a:p>
        </p:txBody>
      </p:sp>
      <p:sp>
        <p:nvSpPr>
          <p:cNvPr id="1005" name="Google Shape;1005;p21"/>
          <p:cNvSpPr/>
          <p:nvPr/>
        </p:nvSpPr>
        <p:spPr>
          <a:xfrm>
            <a:off x="640080" y="3794760"/>
            <a:ext cx="1920240" cy="822960"/>
          </a:xfrm>
          <a:prstGeom prst="rect">
            <a:avLst/>
          </a:prstGeom>
          <a:solidFill>
            <a:srgbClr val="041B22">
              <a:alpha val="90980"/>
            </a:srgbClr>
          </a:solidFill>
          <a:ln cap="flat" cmpd="sng" w="12700">
            <a:solidFill>
              <a:srgbClr val="FF5A5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6" name="Google Shape;1006;p21"/>
          <p:cNvSpPr txBox="1"/>
          <p:nvPr/>
        </p:nvSpPr>
        <p:spPr>
          <a:xfrm>
            <a:off x="731519" y="3950208"/>
            <a:ext cx="1737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Detect issue</a:t>
            </a:r>
            <a:endParaRPr/>
          </a:p>
        </p:txBody>
      </p:sp>
      <p:sp>
        <p:nvSpPr>
          <p:cNvPr id="1007" name="Google Shape;1007;p21"/>
          <p:cNvSpPr txBox="1"/>
          <p:nvPr/>
        </p:nvSpPr>
        <p:spPr>
          <a:xfrm>
            <a:off x="731519" y="4187952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4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drop-off • churn</a:t>
            </a:r>
            <a:br>
              <a:rPr b="0" i="0" lang="en-US" sz="94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4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friction • failure</a:t>
            </a:r>
            <a:endParaRPr/>
          </a:p>
        </p:txBody>
      </p:sp>
      <p:cxnSp>
        <p:nvCxnSpPr>
          <p:cNvPr id="1008" name="Google Shape;1008;p21"/>
          <p:cNvCxnSpPr/>
          <p:nvPr/>
        </p:nvCxnSpPr>
        <p:spPr>
          <a:xfrm>
            <a:off x="2560320" y="4206240"/>
            <a:ext cx="320040" cy="0"/>
          </a:xfrm>
          <a:prstGeom prst="straightConnector1">
            <a:avLst/>
          </a:prstGeom>
          <a:noFill/>
          <a:ln cap="flat" cmpd="sng" w="12700">
            <a:solidFill>
              <a:srgbClr val="007788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09" name="Google Shape;1009;p21"/>
          <p:cNvSpPr/>
          <p:nvPr/>
        </p:nvSpPr>
        <p:spPr>
          <a:xfrm>
            <a:off x="2926080" y="3794760"/>
            <a:ext cx="1920240" cy="822960"/>
          </a:xfrm>
          <a:prstGeom prst="rect">
            <a:avLst/>
          </a:prstGeom>
          <a:solidFill>
            <a:srgbClr val="041B22">
              <a:alpha val="90980"/>
            </a:srgbClr>
          </a:solidFill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0" name="Google Shape;1010;p21"/>
          <p:cNvSpPr txBox="1"/>
          <p:nvPr/>
        </p:nvSpPr>
        <p:spPr>
          <a:xfrm>
            <a:off x="3017520" y="3950208"/>
            <a:ext cx="1737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Explain</a:t>
            </a:r>
            <a:endParaRPr/>
          </a:p>
        </p:txBody>
      </p:sp>
      <p:sp>
        <p:nvSpPr>
          <p:cNvPr id="1011" name="Google Shape;1011;p21"/>
          <p:cNvSpPr txBox="1"/>
          <p:nvPr/>
        </p:nvSpPr>
        <p:spPr>
          <a:xfrm>
            <a:off x="3017520" y="4187952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4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cohort + funnel</a:t>
            </a:r>
            <a:br>
              <a:rPr b="0" i="0" lang="en-US" sz="94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4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hypothesis</a:t>
            </a:r>
            <a:endParaRPr/>
          </a:p>
        </p:txBody>
      </p:sp>
      <p:cxnSp>
        <p:nvCxnSpPr>
          <p:cNvPr id="1012" name="Google Shape;1012;p21"/>
          <p:cNvCxnSpPr/>
          <p:nvPr/>
        </p:nvCxnSpPr>
        <p:spPr>
          <a:xfrm>
            <a:off x="4846320" y="4206240"/>
            <a:ext cx="320040" cy="0"/>
          </a:xfrm>
          <a:prstGeom prst="straightConnector1">
            <a:avLst/>
          </a:prstGeom>
          <a:noFill/>
          <a:ln cap="flat" cmpd="sng" w="12700">
            <a:solidFill>
              <a:srgbClr val="007788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13" name="Google Shape;1013;p21"/>
          <p:cNvSpPr/>
          <p:nvPr/>
        </p:nvSpPr>
        <p:spPr>
          <a:xfrm>
            <a:off x="5212080" y="3794760"/>
            <a:ext cx="1920240" cy="822960"/>
          </a:xfrm>
          <a:prstGeom prst="rect">
            <a:avLst/>
          </a:prstGeom>
          <a:solidFill>
            <a:srgbClr val="041B22">
              <a:alpha val="90980"/>
            </a:srgbClr>
          </a:solidFill>
          <a:ln cap="flat" cmpd="sng" w="12700">
            <a:solidFill>
              <a:srgbClr val="FFC4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4" name="Google Shape;1014;p21"/>
          <p:cNvSpPr txBox="1"/>
          <p:nvPr/>
        </p:nvSpPr>
        <p:spPr>
          <a:xfrm>
            <a:off x="5303520" y="3950208"/>
            <a:ext cx="1737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Propose fix</a:t>
            </a:r>
            <a:endParaRPr/>
          </a:p>
        </p:txBody>
      </p:sp>
      <p:sp>
        <p:nvSpPr>
          <p:cNvPr id="1015" name="Google Shape;1015;p21"/>
          <p:cNvSpPr txBox="1"/>
          <p:nvPr/>
        </p:nvSpPr>
        <p:spPr>
          <a:xfrm>
            <a:off x="5303520" y="4187952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4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design task</a:t>
            </a:r>
            <a:br>
              <a:rPr b="0" i="0" lang="en-US" sz="94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4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A/B candidate</a:t>
            </a:r>
            <a:endParaRPr/>
          </a:p>
        </p:txBody>
      </p:sp>
      <p:cxnSp>
        <p:nvCxnSpPr>
          <p:cNvPr id="1016" name="Google Shape;1016;p21"/>
          <p:cNvCxnSpPr/>
          <p:nvPr/>
        </p:nvCxnSpPr>
        <p:spPr>
          <a:xfrm>
            <a:off x="7132320" y="4206240"/>
            <a:ext cx="320039" cy="0"/>
          </a:xfrm>
          <a:prstGeom prst="straightConnector1">
            <a:avLst/>
          </a:prstGeom>
          <a:noFill/>
          <a:ln cap="flat" cmpd="sng" w="12700">
            <a:solidFill>
              <a:srgbClr val="007788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17" name="Google Shape;1017;p21"/>
          <p:cNvSpPr/>
          <p:nvPr/>
        </p:nvSpPr>
        <p:spPr>
          <a:xfrm>
            <a:off x="7498079" y="3794760"/>
            <a:ext cx="1920240" cy="822960"/>
          </a:xfrm>
          <a:prstGeom prst="rect">
            <a:avLst/>
          </a:prstGeom>
          <a:solidFill>
            <a:srgbClr val="041B22">
              <a:alpha val="90980"/>
            </a:srgbClr>
          </a:solidFill>
          <a:ln cap="flat" cmpd="sng" w="12700">
            <a:solidFill>
              <a:srgbClr val="62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8" name="Google Shape;1018;p21"/>
          <p:cNvSpPr txBox="1"/>
          <p:nvPr/>
        </p:nvSpPr>
        <p:spPr>
          <a:xfrm>
            <a:off x="7589519" y="3950208"/>
            <a:ext cx="1737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Implement</a:t>
            </a:r>
            <a:endParaRPr/>
          </a:p>
        </p:txBody>
      </p:sp>
      <p:sp>
        <p:nvSpPr>
          <p:cNvPr id="1019" name="Google Shape;1019;p21"/>
          <p:cNvSpPr txBox="1"/>
          <p:nvPr/>
        </p:nvSpPr>
        <p:spPr>
          <a:xfrm>
            <a:off x="7589519" y="4187952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4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Designer + Codex</a:t>
            </a:r>
            <a:br>
              <a:rPr b="0" i="0" lang="en-US" sz="94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4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QA validates</a:t>
            </a:r>
            <a:endParaRPr/>
          </a:p>
        </p:txBody>
      </p:sp>
      <p:cxnSp>
        <p:nvCxnSpPr>
          <p:cNvPr id="1020" name="Google Shape;1020;p21"/>
          <p:cNvCxnSpPr/>
          <p:nvPr/>
        </p:nvCxnSpPr>
        <p:spPr>
          <a:xfrm>
            <a:off x="9418319" y="4206240"/>
            <a:ext cx="320040" cy="0"/>
          </a:xfrm>
          <a:prstGeom prst="straightConnector1">
            <a:avLst/>
          </a:prstGeom>
          <a:noFill/>
          <a:ln cap="flat" cmpd="sng" w="12700">
            <a:solidFill>
              <a:srgbClr val="007788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21" name="Google Shape;1021;p21"/>
          <p:cNvSpPr/>
          <p:nvPr/>
        </p:nvSpPr>
        <p:spPr>
          <a:xfrm>
            <a:off x="9784080" y="3794760"/>
            <a:ext cx="1920240" cy="822960"/>
          </a:xfrm>
          <a:prstGeom prst="rect">
            <a:avLst/>
          </a:prstGeom>
          <a:solidFill>
            <a:srgbClr val="041B22">
              <a:alpha val="90980"/>
            </a:srgbClr>
          </a:solidFill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2" name="Google Shape;1022;p21"/>
          <p:cNvSpPr txBox="1"/>
          <p:nvPr/>
        </p:nvSpPr>
        <p:spPr>
          <a:xfrm>
            <a:off x="9875519" y="3950208"/>
            <a:ext cx="1737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Measure</a:t>
            </a:r>
            <a:endParaRPr/>
          </a:p>
        </p:txBody>
      </p:sp>
      <p:sp>
        <p:nvSpPr>
          <p:cNvPr id="1023" name="Google Shape;1023;p21"/>
          <p:cNvSpPr txBox="1"/>
          <p:nvPr/>
        </p:nvSpPr>
        <p:spPr>
          <a:xfrm>
            <a:off x="9875519" y="4187952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4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retention + completion</a:t>
            </a:r>
            <a:br>
              <a:rPr b="0" i="0" lang="en-US" sz="94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4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impact report</a:t>
            </a:r>
            <a:endParaRPr/>
          </a:p>
        </p:txBody>
      </p:sp>
      <p:sp>
        <p:nvSpPr>
          <p:cNvPr id="1024" name="Google Shape;1024;p21"/>
          <p:cNvSpPr/>
          <p:nvPr/>
        </p:nvSpPr>
        <p:spPr>
          <a:xfrm>
            <a:off x="868680" y="5166360"/>
            <a:ext cx="10424160" cy="804672"/>
          </a:xfrm>
          <a:prstGeom prst="rect">
            <a:avLst/>
          </a:prstGeom>
          <a:solidFill>
            <a:srgbClr val="041B22">
              <a:alpha val="90196"/>
            </a:srgbClr>
          </a:solidFill>
          <a:ln cap="flat" cmpd="sng" w="15225">
            <a:solidFill>
              <a:srgbClr val="FFC4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5" name="Google Shape;1025;p21"/>
          <p:cNvSpPr txBox="1"/>
          <p:nvPr/>
        </p:nvSpPr>
        <p:spPr>
          <a:xfrm>
            <a:off x="1024128" y="5303520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FFC400"/>
                </a:solidFill>
                <a:latin typeface="Arial"/>
                <a:ea typeface="Arial"/>
                <a:cs typeface="Arial"/>
                <a:sym typeface="Arial"/>
              </a:rPr>
              <a:t>Example</a:t>
            </a:r>
            <a:endParaRPr/>
          </a:p>
        </p:txBody>
      </p:sp>
      <p:sp>
        <p:nvSpPr>
          <p:cNvPr id="1026" name="Google Shape;1026;p21"/>
          <p:cNvSpPr txBox="1"/>
          <p:nvPr/>
        </p:nvSpPr>
        <p:spPr>
          <a:xfrm>
            <a:off x="1874519" y="5266944"/>
            <a:ext cx="9235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3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Mission-2 drop-off detected → simplify objective, add guided UI hint, reduce first enemy wave pressure, ship A/B test, measure mission completion + D1 retention.</a:t>
            </a:r>
            <a:endParaRPr/>
          </a:p>
        </p:txBody>
      </p:sp>
      <p:sp>
        <p:nvSpPr>
          <p:cNvPr id="1027" name="Google Shape;1027;p21"/>
          <p:cNvSpPr txBox="1"/>
          <p:nvPr/>
        </p:nvSpPr>
        <p:spPr>
          <a:xfrm>
            <a:off x="1874519" y="5687568"/>
            <a:ext cx="9189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9125" lIns="18275" spcFirstLastPara="1" rIns="1827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9DB4BC"/>
                </a:solidFill>
                <a:latin typeface="Arial"/>
                <a:ea typeface="Arial"/>
                <a:cs typeface="Arial"/>
                <a:sym typeface="Arial"/>
              </a:rPr>
              <a:t>The PM agent receives the insight, risk, proposed experiment, owner agents, and success metric before work starts.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32" name="Google Shape;103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3" name="Google Shape;1033;p2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8196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4" name="Google Shape;1034;p2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22"/>
          <p:cNvSpPr/>
          <p:nvPr/>
        </p:nvSpPr>
        <p:spPr>
          <a:xfrm>
            <a:off x="0" y="64008"/>
            <a:ext cx="12191695" cy="27432"/>
          </a:xfrm>
          <a:prstGeom prst="rect">
            <a:avLst/>
          </a:prstGeom>
          <a:solidFill>
            <a:srgbClr val="FFB000">
              <a:alpha val="9490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36" name="Google Shape;1036;p22"/>
          <p:cNvCxnSpPr/>
          <p:nvPr/>
        </p:nvCxnSpPr>
        <p:spPr>
          <a:xfrm>
            <a:off x="292608" y="292608"/>
            <a:ext cx="548640" cy="0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37" name="Google Shape;1037;p22"/>
          <p:cNvCxnSpPr/>
          <p:nvPr/>
        </p:nvCxnSpPr>
        <p:spPr>
          <a:xfrm>
            <a:off x="292608" y="292608"/>
            <a:ext cx="0" cy="420624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38" name="Google Shape;1038;p22"/>
          <p:cNvCxnSpPr/>
          <p:nvPr/>
        </p:nvCxnSpPr>
        <p:spPr>
          <a:xfrm>
            <a:off x="11338560" y="292608"/>
            <a:ext cx="548640" cy="0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39" name="Google Shape;1039;p22"/>
          <p:cNvCxnSpPr/>
          <p:nvPr/>
        </p:nvCxnSpPr>
        <p:spPr>
          <a:xfrm>
            <a:off x="11887200" y="292608"/>
            <a:ext cx="0" cy="420624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40" name="Google Shape;1040;p22"/>
          <p:cNvCxnSpPr/>
          <p:nvPr/>
        </p:nvCxnSpPr>
        <p:spPr>
          <a:xfrm>
            <a:off x="292608" y="6565392"/>
            <a:ext cx="548640" cy="0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41" name="Google Shape;1041;p22"/>
          <p:cNvCxnSpPr/>
          <p:nvPr/>
        </p:nvCxnSpPr>
        <p:spPr>
          <a:xfrm>
            <a:off x="292608" y="6144768"/>
            <a:ext cx="0" cy="420624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42" name="Google Shape;1042;p22"/>
          <p:cNvCxnSpPr/>
          <p:nvPr/>
        </p:nvCxnSpPr>
        <p:spPr>
          <a:xfrm>
            <a:off x="11338560" y="6565392"/>
            <a:ext cx="548640" cy="0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43" name="Google Shape;1043;p22"/>
          <p:cNvCxnSpPr/>
          <p:nvPr/>
        </p:nvCxnSpPr>
        <p:spPr>
          <a:xfrm>
            <a:off x="11887200" y="6144768"/>
            <a:ext cx="0" cy="420624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44" name="Google Shape;1044;p22"/>
          <p:cNvSpPr txBox="1"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50">
                <a:solidFill>
                  <a:srgbClr val="00F0FF"/>
                </a:solidFill>
                <a:latin typeface="Play"/>
                <a:ea typeface="Play"/>
                <a:cs typeface="Play"/>
                <a:sym typeface="Play"/>
              </a:rPr>
              <a:t>MATURE PROJECTS</a:t>
            </a:r>
            <a:endParaRPr/>
          </a:p>
        </p:txBody>
      </p:sp>
      <p:sp>
        <p:nvSpPr>
          <p:cNvPr id="1045" name="Google Shape;1045;p22"/>
          <p:cNvSpPr txBox="1"/>
          <p:nvPr/>
        </p:nvSpPr>
        <p:spPr>
          <a:xfrm>
            <a:off x="658368" y="566928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>
                <a:solidFill>
                  <a:srgbClr val="EBF4F6"/>
                </a:solidFill>
                <a:latin typeface="Play"/>
                <a:ea typeface="Play"/>
                <a:cs typeface="Play"/>
                <a:sym typeface="Play"/>
              </a:rPr>
              <a:t>Existing projects: AI as recovery layer</a:t>
            </a:r>
            <a:endParaRPr/>
          </a:p>
        </p:txBody>
      </p:sp>
      <p:sp>
        <p:nvSpPr>
          <p:cNvPr id="1046" name="Google Shape;1046;p22"/>
          <p:cNvSpPr txBox="1"/>
          <p:nvPr/>
        </p:nvSpPr>
        <p:spPr>
          <a:xfrm>
            <a:off x="694944" y="1133856"/>
            <a:ext cx="105156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AB0B7"/>
                </a:solidFill>
                <a:latin typeface="Arial"/>
                <a:ea typeface="Arial"/>
                <a:cs typeface="Arial"/>
                <a:sym typeface="Arial"/>
              </a:rPr>
              <a:t>When a large Unity project has release candidates but weak DAU/MAU, AI shifts from creation to diagnosis, stabilization, and measured iteration.</a:t>
            </a:r>
            <a:endParaRPr/>
          </a:p>
        </p:txBody>
      </p:sp>
      <p:sp>
        <p:nvSpPr>
          <p:cNvPr id="1047" name="Google Shape;1047;p22"/>
          <p:cNvSpPr/>
          <p:nvPr/>
        </p:nvSpPr>
        <p:spPr>
          <a:xfrm>
            <a:off x="749808" y="1874519"/>
            <a:ext cx="3429000" cy="2395728"/>
          </a:xfrm>
          <a:prstGeom prst="rect">
            <a:avLst/>
          </a:prstGeom>
          <a:solidFill>
            <a:srgbClr val="041A20">
              <a:alpha val="81960"/>
            </a:srgbClr>
          </a:solidFill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48" name="Google Shape;1048;p22"/>
          <p:cNvCxnSpPr/>
          <p:nvPr/>
        </p:nvCxnSpPr>
        <p:spPr>
          <a:xfrm>
            <a:off x="859536" y="1984248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49" name="Google Shape;1049;p22"/>
          <p:cNvCxnSpPr/>
          <p:nvPr/>
        </p:nvCxnSpPr>
        <p:spPr>
          <a:xfrm>
            <a:off x="3794760" y="4160520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50" name="Google Shape;1050;p22"/>
          <p:cNvSpPr txBox="1"/>
          <p:nvPr/>
        </p:nvSpPr>
        <p:spPr>
          <a:xfrm>
            <a:off x="950976" y="2020824"/>
            <a:ext cx="3026664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EBF4F6"/>
                </a:solidFill>
                <a:latin typeface="Play"/>
                <a:ea typeface="Play"/>
                <a:cs typeface="Play"/>
                <a:sym typeface="Play"/>
              </a:rPr>
              <a:t>1. Audit what exists</a:t>
            </a:r>
            <a:endParaRPr/>
          </a:p>
        </p:txBody>
      </p:sp>
      <p:sp>
        <p:nvSpPr>
          <p:cNvPr id="1051" name="Google Shape;1051;p22"/>
          <p:cNvSpPr txBox="1"/>
          <p:nvPr/>
        </p:nvSpPr>
        <p:spPr>
          <a:xfrm>
            <a:off x="950976" y="2350008"/>
            <a:ext cx="3026664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6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RC builds + change history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6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Unity code architecture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6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analytics coverage gaps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6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crash / performance logs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6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playtest notes and reviews</a:t>
            </a:r>
            <a:endParaRPr/>
          </a:p>
        </p:txBody>
      </p:sp>
      <p:sp>
        <p:nvSpPr>
          <p:cNvPr id="1052" name="Google Shape;1052;p22"/>
          <p:cNvSpPr/>
          <p:nvPr/>
        </p:nvSpPr>
        <p:spPr>
          <a:xfrm>
            <a:off x="4279392" y="1874519"/>
            <a:ext cx="3429000" cy="2395728"/>
          </a:xfrm>
          <a:prstGeom prst="rect">
            <a:avLst/>
          </a:prstGeom>
          <a:solidFill>
            <a:srgbClr val="041A20">
              <a:alpha val="81960"/>
            </a:srgbClr>
          </a:solidFill>
          <a:ln cap="flat" cmpd="sng" w="12700">
            <a:solidFill>
              <a:srgbClr val="FFB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53" name="Google Shape;1053;p22"/>
          <p:cNvCxnSpPr/>
          <p:nvPr/>
        </p:nvCxnSpPr>
        <p:spPr>
          <a:xfrm>
            <a:off x="4389120" y="1984248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FFB000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54" name="Google Shape;1054;p22"/>
          <p:cNvCxnSpPr/>
          <p:nvPr/>
        </p:nvCxnSpPr>
        <p:spPr>
          <a:xfrm>
            <a:off x="7324344" y="4160520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FFB0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55" name="Google Shape;1055;p22"/>
          <p:cNvSpPr txBox="1"/>
          <p:nvPr/>
        </p:nvSpPr>
        <p:spPr>
          <a:xfrm>
            <a:off x="4480559" y="2020824"/>
            <a:ext cx="3026664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EBF4F6"/>
                </a:solidFill>
                <a:latin typeface="Play"/>
                <a:ea typeface="Play"/>
                <a:cs typeface="Play"/>
                <a:sym typeface="Play"/>
              </a:rPr>
              <a:t>2. Diagnose the break</a:t>
            </a:r>
            <a:endParaRPr/>
          </a:p>
        </p:txBody>
      </p:sp>
      <p:sp>
        <p:nvSpPr>
          <p:cNvPr id="1056" name="Google Shape;1056;p22"/>
          <p:cNvSpPr txBox="1"/>
          <p:nvPr/>
        </p:nvSpPr>
        <p:spPr>
          <a:xfrm>
            <a:off x="4480559" y="2350008"/>
            <a:ext cx="3026664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6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onboarding and tutorial drop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6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difficulty spikes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6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unclear UI / goals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6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economy bottlenecks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6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churn after screens, missions, rewards</a:t>
            </a:r>
            <a:endParaRPr/>
          </a:p>
        </p:txBody>
      </p:sp>
      <p:sp>
        <p:nvSpPr>
          <p:cNvPr id="1057" name="Google Shape;1057;p22"/>
          <p:cNvSpPr/>
          <p:nvPr/>
        </p:nvSpPr>
        <p:spPr>
          <a:xfrm>
            <a:off x="7808975" y="1874519"/>
            <a:ext cx="3429000" cy="2395728"/>
          </a:xfrm>
          <a:prstGeom prst="rect">
            <a:avLst/>
          </a:prstGeom>
          <a:solidFill>
            <a:srgbClr val="041A20">
              <a:alpha val="81960"/>
            </a:srgbClr>
          </a:solidFill>
          <a:ln cap="flat" cmpd="sng" w="12700">
            <a:solidFill>
              <a:srgbClr val="6E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58" name="Google Shape;1058;p22"/>
          <p:cNvCxnSpPr/>
          <p:nvPr/>
        </p:nvCxnSpPr>
        <p:spPr>
          <a:xfrm>
            <a:off x="7918703" y="1984248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6EFF9A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59" name="Google Shape;1059;p22"/>
          <p:cNvCxnSpPr/>
          <p:nvPr/>
        </p:nvCxnSpPr>
        <p:spPr>
          <a:xfrm>
            <a:off x="10853928" y="4160520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6EFF9A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60" name="Google Shape;1060;p22"/>
          <p:cNvSpPr txBox="1"/>
          <p:nvPr/>
        </p:nvSpPr>
        <p:spPr>
          <a:xfrm>
            <a:off x="8010144" y="2020824"/>
            <a:ext cx="3026664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EBF4F6"/>
                </a:solidFill>
                <a:latin typeface="Play"/>
                <a:ea typeface="Play"/>
                <a:cs typeface="Play"/>
                <a:sym typeface="Play"/>
              </a:rPr>
              <a:t>3. Intervene safely</a:t>
            </a:r>
            <a:endParaRPr/>
          </a:p>
        </p:txBody>
      </p:sp>
      <p:sp>
        <p:nvSpPr>
          <p:cNvPr id="1061" name="Google Shape;1061;p22"/>
          <p:cNvSpPr txBox="1"/>
          <p:nvPr/>
        </p:nvSpPr>
        <p:spPr>
          <a:xfrm>
            <a:off x="8010144" y="2350008"/>
            <a:ext cx="3026664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6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small reversible changes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6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approved tracking additions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6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scoped Codex PRs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6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Play Mode + regression tests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6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A/B or soft-launch validation</a:t>
            </a:r>
            <a:endParaRPr/>
          </a:p>
        </p:txBody>
      </p:sp>
      <p:sp>
        <p:nvSpPr>
          <p:cNvPr id="1062" name="Google Shape;1062;p22"/>
          <p:cNvSpPr/>
          <p:nvPr/>
        </p:nvSpPr>
        <p:spPr>
          <a:xfrm>
            <a:off x="868680" y="5285232"/>
            <a:ext cx="10469880" cy="694944"/>
          </a:xfrm>
          <a:prstGeom prst="rect">
            <a:avLst/>
          </a:prstGeom>
          <a:solidFill>
            <a:srgbClr val="041A20">
              <a:alpha val="90196"/>
            </a:srgbClr>
          </a:solidFill>
          <a:ln cap="flat" cmpd="sng" w="12700">
            <a:solidFill>
              <a:srgbClr val="FFB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3" name="Google Shape;1063;p22"/>
          <p:cNvSpPr txBox="1"/>
          <p:nvPr/>
        </p:nvSpPr>
        <p:spPr>
          <a:xfrm>
            <a:off x="1024128" y="5449824"/>
            <a:ext cx="101498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FB000"/>
                </a:solidFill>
                <a:latin typeface="Play"/>
                <a:ea typeface="Play"/>
                <a:cs typeface="Play"/>
                <a:sym typeface="Play"/>
              </a:rPr>
              <a:t>For late-stage games, AI should start as an auditor — not as an uncontrolled rewriter.</a:t>
            </a:r>
            <a:endParaRPr/>
          </a:p>
        </p:txBody>
      </p:sp>
      <p:cxnSp>
        <p:nvCxnSpPr>
          <p:cNvPr id="1064" name="Google Shape;1064;p22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6535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65" name="Google Shape;1065;p22"/>
          <p:cNvSpPr txBox="1"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00">
                <a:solidFill>
                  <a:srgbClr val="69868E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/>
          </a:p>
        </p:txBody>
      </p:sp>
      <p:sp>
        <p:nvSpPr>
          <p:cNvPr id="1066" name="Google Shape;1066;p22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0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71" name="Google Shape;1071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2" name="Google Shape;1072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8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3" name="Google Shape;1073;p2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23"/>
          <p:cNvSpPr/>
          <p:nvPr/>
        </p:nvSpPr>
        <p:spPr>
          <a:xfrm>
            <a:off x="0" y="64008"/>
            <a:ext cx="12191695" cy="27432"/>
          </a:xfrm>
          <a:prstGeom prst="rect">
            <a:avLst/>
          </a:prstGeom>
          <a:solidFill>
            <a:srgbClr val="FFB000">
              <a:alpha val="9490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75" name="Google Shape;1075;p23"/>
          <p:cNvCxnSpPr/>
          <p:nvPr/>
        </p:nvCxnSpPr>
        <p:spPr>
          <a:xfrm>
            <a:off x="292608" y="292608"/>
            <a:ext cx="548640" cy="0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76" name="Google Shape;1076;p23"/>
          <p:cNvCxnSpPr/>
          <p:nvPr/>
        </p:nvCxnSpPr>
        <p:spPr>
          <a:xfrm>
            <a:off x="292608" y="292608"/>
            <a:ext cx="0" cy="420624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77" name="Google Shape;1077;p23"/>
          <p:cNvCxnSpPr/>
          <p:nvPr/>
        </p:nvCxnSpPr>
        <p:spPr>
          <a:xfrm>
            <a:off x="11338560" y="292608"/>
            <a:ext cx="548640" cy="0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78" name="Google Shape;1078;p23"/>
          <p:cNvCxnSpPr/>
          <p:nvPr/>
        </p:nvCxnSpPr>
        <p:spPr>
          <a:xfrm>
            <a:off x="11887200" y="292608"/>
            <a:ext cx="0" cy="420624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79" name="Google Shape;1079;p23"/>
          <p:cNvCxnSpPr/>
          <p:nvPr/>
        </p:nvCxnSpPr>
        <p:spPr>
          <a:xfrm>
            <a:off x="292608" y="6565392"/>
            <a:ext cx="548640" cy="0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80" name="Google Shape;1080;p23"/>
          <p:cNvCxnSpPr/>
          <p:nvPr/>
        </p:nvCxnSpPr>
        <p:spPr>
          <a:xfrm>
            <a:off x="292608" y="6144768"/>
            <a:ext cx="0" cy="420624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81" name="Google Shape;1081;p23"/>
          <p:cNvCxnSpPr/>
          <p:nvPr/>
        </p:nvCxnSpPr>
        <p:spPr>
          <a:xfrm>
            <a:off x="11338560" y="6565392"/>
            <a:ext cx="548640" cy="0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82" name="Google Shape;1082;p23"/>
          <p:cNvCxnSpPr/>
          <p:nvPr/>
        </p:nvCxnSpPr>
        <p:spPr>
          <a:xfrm>
            <a:off x="11887200" y="6144768"/>
            <a:ext cx="0" cy="420624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83" name="Google Shape;1083;p23"/>
          <p:cNvSpPr txBox="1"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50">
                <a:solidFill>
                  <a:srgbClr val="00F0FF"/>
                </a:solidFill>
                <a:latin typeface="Play"/>
                <a:ea typeface="Play"/>
                <a:cs typeface="Play"/>
                <a:sym typeface="Play"/>
              </a:rPr>
              <a:t>RECOVERY LOOP</a:t>
            </a:r>
            <a:endParaRPr/>
          </a:p>
        </p:txBody>
      </p:sp>
      <p:sp>
        <p:nvSpPr>
          <p:cNvPr id="1084" name="Google Shape;1084;p23"/>
          <p:cNvSpPr txBox="1"/>
          <p:nvPr/>
        </p:nvSpPr>
        <p:spPr>
          <a:xfrm>
            <a:off x="658368" y="566928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>
                <a:solidFill>
                  <a:srgbClr val="EBF4F6"/>
                </a:solidFill>
                <a:latin typeface="Play"/>
                <a:ea typeface="Play"/>
                <a:cs typeface="Play"/>
                <a:sym typeface="Play"/>
              </a:rPr>
              <a:t>RC → DAU/MAU recovery loop</a:t>
            </a:r>
            <a:endParaRPr/>
          </a:p>
        </p:txBody>
      </p:sp>
      <p:sp>
        <p:nvSpPr>
          <p:cNvPr id="1085" name="Google Shape;1085;p23"/>
          <p:cNvSpPr txBox="1"/>
          <p:nvPr/>
        </p:nvSpPr>
        <p:spPr>
          <a:xfrm>
            <a:off x="694944" y="1133856"/>
            <a:ext cx="105156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AB0B7"/>
                </a:solidFill>
                <a:latin typeface="Arial"/>
                <a:ea typeface="Arial"/>
                <a:cs typeface="Arial"/>
                <a:sym typeface="Arial"/>
              </a:rPr>
              <a:t>For mature projects, the workflow becomes evidence-led: diagnose the metric gap, ship small reversible fixes, and re-measure before scaling.</a:t>
            </a:r>
            <a:endParaRPr/>
          </a:p>
        </p:txBody>
      </p:sp>
      <p:cxnSp>
        <p:nvCxnSpPr>
          <p:cNvPr id="1086" name="Google Shape;1086;p23"/>
          <p:cNvCxnSpPr/>
          <p:nvPr/>
        </p:nvCxnSpPr>
        <p:spPr>
          <a:xfrm>
            <a:off x="3520440" y="3054096"/>
            <a:ext cx="274320" cy="0"/>
          </a:xfrm>
          <a:prstGeom prst="straightConnector1">
            <a:avLst/>
          </a:prstGeom>
          <a:noFill/>
          <a:ln cap="flat" cmpd="sng" w="16500">
            <a:solidFill>
              <a:srgbClr val="4B7E8A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87" name="Google Shape;1087;p23"/>
          <p:cNvCxnSpPr/>
          <p:nvPr/>
        </p:nvCxnSpPr>
        <p:spPr>
          <a:xfrm>
            <a:off x="6629400" y="3054096"/>
            <a:ext cx="274320" cy="0"/>
          </a:xfrm>
          <a:prstGeom prst="straightConnector1">
            <a:avLst/>
          </a:prstGeom>
          <a:noFill/>
          <a:ln cap="flat" cmpd="sng" w="16500">
            <a:solidFill>
              <a:srgbClr val="4B7E8A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88" name="Google Shape;1088;p23"/>
          <p:cNvSpPr/>
          <p:nvPr/>
        </p:nvSpPr>
        <p:spPr>
          <a:xfrm>
            <a:off x="749808" y="2057400"/>
            <a:ext cx="3429000" cy="2011680"/>
          </a:xfrm>
          <a:prstGeom prst="rect">
            <a:avLst/>
          </a:prstGeom>
          <a:solidFill>
            <a:srgbClr val="041A20">
              <a:alpha val="85882"/>
            </a:srgbClr>
          </a:solidFill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89" name="Google Shape;1089;p23"/>
          <p:cNvCxnSpPr/>
          <p:nvPr/>
        </p:nvCxnSpPr>
        <p:spPr>
          <a:xfrm>
            <a:off x="859536" y="2167128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90" name="Google Shape;1090;p23"/>
          <p:cNvCxnSpPr/>
          <p:nvPr/>
        </p:nvCxnSpPr>
        <p:spPr>
          <a:xfrm>
            <a:off x="3794760" y="3959352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91" name="Google Shape;1091;p23"/>
          <p:cNvSpPr txBox="1"/>
          <p:nvPr/>
        </p:nvSpPr>
        <p:spPr>
          <a:xfrm>
            <a:off x="950976" y="2203704"/>
            <a:ext cx="302666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EBF4F6"/>
                </a:solidFill>
                <a:latin typeface="Play"/>
                <a:ea typeface="Play"/>
                <a:cs typeface="Play"/>
                <a:sym typeface="Play"/>
              </a:rPr>
              <a:t>1. Evidence intake</a:t>
            </a:r>
            <a:endParaRPr/>
          </a:p>
        </p:txBody>
      </p:sp>
      <p:sp>
        <p:nvSpPr>
          <p:cNvPr id="1092" name="Google Shape;1092;p23"/>
          <p:cNvSpPr txBox="1"/>
          <p:nvPr/>
        </p:nvSpPr>
        <p:spPr>
          <a:xfrm>
            <a:off x="950976" y="2587752"/>
            <a:ext cx="3026664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RC build history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Mixpanel / Firebase / BigQuery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crash + performance logs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playtest notes and reviews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existing event coverage</a:t>
            </a:r>
            <a:endParaRPr/>
          </a:p>
        </p:txBody>
      </p:sp>
      <p:sp>
        <p:nvSpPr>
          <p:cNvPr id="1093" name="Google Shape;1093;p23"/>
          <p:cNvSpPr/>
          <p:nvPr/>
        </p:nvSpPr>
        <p:spPr>
          <a:xfrm>
            <a:off x="4279392" y="2057400"/>
            <a:ext cx="3429000" cy="2011680"/>
          </a:xfrm>
          <a:prstGeom prst="rect">
            <a:avLst/>
          </a:prstGeom>
          <a:solidFill>
            <a:srgbClr val="041A20">
              <a:alpha val="85882"/>
            </a:srgbClr>
          </a:solidFill>
          <a:ln cap="flat" cmpd="sng" w="12700">
            <a:solidFill>
              <a:srgbClr val="FFB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4" name="Google Shape;1094;p23"/>
          <p:cNvCxnSpPr/>
          <p:nvPr/>
        </p:nvCxnSpPr>
        <p:spPr>
          <a:xfrm>
            <a:off x="4389120" y="2167128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FFB000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95" name="Google Shape;1095;p23"/>
          <p:cNvCxnSpPr/>
          <p:nvPr/>
        </p:nvCxnSpPr>
        <p:spPr>
          <a:xfrm>
            <a:off x="7324344" y="3959352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FFB0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96" name="Google Shape;1096;p23"/>
          <p:cNvSpPr txBox="1"/>
          <p:nvPr/>
        </p:nvSpPr>
        <p:spPr>
          <a:xfrm>
            <a:off x="4480559" y="2203704"/>
            <a:ext cx="302666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EBF4F6"/>
                </a:solidFill>
                <a:latin typeface="Play"/>
                <a:ea typeface="Play"/>
                <a:cs typeface="Play"/>
                <a:sym typeface="Play"/>
              </a:rPr>
              <a:t>2. AI diagnosis</a:t>
            </a:r>
            <a:endParaRPr/>
          </a:p>
        </p:txBody>
      </p:sp>
      <p:sp>
        <p:nvSpPr>
          <p:cNvPr id="1097" name="Google Shape;1097;p23"/>
          <p:cNvSpPr txBox="1"/>
          <p:nvPr/>
        </p:nvSpPr>
        <p:spPr>
          <a:xfrm>
            <a:off x="4480559" y="2587752"/>
            <a:ext cx="3026664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find broken funnels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detect missing tracking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identify likely causes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rank impact / risk / effort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propose success metrics</a:t>
            </a:r>
            <a:endParaRPr/>
          </a:p>
        </p:txBody>
      </p:sp>
      <p:sp>
        <p:nvSpPr>
          <p:cNvPr id="1098" name="Google Shape;1098;p23"/>
          <p:cNvSpPr/>
          <p:nvPr/>
        </p:nvSpPr>
        <p:spPr>
          <a:xfrm>
            <a:off x="7808975" y="2057400"/>
            <a:ext cx="3429000" cy="2011680"/>
          </a:xfrm>
          <a:prstGeom prst="rect">
            <a:avLst/>
          </a:prstGeom>
          <a:solidFill>
            <a:srgbClr val="041A20">
              <a:alpha val="85882"/>
            </a:srgbClr>
          </a:solidFill>
          <a:ln cap="flat" cmpd="sng" w="12700">
            <a:solidFill>
              <a:srgbClr val="6E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9" name="Google Shape;1099;p23"/>
          <p:cNvCxnSpPr/>
          <p:nvPr/>
        </p:nvCxnSpPr>
        <p:spPr>
          <a:xfrm>
            <a:off x="7918703" y="2167128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6EFF9A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00" name="Google Shape;1100;p23"/>
          <p:cNvCxnSpPr/>
          <p:nvPr/>
        </p:nvCxnSpPr>
        <p:spPr>
          <a:xfrm>
            <a:off x="10853928" y="3959352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6EFF9A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01" name="Google Shape;1101;p23"/>
          <p:cNvSpPr txBox="1"/>
          <p:nvPr/>
        </p:nvSpPr>
        <p:spPr>
          <a:xfrm>
            <a:off x="8010144" y="2203704"/>
            <a:ext cx="302666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EBF4F6"/>
                </a:solidFill>
                <a:latin typeface="Play"/>
                <a:ea typeface="Play"/>
                <a:cs typeface="Play"/>
                <a:sym typeface="Play"/>
              </a:rPr>
              <a:t>3. Controlled experiment</a:t>
            </a:r>
            <a:endParaRPr/>
          </a:p>
        </p:txBody>
      </p:sp>
      <p:sp>
        <p:nvSpPr>
          <p:cNvPr id="1102" name="Google Shape;1102;p23"/>
          <p:cNvSpPr txBox="1"/>
          <p:nvPr/>
        </p:nvSpPr>
        <p:spPr>
          <a:xfrm>
            <a:off x="8010144" y="2587752"/>
            <a:ext cx="3026664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scoped Codex PR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analytics validation tests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Play Mode regression checks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A/B or soft-launch variant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post-change metric review</a:t>
            </a:r>
            <a:endParaRPr/>
          </a:p>
        </p:txBody>
      </p:sp>
      <p:sp>
        <p:nvSpPr>
          <p:cNvPr id="1103" name="Google Shape;1103;p23"/>
          <p:cNvSpPr/>
          <p:nvPr/>
        </p:nvSpPr>
        <p:spPr>
          <a:xfrm>
            <a:off x="868680" y="4992624"/>
            <a:ext cx="10469880" cy="658368"/>
          </a:xfrm>
          <a:prstGeom prst="rect">
            <a:avLst/>
          </a:prstGeom>
          <a:solidFill>
            <a:srgbClr val="041A20">
              <a:alpha val="92156"/>
            </a:srgbClr>
          </a:solidFill>
          <a:ln cap="flat" cmpd="sng" w="12700">
            <a:solidFill>
              <a:srgbClr val="6E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4" name="Google Shape;1104;p23"/>
          <p:cNvSpPr txBox="1"/>
          <p:nvPr/>
        </p:nvSpPr>
        <p:spPr>
          <a:xfrm>
            <a:off x="987552" y="5157216"/>
            <a:ext cx="10195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80">
                <a:solidFill>
                  <a:srgbClr val="6EFF9A"/>
                </a:solidFill>
                <a:latin typeface="Play"/>
                <a:ea typeface="Play"/>
                <a:cs typeface="Play"/>
                <a:sym typeface="Play"/>
              </a:rPr>
              <a:t>Repeat loop: measure → learn → prioritize → ship → re-measure. Every fix must be testable, reversible, and tied to a target metric.</a:t>
            </a:r>
            <a:endParaRPr/>
          </a:p>
        </p:txBody>
      </p:sp>
      <p:cxnSp>
        <p:nvCxnSpPr>
          <p:cNvPr id="1105" name="Google Shape;1105;p23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6535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06" name="Google Shape;1106;p23"/>
          <p:cNvSpPr txBox="1"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00">
                <a:solidFill>
                  <a:srgbClr val="69868E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/>
          </a:p>
        </p:txBody>
      </p:sp>
      <p:sp>
        <p:nvSpPr>
          <p:cNvPr id="1107" name="Google Shape;1107;p23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12" name="Google Shape;111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3" name="Google Shape;1113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83137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4" name="Google Shape;1114;p24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5" name="Google Shape;1115;p24"/>
          <p:cNvSpPr/>
          <p:nvPr/>
        </p:nvSpPr>
        <p:spPr>
          <a:xfrm>
            <a:off x="0" y="64008"/>
            <a:ext cx="12191695" cy="27432"/>
          </a:xfrm>
          <a:prstGeom prst="rect">
            <a:avLst/>
          </a:prstGeom>
          <a:solidFill>
            <a:srgbClr val="FFB000">
              <a:alpha val="9490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16" name="Google Shape;1116;p24"/>
          <p:cNvCxnSpPr/>
          <p:nvPr/>
        </p:nvCxnSpPr>
        <p:spPr>
          <a:xfrm>
            <a:off x="292608" y="292608"/>
            <a:ext cx="548640" cy="0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17" name="Google Shape;1117;p24"/>
          <p:cNvCxnSpPr/>
          <p:nvPr/>
        </p:nvCxnSpPr>
        <p:spPr>
          <a:xfrm>
            <a:off x="292608" y="292608"/>
            <a:ext cx="0" cy="420624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18" name="Google Shape;1118;p24"/>
          <p:cNvCxnSpPr/>
          <p:nvPr/>
        </p:nvCxnSpPr>
        <p:spPr>
          <a:xfrm>
            <a:off x="11338560" y="292608"/>
            <a:ext cx="548640" cy="0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19" name="Google Shape;1119;p24"/>
          <p:cNvCxnSpPr/>
          <p:nvPr/>
        </p:nvCxnSpPr>
        <p:spPr>
          <a:xfrm>
            <a:off x="11887200" y="292608"/>
            <a:ext cx="0" cy="420624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20" name="Google Shape;1120;p24"/>
          <p:cNvCxnSpPr/>
          <p:nvPr/>
        </p:nvCxnSpPr>
        <p:spPr>
          <a:xfrm>
            <a:off x="292608" y="6565392"/>
            <a:ext cx="548640" cy="0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21" name="Google Shape;1121;p24"/>
          <p:cNvCxnSpPr/>
          <p:nvPr/>
        </p:nvCxnSpPr>
        <p:spPr>
          <a:xfrm>
            <a:off x="292608" y="6144768"/>
            <a:ext cx="0" cy="420624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22" name="Google Shape;1122;p24"/>
          <p:cNvCxnSpPr/>
          <p:nvPr/>
        </p:nvCxnSpPr>
        <p:spPr>
          <a:xfrm>
            <a:off x="11338560" y="6565392"/>
            <a:ext cx="548640" cy="0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23" name="Google Shape;1123;p24"/>
          <p:cNvCxnSpPr/>
          <p:nvPr/>
        </p:nvCxnSpPr>
        <p:spPr>
          <a:xfrm>
            <a:off x="11887200" y="6144768"/>
            <a:ext cx="0" cy="420624"/>
          </a:xfrm>
          <a:prstGeom prst="straightConnector1">
            <a:avLst/>
          </a:prstGeom>
          <a:noFill/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24" name="Google Shape;1124;p24"/>
          <p:cNvSpPr txBox="1"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50">
                <a:solidFill>
                  <a:srgbClr val="00F0FF"/>
                </a:solidFill>
                <a:latin typeface="Play"/>
                <a:ea typeface="Play"/>
                <a:cs typeface="Play"/>
                <a:sym typeface="Play"/>
              </a:rPr>
              <a:t>SYNTHETIC PLAYTESTING</a:t>
            </a:r>
            <a:endParaRPr/>
          </a:p>
        </p:txBody>
      </p:sp>
      <p:sp>
        <p:nvSpPr>
          <p:cNvPr id="1125" name="Google Shape;1125;p24"/>
          <p:cNvSpPr txBox="1"/>
          <p:nvPr/>
        </p:nvSpPr>
        <p:spPr>
          <a:xfrm>
            <a:off x="658368" y="566928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>
                <a:solidFill>
                  <a:srgbClr val="EBF4F6"/>
                </a:solidFill>
                <a:latin typeface="Play"/>
                <a:ea typeface="Play"/>
                <a:cs typeface="Play"/>
                <a:sym typeface="Play"/>
              </a:rPr>
              <a:t>AI playtester agents before real playtests</a:t>
            </a:r>
            <a:endParaRPr/>
          </a:p>
        </p:txBody>
      </p:sp>
      <p:sp>
        <p:nvSpPr>
          <p:cNvPr id="1126" name="Google Shape;1126;p24"/>
          <p:cNvSpPr txBox="1"/>
          <p:nvPr/>
        </p:nvSpPr>
        <p:spPr>
          <a:xfrm>
            <a:off x="694944" y="1133856"/>
            <a:ext cx="105156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AB0B7"/>
                </a:solidFill>
                <a:latin typeface="Arial"/>
                <a:ea typeface="Arial"/>
                <a:cs typeface="Arial"/>
                <a:sym typeface="Arial"/>
              </a:rPr>
              <a:t>Agents can simulate different player groups in Unity, produce pre-release telemetry, and expose obvious UX problems before real users arrive.</a:t>
            </a:r>
            <a:endParaRPr/>
          </a:p>
        </p:txBody>
      </p:sp>
      <p:sp>
        <p:nvSpPr>
          <p:cNvPr id="1127" name="Google Shape;1127;p24"/>
          <p:cNvSpPr/>
          <p:nvPr/>
        </p:nvSpPr>
        <p:spPr>
          <a:xfrm>
            <a:off x="868680" y="1627632"/>
            <a:ext cx="1234440" cy="292608"/>
          </a:xfrm>
          <a:prstGeom prst="rect">
            <a:avLst/>
          </a:prstGeom>
          <a:solidFill>
            <a:srgbClr val="041A20">
              <a:alpha val="92156"/>
            </a:srgbClr>
          </a:solidFill>
          <a:ln cap="flat" cmpd="sng" w="1015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24"/>
          <p:cNvSpPr txBox="1"/>
          <p:nvPr/>
        </p:nvSpPr>
        <p:spPr>
          <a:xfrm>
            <a:off x="905256" y="1691640"/>
            <a:ext cx="1161288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00F0FF"/>
                </a:solidFill>
                <a:latin typeface="Play"/>
                <a:ea typeface="Play"/>
                <a:cs typeface="Play"/>
                <a:sym typeface="Play"/>
              </a:rPr>
              <a:t>new player</a:t>
            </a:r>
            <a:endParaRPr/>
          </a:p>
        </p:txBody>
      </p:sp>
      <p:sp>
        <p:nvSpPr>
          <p:cNvPr id="1129" name="Google Shape;1129;p24"/>
          <p:cNvSpPr/>
          <p:nvPr/>
        </p:nvSpPr>
        <p:spPr>
          <a:xfrm>
            <a:off x="2240280" y="1627632"/>
            <a:ext cx="1143000" cy="292608"/>
          </a:xfrm>
          <a:prstGeom prst="rect">
            <a:avLst/>
          </a:prstGeom>
          <a:solidFill>
            <a:srgbClr val="041A20">
              <a:alpha val="92156"/>
            </a:srgbClr>
          </a:solidFill>
          <a:ln cap="flat" cmpd="sng" w="10150">
            <a:solidFill>
              <a:srgbClr val="FF524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0" name="Google Shape;1130;p24"/>
          <p:cNvSpPr txBox="1"/>
          <p:nvPr/>
        </p:nvSpPr>
        <p:spPr>
          <a:xfrm>
            <a:off x="2276856" y="1691640"/>
            <a:ext cx="1069848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FF524B"/>
                </a:solidFill>
                <a:latin typeface="Play"/>
                <a:ea typeface="Play"/>
                <a:cs typeface="Play"/>
                <a:sym typeface="Play"/>
              </a:rPr>
              <a:t>impatient</a:t>
            </a:r>
            <a:endParaRPr/>
          </a:p>
        </p:txBody>
      </p:sp>
      <p:sp>
        <p:nvSpPr>
          <p:cNvPr id="1131" name="Google Shape;1131;p24"/>
          <p:cNvSpPr/>
          <p:nvPr/>
        </p:nvSpPr>
        <p:spPr>
          <a:xfrm>
            <a:off x="3520440" y="1627632"/>
            <a:ext cx="1417320" cy="292608"/>
          </a:xfrm>
          <a:prstGeom prst="rect">
            <a:avLst/>
          </a:prstGeom>
          <a:solidFill>
            <a:srgbClr val="041A20">
              <a:alpha val="92156"/>
            </a:srgbClr>
          </a:solidFill>
          <a:ln cap="flat" cmpd="sng" w="10150">
            <a:solidFill>
              <a:srgbClr val="FFB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2" name="Google Shape;1132;p24"/>
          <p:cNvSpPr txBox="1"/>
          <p:nvPr/>
        </p:nvSpPr>
        <p:spPr>
          <a:xfrm>
            <a:off x="3557016" y="1691640"/>
            <a:ext cx="13441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FFB000"/>
                </a:solidFill>
                <a:latin typeface="Play"/>
                <a:ea typeface="Play"/>
                <a:cs typeface="Play"/>
                <a:sym typeface="Play"/>
              </a:rPr>
              <a:t>strategy expert</a:t>
            </a:r>
            <a:endParaRPr/>
          </a:p>
        </p:txBody>
      </p:sp>
      <p:sp>
        <p:nvSpPr>
          <p:cNvPr id="1133" name="Google Shape;1133;p24"/>
          <p:cNvSpPr/>
          <p:nvPr/>
        </p:nvSpPr>
        <p:spPr>
          <a:xfrm>
            <a:off x="5074920" y="1627632"/>
            <a:ext cx="1828800" cy="292608"/>
          </a:xfrm>
          <a:prstGeom prst="rect">
            <a:avLst/>
          </a:prstGeom>
          <a:solidFill>
            <a:srgbClr val="041A20">
              <a:alpha val="92156"/>
            </a:srgbClr>
          </a:solidFill>
          <a:ln cap="flat" cmpd="sng" w="10150">
            <a:solidFill>
              <a:srgbClr val="6E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4" name="Google Shape;1134;p24"/>
          <p:cNvSpPr txBox="1"/>
          <p:nvPr/>
        </p:nvSpPr>
        <p:spPr>
          <a:xfrm>
            <a:off x="5111496" y="1691640"/>
            <a:ext cx="1755648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6EFF9A"/>
                </a:solidFill>
                <a:latin typeface="Play"/>
                <a:ea typeface="Play"/>
                <a:cs typeface="Play"/>
                <a:sym typeface="Play"/>
              </a:rPr>
              <a:t>spender / non-spender</a:t>
            </a:r>
            <a:endParaRPr/>
          </a:p>
        </p:txBody>
      </p:sp>
      <p:sp>
        <p:nvSpPr>
          <p:cNvPr id="1135" name="Google Shape;1135;p24"/>
          <p:cNvSpPr/>
          <p:nvPr/>
        </p:nvSpPr>
        <p:spPr>
          <a:xfrm>
            <a:off x="7040880" y="1627632"/>
            <a:ext cx="1417320" cy="292608"/>
          </a:xfrm>
          <a:prstGeom prst="rect">
            <a:avLst/>
          </a:prstGeom>
          <a:solidFill>
            <a:srgbClr val="041A20">
              <a:alpha val="92156"/>
            </a:srgbClr>
          </a:solidFill>
          <a:ln cap="flat" cmpd="sng" w="1015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6" name="Google Shape;1136;p24"/>
          <p:cNvSpPr txBox="1"/>
          <p:nvPr/>
        </p:nvSpPr>
        <p:spPr>
          <a:xfrm>
            <a:off x="7077456" y="1691640"/>
            <a:ext cx="13441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00F0FF"/>
                </a:solidFill>
                <a:latin typeface="Play"/>
                <a:ea typeface="Play"/>
                <a:cs typeface="Play"/>
                <a:sym typeface="Play"/>
              </a:rPr>
              <a:t>low-end device</a:t>
            </a:r>
            <a:endParaRPr/>
          </a:p>
        </p:txBody>
      </p:sp>
      <p:sp>
        <p:nvSpPr>
          <p:cNvPr id="1137" name="Google Shape;1137;p24"/>
          <p:cNvSpPr/>
          <p:nvPr/>
        </p:nvSpPr>
        <p:spPr>
          <a:xfrm>
            <a:off x="8595360" y="1627632"/>
            <a:ext cx="1234440" cy="292608"/>
          </a:xfrm>
          <a:prstGeom prst="rect">
            <a:avLst/>
          </a:prstGeom>
          <a:solidFill>
            <a:srgbClr val="041A20">
              <a:alpha val="92156"/>
            </a:srgbClr>
          </a:solidFill>
          <a:ln cap="flat" cmpd="sng" w="10150">
            <a:solidFill>
              <a:srgbClr val="FF524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8" name="Google Shape;1138;p24"/>
          <p:cNvSpPr txBox="1"/>
          <p:nvPr/>
        </p:nvSpPr>
        <p:spPr>
          <a:xfrm>
            <a:off x="8631936" y="1691640"/>
            <a:ext cx="1161288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FF524B"/>
                </a:solidFill>
                <a:latin typeface="Play"/>
                <a:ea typeface="Play"/>
                <a:cs typeface="Play"/>
                <a:sym typeface="Play"/>
              </a:rPr>
              <a:t>confused UI</a:t>
            </a:r>
            <a:endParaRPr/>
          </a:p>
        </p:txBody>
      </p:sp>
      <p:sp>
        <p:nvSpPr>
          <p:cNvPr id="1139" name="Google Shape;1139;p24"/>
          <p:cNvSpPr/>
          <p:nvPr/>
        </p:nvSpPr>
        <p:spPr>
          <a:xfrm>
            <a:off x="9966960" y="1627632"/>
            <a:ext cx="1325880" cy="292608"/>
          </a:xfrm>
          <a:prstGeom prst="rect">
            <a:avLst/>
          </a:prstGeom>
          <a:solidFill>
            <a:srgbClr val="041A20">
              <a:alpha val="92156"/>
            </a:srgbClr>
          </a:solidFill>
          <a:ln cap="flat" cmpd="sng" w="10150">
            <a:solidFill>
              <a:srgbClr val="FFB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0" name="Google Shape;1140;p24"/>
          <p:cNvSpPr txBox="1"/>
          <p:nvPr/>
        </p:nvSpPr>
        <p:spPr>
          <a:xfrm>
            <a:off x="10003536" y="1691640"/>
            <a:ext cx="1252728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FFB000"/>
                </a:solidFill>
                <a:latin typeface="Play"/>
                <a:ea typeface="Play"/>
                <a:cs typeface="Play"/>
                <a:sym typeface="Play"/>
              </a:rPr>
              <a:t>completionist</a:t>
            </a:r>
            <a:endParaRPr/>
          </a:p>
        </p:txBody>
      </p:sp>
      <p:sp>
        <p:nvSpPr>
          <p:cNvPr id="1141" name="Google Shape;1141;p24"/>
          <p:cNvSpPr/>
          <p:nvPr/>
        </p:nvSpPr>
        <p:spPr>
          <a:xfrm>
            <a:off x="786384" y="2148840"/>
            <a:ext cx="5074920" cy="2084831"/>
          </a:xfrm>
          <a:prstGeom prst="rect">
            <a:avLst/>
          </a:prstGeom>
          <a:solidFill>
            <a:srgbClr val="041A20">
              <a:alpha val="81960"/>
            </a:srgbClr>
          </a:solidFill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42" name="Google Shape;1142;p24"/>
          <p:cNvCxnSpPr/>
          <p:nvPr/>
        </p:nvCxnSpPr>
        <p:spPr>
          <a:xfrm>
            <a:off x="896112" y="2258568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43" name="Google Shape;1143;p24"/>
          <p:cNvCxnSpPr/>
          <p:nvPr/>
        </p:nvCxnSpPr>
        <p:spPr>
          <a:xfrm>
            <a:off x="5477256" y="4123944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44" name="Google Shape;1144;p24"/>
          <p:cNvSpPr txBox="1"/>
          <p:nvPr/>
        </p:nvSpPr>
        <p:spPr>
          <a:xfrm>
            <a:off x="987552" y="2295144"/>
            <a:ext cx="4672583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EBF4F6"/>
                </a:solidFill>
                <a:latin typeface="Play"/>
                <a:ea typeface="Play"/>
                <a:cs typeface="Play"/>
                <a:sym typeface="Play"/>
              </a:rPr>
              <a:t>How to make / train them</a:t>
            </a:r>
            <a:endParaRPr/>
          </a:p>
        </p:txBody>
      </p:sp>
      <p:sp>
        <p:nvSpPr>
          <p:cNvPr id="1145" name="Google Shape;1145;p24"/>
          <p:cNvSpPr txBox="1"/>
          <p:nvPr/>
        </p:nvSpPr>
        <p:spPr>
          <a:xfrm>
            <a:off x="987552" y="2624328"/>
            <a:ext cx="4672583" cy="1517903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Define cohorts and play styles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Condition agents with GDD, controls, goals, tutorial rules, telemetry schema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Run scripted + exploratory Unity sessions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Log action traces, screenshots, failures, confusion, and timing</a:t>
            </a:r>
            <a:endParaRPr/>
          </a:p>
        </p:txBody>
      </p:sp>
      <p:sp>
        <p:nvSpPr>
          <p:cNvPr id="1146" name="Google Shape;1146;p24"/>
          <p:cNvSpPr/>
          <p:nvPr/>
        </p:nvSpPr>
        <p:spPr>
          <a:xfrm>
            <a:off x="6236208" y="2148840"/>
            <a:ext cx="5074920" cy="2084831"/>
          </a:xfrm>
          <a:prstGeom prst="rect">
            <a:avLst/>
          </a:prstGeom>
          <a:solidFill>
            <a:srgbClr val="041A20">
              <a:alpha val="81960"/>
            </a:srgbClr>
          </a:solidFill>
          <a:ln cap="flat" cmpd="sng" w="12700">
            <a:solidFill>
              <a:srgbClr val="FFB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47" name="Google Shape;1147;p24"/>
          <p:cNvCxnSpPr/>
          <p:nvPr/>
        </p:nvCxnSpPr>
        <p:spPr>
          <a:xfrm>
            <a:off x="6345936" y="2258568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FFB000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48" name="Google Shape;1148;p24"/>
          <p:cNvCxnSpPr/>
          <p:nvPr/>
        </p:nvCxnSpPr>
        <p:spPr>
          <a:xfrm>
            <a:off x="10927080" y="4123944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FFB0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49" name="Google Shape;1149;p24"/>
          <p:cNvSpPr txBox="1"/>
          <p:nvPr/>
        </p:nvSpPr>
        <p:spPr>
          <a:xfrm>
            <a:off x="6437376" y="2295144"/>
            <a:ext cx="4672583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EBF4F6"/>
                </a:solidFill>
                <a:latin typeface="Play"/>
                <a:ea typeface="Play"/>
                <a:cs typeface="Play"/>
                <a:sym typeface="Play"/>
              </a:rPr>
              <a:t>What they generate</a:t>
            </a:r>
            <a:endParaRPr/>
          </a:p>
        </p:txBody>
      </p:sp>
      <p:sp>
        <p:nvSpPr>
          <p:cNvPr id="1150" name="Google Shape;1150;p24"/>
          <p:cNvSpPr txBox="1"/>
          <p:nvPr/>
        </p:nvSpPr>
        <p:spPr>
          <a:xfrm>
            <a:off x="6437376" y="2624328"/>
            <a:ext cx="4672583" cy="1517903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pre-release funnel data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tutorial step friction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failure and abandon points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heatmaps / action traces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bug repro steps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• design recommendations for PM + Designer</a:t>
            </a:r>
            <a:endParaRPr/>
          </a:p>
        </p:txBody>
      </p:sp>
      <p:sp>
        <p:nvSpPr>
          <p:cNvPr id="1151" name="Google Shape;1151;p24"/>
          <p:cNvSpPr/>
          <p:nvPr/>
        </p:nvSpPr>
        <p:spPr>
          <a:xfrm>
            <a:off x="868680" y="4773168"/>
            <a:ext cx="10469880" cy="566928"/>
          </a:xfrm>
          <a:prstGeom prst="rect">
            <a:avLst/>
          </a:prstGeom>
          <a:solidFill>
            <a:srgbClr val="041A20">
              <a:alpha val="92156"/>
            </a:srgbClr>
          </a:solidFill>
          <a:ln cap="flat" cmpd="sng" w="12700">
            <a:solidFill>
              <a:srgbClr val="6E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2" name="Google Shape;1152;p24"/>
          <p:cNvSpPr txBox="1"/>
          <p:nvPr/>
        </p:nvSpPr>
        <p:spPr>
          <a:xfrm>
            <a:off x="960120" y="4919472"/>
            <a:ext cx="10287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6EFF9A"/>
                </a:solidFill>
                <a:latin typeface="Play"/>
                <a:ea typeface="Play"/>
                <a:cs typeface="Play"/>
                <a:sym typeface="Play"/>
              </a:rPr>
              <a:t>Personas → Unity play sessions → events to Firebase / Mixpanel / BigQuery → Analytics Agent → design fixes</a:t>
            </a:r>
            <a:endParaRPr/>
          </a:p>
        </p:txBody>
      </p:sp>
      <p:sp>
        <p:nvSpPr>
          <p:cNvPr id="1153" name="Google Shape;1153;p24"/>
          <p:cNvSpPr/>
          <p:nvPr/>
        </p:nvSpPr>
        <p:spPr>
          <a:xfrm>
            <a:off x="1143000" y="5632704"/>
            <a:ext cx="9921240" cy="438912"/>
          </a:xfrm>
          <a:prstGeom prst="rect">
            <a:avLst/>
          </a:prstGeom>
          <a:solidFill>
            <a:srgbClr val="140C00">
              <a:alpha val="90196"/>
            </a:srgbClr>
          </a:solidFill>
          <a:ln cap="flat" cmpd="sng" w="12700">
            <a:solidFill>
              <a:srgbClr val="FFB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4" name="Google Shape;1154;p24"/>
          <p:cNvSpPr txBox="1"/>
          <p:nvPr/>
        </p:nvSpPr>
        <p:spPr>
          <a:xfrm>
            <a:off x="1234440" y="5742432"/>
            <a:ext cx="9738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FFB000"/>
                </a:solidFill>
                <a:latin typeface="Play"/>
                <a:ea typeface="Play"/>
                <a:cs typeface="Play"/>
                <a:sym typeface="Play"/>
              </a:rPr>
              <a:t>Synthetic agents do not replace real users — they reduce noise and improve the first real playtest.</a:t>
            </a:r>
            <a:endParaRPr/>
          </a:p>
        </p:txBody>
      </p:sp>
      <p:cxnSp>
        <p:nvCxnSpPr>
          <p:cNvPr id="1155" name="Google Shape;1155;p24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6535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56" name="Google Shape;1156;p24"/>
          <p:cNvSpPr txBox="1"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00">
                <a:solidFill>
                  <a:srgbClr val="69868E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/>
          </a:p>
        </p:txBody>
      </p:sp>
      <p:sp>
        <p:nvSpPr>
          <p:cNvPr id="1157" name="Google Shape;1157;p24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1" name="Shape 1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62" name="Google Shape;116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3" name="Google Shape;1163;p2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90196"/>
            </a:srgbClr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4" name="Google Shape;1164;p25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95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25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E00"/>
          </a:solidFill>
          <a:ln cap="flat" cmpd="sng" w="95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66" name="Google Shape;1166;p25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67" name="Google Shape;1167;p25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68" name="Google Shape;1168;p25"/>
          <p:cNvCxnSpPr/>
          <p:nvPr/>
        </p:nvCxnSpPr>
        <p:spPr>
          <a:xfrm>
            <a:off x="11210544" y="292608"/>
            <a:ext cx="68580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69" name="Google Shape;1169;p25"/>
          <p:cNvCxnSpPr/>
          <p:nvPr/>
        </p:nvCxnSpPr>
        <p:spPr>
          <a:xfrm>
            <a:off x="11896344" y="292608"/>
            <a:ext cx="0" cy="438912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70" name="Google Shape;1170;p25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71" name="Google Shape;1171;p25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72" name="Google Shape;1172;p25"/>
          <p:cNvCxnSpPr/>
          <p:nvPr/>
        </p:nvCxnSpPr>
        <p:spPr>
          <a:xfrm>
            <a:off x="11210544" y="6565392"/>
            <a:ext cx="68580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73" name="Google Shape;1173;p25"/>
          <p:cNvCxnSpPr/>
          <p:nvPr/>
        </p:nvCxnSpPr>
        <p:spPr>
          <a:xfrm>
            <a:off x="11896344" y="6126480"/>
            <a:ext cx="0" cy="438912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74" name="Google Shape;1174;p25"/>
          <p:cNvSpPr txBox="1"/>
          <p:nvPr/>
        </p:nvSpPr>
        <p:spPr>
          <a:xfrm>
            <a:off x="566928" y="201168"/>
            <a:ext cx="43891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19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ENTERPRISE SCALE</a:t>
            </a:r>
            <a:endParaRPr/>
          </a:p>
        </p:txBody>
      </p:sp>
      <p:sp>
        <p:nvSpPr>
          <p:cNvPr id="1175" name="Google Shape;1175;p25"/>
          <p:cNvSpPr txBox="1"/>
          <p:nvPr/>
        </p:nvSpPr>
        <p:spPr>
          <a:xfrm>
            <a:off x="658368" y="530352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>
                <a:solidFill>
                  <a:srgbClr val="EBF6F8"/>
                </a:solidFill>
                <a:latin typeface="Play"/>
                <a:ea typeface="Play"/>
                <a:cs typeface="Play"/>
                <a:sym typeface="Play"/>
              </a:rPr>
              <a:t>From one-account workflow to enterprise AI studio</a:t>
            </a:r>
            <a:endParaRPr/>
          </a:p>
        </p:txBody>
      </p:sp>
      <p:sp>
        <p:nvSpPr>
          <p:cNvPr id="1176" name="Google Shape;1176;p25"/>
          <p:cNvSpPr txBox="1"/>
          <p:nvPr/>
        </p:nvSpPr>
        <p:spPr>
          <a:xfrm>
            <a:off x="713232" y="1069848"/>
            <a:ext cx="10698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50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WarlineCapture is the smallest working unit of a scalable, role-based AI production model.</a:t>
            </a:r>
            <a:endParaRPr/>
          </a:p>
        </p:txBody>
      </p:sp>
      <p:sp>
        <p:nvSpPr>
          <p:cNvPr id="1177" name="Google Shape;1177;p25"/>
          <p:cNvSpPr/>
          <p:nvPr/>
        </p:nvSpPr>
        <p:spPr>
          <a:xfrm>
            <a:off x="868680" y="1417320"/>
            <a:ext cx="3291840" cy="256032"/>
          </a:xfrm>
          <a:prstGeom prst="rect">
            <a:avLst/>
          </a:prstGeom>
          <a:solidFill>
            <a:srgbClr val="011217">
              <a:alpha val="96078"/>
            </a:srgbClr>
          </a:solidFill>
          <a:ln cap="flat" cmpd="sng" w="114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8" name="Google Shape;1178;p25"/>
          <p:cNvSpPr txBox="1"/>
          <p:nvPr/>
        </p:nvSpPr>
        <p:spPr>
          <a:xfrm>
            <a:off x="905256" y="1449324"/>
            <a:ext cx="321868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4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PERSONAL ACCOUNT PIPELINE</a:t>
            </a:r>
            <a:endParaRPr/>
          </a:p>
        </p:txBody>
      </p:sp>
      <p:sp>
        <p:nvSpPr>
          <p:cNvPr id="1179" name="Google Shape;1179;p25"/>
          <p:cNvSpPr/>
          <p:nvPr/>
        </p:nvSpPr>
        <p:spPr>
          <a:xfrm>
            <a:off x="7909560" y="1417320"/>
            <a:ext cx="3291840" cy="256032"/>
          </a:xfrm>
          <a:prstGeom prst="rect">
            <a:avLst/>
          </a:prstGeom>
          <a:solidFill>
            <a:srgbClr val="011217">
              <a:alpha val="96078"/>
            </a:srgbClr>
          </a:solidFill>
          <a:ln cap="flat" cmpd="sng" w="114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25"/>
          <p:cNvSpPr txBox="1"/>
          <p:nvPr/>
        </p:nvSpPr>
        <p:spPr>
          <a:xfrm>
            <a:off x="7946136" y="1449324"/>
            <a:ext cx="321868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40">
                <a:solidFill>
                  <a:srgbClr val="FFBE00"/>
                </a:solidFill>
                <a:latin typeface="Arial"/>
                <a:ea typeface="Arial"/>
                <a:cs typeface="Arial"/>
                <a:sym typeface="Arial"/>
              </a:rPr>
              <a:t>ENTERPRISE STUDIO PATTERN</a:t>
            </a:r>
            <a:endParaRPr/>
          </a:p>
        </p:txBody>
      </p:sp>
      <p:cxnSp>
        <p:nvCxnSpPr>
          <p:cNvPr id="1181" name="Google Shape;1181;p25"/>
          <p:cNvCxnSpPr/>
          <p:nvPr/>
        </p:nvCxnSpPr>
        <p:spPr>
          <a:xfrm>
            <a:off x="2514600" y="2514600"/>
            <a:ext cx="0" cy="256032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82" name="Google Shape;1182;p25"/>
          <p:cNvCxnSpPr/>
          <p:nvPr/>
        </p:nvCxnSpPr>
        <p:spPr>
          <a:xfrm>
            <a:off x="2514600" y="3502152"/>
            <a:ext cx="0" cy="246887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83" name="Google Shape;1183;p25"/>
          <p:cNvCxnSpPr/>
          <p:nvPr/>
        </p:nvCxnSpPr>
        <p:spPr>
          <a:xfrm>
            <a:off x="9555480" y="2514600"/>
            <a:ext cx="0" cy="256032"/>
          </a:xfrm>
          <a:prstGeom prst="straightConnector1">
            <a:avLst/>
          </a:prstGeom>
          <a:noFill/>
          <a:ln cap="flat" cmpd="sng" w="12700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84" name="Google Shape;1184;p25"/>
          <p:cNvCxnSpPr/>
          <p:nvPr/>
        </p:nvCxnSpPr>
        <p:spPr>
          <a:xfrm>
            <a:off x="9555480" y="3502152"/>
            <a:ext cx="0" cy="246887"/>
          </a:xfrm>
          <a:prstGeom prst="straightConnector1">
            <a:avLst/>
          </a:prstGeom>
          <a:noFill/>
          <a:ln cap="flat" cmpd="sng" w="12700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85" name="Google Shape;1185;p25"/>
          <p:cNvCxnSpPr/>
          <p:nvPr/>
        </p:nvCxnSpPr>
        <p:spPr>
          <a:xfrm>
            <a:off x="4160520" y="3136392"/>
            <a:ext cx="3566159" cy="0"/>
          </a:xfrm>
          <a:prstGeom prst="straightConnector1">
            <a:avLst/>
          </a:prstGeom>
          <a:noFill/>
          <a:ln cap="flat" cmpd="sng" w="15225">
            <a:solidFill>
              <a:srgbClr val="6DFF9A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86" name="Google Shape;1186;p25"/>
          <p:cNvSpPr txBox="1"/>
          <p:nvPr/>
        </p:nvSpPr>
        <p:spPr>
          <a:xfrm>
            <a:off x="4663450" y="2133881"/>
            <a:ext cx="25602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20">
                <a:solidFill>
                  <a:srgbClr val="6DFF9A"/>
                </a:solidFill>
                <a:latin typeface="Arial"/>
                <a:ea typeface="Arial"/>
                <a:cs typeface="Arial"/>
                <a:sym typeface="Arial"/>
              </a:rPr>
              <a:t>same orchestration pattern</a:t>
            </a:r>
            <a:b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en-US" sz="1320">
                <a:solidFill>
                  <a:srgbClr val="6DFF9A"/>
                </a:solidFill>
                <a:latin typeface="Arial"/>
                <a:ea typeface="Arial"/>
                <a:cs typeface="Arial"/>
                <a:sym typeface="Arial"/>
              </a:rPr>
              <a:t>more owners + scoped permissions</a:t>
            </a:r>
            <a:endParaRPr/>
          </a:p>
        </p:txBody>
      </p:sp>
      <p:sp>
        <p:nvSpPr>
          <p:cNvPr id="1187" name="Google Shape;1187;p25"/>
          <p:cNvSpPr/>
          <p:nvPr/>
        </p:nvSpPr>
        <p:spPr>
          <a:xfrm>
            <a:off x="960120" y="1783080"/>
            <a:ext cx="3200400" cy="731520"/>
          </a:xfrm>
          <a:prstGeom prst="rect">
            <a:avLst/>
          </a:prstGeom>
          <a:solidFill>
            <a:srgbClr val="030F13">
              <a:alpha val="96470"/>
            </a:srgbClr>
          </a:solidFill>
          <a:ln cap="flat" cmpd="sng" w="152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88" name="Google Shape;1188;p25"/>
          <p:cNvCxnSpPr/>
          <p:nvPr/>
        </p:nvCxnSpPr>
        <p:spPr>
          <a:xfrm>
            <a:off x="1051560" y="1892807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89" name="Google Shape;1189;p25"/>
          <p:cNvSpPr txBox="1"/>
          <p:nvPr/>
        </p:nvSpPr>
        <p:spPr>
          <a:xfrm>
            <a:off x="1078992" y="1920240"/>
            <a:ext cx="296265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Human Director</a:t>
            </a:r>
            <a:endParaRPr/>
          </a:p>
        </p:txBody>
      </p:sp>
      <p:sp>
        <p:nvSpPr>
          <p:cNvPr id="1190" name="Google Shape;1190;p25"/>
          <p:cNvSpPr txBox="1"/>
          <p:nvPr/>
        </p:nvSpPr>
        <p:spPr>
          <a:xfrm>
            <a:off x="1088136" y="2212848"/>
            <a:ext cx="2944368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19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vision • architecture • approvals</a:t>
            </a:r>
            <a:endParaRPr/>
          </a:p>
        </p:txBody>
      </p:sp>
      <p:sp>
        <p:nvSpPr>
          <p:cNvPr id="1191" name="Google Shape;1191;p25"/>
          <p:cNvSpPr/>
          <p:nvPr/>
        </p:nvSpPr>
        <p:spPr>
          <a:xfrm>
            <a:off x="960120" y="2770632"/>
            <a:ext cx="3200400" cy="731520"/>
          </a:xfrm>
          <a:prstGeom prst="rect">
            <a:avLst/>
          </a:prstGeom>
          <a:solidFill>
            <a:srgbClr val="030F13">
              <a:alpha val="96470"/>
            </a:srgbClr>
          </a:solidFill>
          <a:ln cap="flat" cmpd="sng" w="152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92" name="Google Shape;1192;p25"/>
          <p:cNvCxnSpPr/>
          <p:nvPr/>
        </p:nvCxnSpPr>
        <p:spPr>
          <a:xfrm>
            <a:off x="1051560" y="2880360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93" name="Google Shape;1193;p25"/>
          <p:cNvSpPr txBox="1"/>
          <p:nvPr/>
        </p:nvSpPr>
        <p:spPr>
          <a:xfrm>
            <a:off x="1078992" y="2907791"/>
            <a:ext cx="296265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PM Agent</a:t>
            </a:r>
            <a:endParaRPr/>
          </a:p>
        </p:txBody>
      </p:sp>
      <p:sp>
        <p:nvSpPr>
          <p:cNvPr id="1194" name="Google Shape;1194;p25"/>
          <p:cNvSpPr txBox="1"/>
          <p:nvPr/>
        </p:nvSpPr>
        <p:spPr>
          <a:xfrm>
            <a:off x="1088136" y="3200400"/>
            <a:ext cx="2944368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19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milestones • blockers • source-of-truth sync</a:t>
            </a:r>
            <a:endParaRPr/>
          </a:p>
        </p:txBody>
      </p:sp>
      <p:sp>
        <p:nvSpPr>
          <p:cNvPr id="1195" name="Google Shape;1195;p25"/>
          <p:cNvSpPr/>
          <p:nvPr/>
        </p:nvSpPr>
        <p:spPr>
          <a:xfrm>
            <a:off x="960120" y="3749039"/>
            <a:ext cx="3200400" cy="731520"/>
          </a:xfrm>
          <a:prstGeom prst="rect">
            <a:avLst/>
          </a:prstGeom>
          <a:solidFill>
            <a:srgbClr val="030F13">
              <a:alpha val="96470"/>
            </a:srgbClr>
          </a:solidFill>
          <a:ln cap="flat" cmpd="sng" w="152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96" name="Google Shape;1196;p25"/>
          <p:cNvCxnSpPr/>
          <p:nvPr/>
        </p:nvCxnSpPr>
        <p:spPr>
          <a:xfrm>
            <a:off x="1051560" y="3858768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97" name="Google Shape;1197;p25"/>
          <p:cNvSpPr txBox="1"/>
          <p:nvPr/>
        </p:nvSpPr>
        <p:spPr>
          <a:xfrm>
            <a:off x="1078992" y="3886200"/>
            <a:ext cx="296265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Codex + Agents</a:t>
            </a:r>
            <a:endParaRPr/>
          </a:p>
        </p:txBody>
      </p:sp>
      <p:sp>
        <p:nvSpPr>
          <p:cNvPr id="1198" name="Google Shape;1198;p25"/>
          <p:cNvSpPr txBox="1"/>
          <p:nvPr/>
        </p:nvSpPr>
        <p:spPr>
          <a:xfrm>
            <a:off x="1088136" y="4178807"/>
            <a:ext cx="2944368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19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design • art • dev • QA • build loop</a:t>
            </a:r>
            <a:endParaRPr/>
          </a:p>
        </p:txBody>
      </p:sp>
      <p:sp>
        <p:nvSpPr>
          <p:cNvPr id="1199" name="Google Shape;1199;p25"/>
          <p:cNvSpPr/>
          <p:nvPr/>
        </p:nvSpPr>
        <p:spPr>
          <a:xfrm>
            <a:off x="7909560" y="1783080"/>
            <a:ext cx="3291840" cy="731520"/>
          </a:xfrm>
          <a:prstGeom prst="rect">
            <a:avLst/>
          </a:prstGeom>
          <a:solidFill>
            <a:srgbClr val="030F13">
              <a:alpha val="96470"/>
            </a:srgbClr>
          </a:solidFill>
          <a:ln cap="flat" cmpd="sng" w="152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00" name="Google Shape;1200;p25"/>
          <p:cNvCxnSpPr/>
          <p:nvPr/>
        </p:nvCxnSpPr>
        <p:spPr>
          <a:xfrm>
            <a:off x="8001000" y="1892807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01" name="Google Shape;1201;p25"/>
          <p:cNvSpPr txBox="1"/>
          <p:nvPr/>
        </p:nvSpPr>
        <p:spPr>
          <a:xfrm>
            <a:off x="8028432" y="1920240"/>
            <a:ext cx="30540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Game Director + Leads</a:t>
            </a:r>
            <a:endParaRPr/>
          </a:p>
        </p:txBody>
      </p:sp>
      <p:sp>
        <p:nvSpPr>
          <p:cNvPr id="1202" name="Google Shape;1202;p25"/>
          <p:cNvSpPr txBox="1"/>
          <p:nvPr/>
        </p:nvSpPr>
        <p:spPr>
          <a:xfrm>
            <a:off x="8037576" y="2212848"/>
            <a:ext cx="3035808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19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creative authority • discipline ownership</a:t>
            </a:r>
            <a:endParaRPr/>
          </a:p>
        </p:txBody>
      </p:sp>
      <p:sp>
        <p:nvSpPr>
          <p:cNvPr id="1203" name="Google Shape;1203;p25"/>
          <p:cNvSpPr/>
          <p:nvPr/>
        </p:nvSpPr>
        <p:spPr>
          <a:xfrm>
            <a:off x="7909560" y="2770632"/>
            <a:ext cx="3291840" cy="731520"/>
          </a:xfrm>
          <a:prstGeom prst="rect">
            <a:avLst/>
          </a:prstGeom>
          <a:solidFill>
            <a:srgbClr val="030F13">
              <a:alpha val="96470"/>
            </a:srgbClr>
          </a:solidFill>
          <a:ln cap="flat" cmpd="sng" w="152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04" name="Google Shape;1204;p25"/>
          <p:cNvCxnSpPr/>
          <p:nvPr/>
        </p:nvCxnSpPr>
        <p:spPr>
          <a:xfrm>
            <a:off x="8001000" y="2880360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05" name="Google Shape;1205;p25"/>
          <p:cNvSpPr txBox="1"/>
          <p:nvPr/>
        </p:nvSpPr>
        <p:spPr>
          <a:xfrm>
            <a:off x="8028432" y="2907791"/>
            <a:ext cx="30540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PM Orchestration Agent</a:t>
            </a:r>
            <a:endParaRPr/>
          </a:p>
        </p:txBody>
      </p:sp>
      <p:sp>
        <p:nvSpPr>
          <p:cNvPr id="1206" name="Google Shape;1206;p25"/>
          <p:cNvSpPr txBox="1"/>
          <p:nvPr/>
        </p:nvSpPr>
        <p:spPr>
          <a:xfrm>
            <a:off x="8037576" y="3200400"/>
            <a:ext cx="3035808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19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dependencies • blockers • reports • approvals</a:t>
            </a:r>
            <a:endParaRPr/>
          </a:p>
        </p:txBody>
      </p:sp>
      <p:sp>
        <p:nvSpPr>
          <p:cNvPr id="1207" name="Google Shape;1207;p25"/>
          <p:cNvSpPr/>
          <p:nvPr/>
        </p:nvSpPr>
        <p:spPr>
          <a:xfrm>
            <a:off x="7909560" y="3749039"/>
            <a:ext cx="3291840" cy="731520"/>
          </a:xfrm>
          <a:prstGeom prst="rect">
            <a:avLst/>
          </a:prstGeom>
          <a:solidFill>
            <a:srgbClr val="030F13">
              <a:alpha val="96470"/>
            </a:srgbClr>
          </a:solidFill>
          <a:ln cap="flat" cmpd="sng" w="152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08" name="Google Shape;1208;p25"/>
          <p:cNvCxnSpPr/>
          <p:nvPr/>
        </p:nvCxnSpPr>
        <p:spPr>
          <a:xfrm>
            <a:off x="8001000" y="3858768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09" name="Google Shape;1209;p25"/>
          <p:cNvSpPr txBox="1"/>
          <p:nvPr/>
        </p:nvSpPr>
        <p:spPr>
          <a:xfrm>
            <a:off x="8028432" y="3886200"/>
            <a:ext cx="30540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Department Workspaces</a:t>
            </a:r>
            <a:endParaRPr/>
          </a:p>
        </p:txBody>
      </p:sp>
      <p:sp>
        <p:nvSpPr>
          <p:cNvPr id="1210" name="Google Shape;1210;p25"/>
          <p:cNvSpPr txBox="1"/>
          <p:nvPr/>
        </p:nvSpPr>
        <p:spPr>
          <a:xfrm>
            <a:off x="8037576" y="4178807"/>
            <a:ext cx="3035808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19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artist agents • Codex agents • QA/build agents</a:t>
            </a:r>
            <a:endParaRPr/>
          </a:p>
        </p:txBody>
      </p:sp>
      <p:sp>
        <p:nvSpPr>
          <p:cNvPr id="1211" name="Google Shape;1211;p25"/>
          <p:cNvSpPr/>
          <p:nvPr/>
        </p:nvSpPr>
        <p:spPr>
          <a:xfrm>
            <a:off x="868680" y="5166360"/>
            <a:ext cx="10469880" cy="694944"/>
          </a:xfrm>
          <a:prstGeom prst="rect">
            <a:avLst/>
          </a:prstGeom>
          <a:solidFill>
            <a:srgbClr val="001116">
              <a:alpha val="96078"/>
            </a:srgbClr>
          </a:solidFill>
          <a:ln cap="flat" cmpd="sng" w="12700">
            <a:solidFill>
              <a:srgbClr val="6D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25"/>
          <p:cNvSpPr txBox="1"/>
          <p:nvPr/>
        </p:nvSpPr>
        <p:spPr>
          <a:xfrm>
            <a:off x="1051560" y="5276088"/>
            <a:ext cx="10104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Enterprise scaling principle: every person supervises a scoped agent workspace; lead agents consolidate work and report to the PM orchestration layer.</a:t>
            </a:r>
            <a:endParaRPr/>
          </a:p>
        </p:txBody>
      </p:sp>
      <p:cxnSp>
        <p:nvCxnSpPr>
          <p:cNvPr id="1213" name="Google Shape;1213;p25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14" name="Google Shape;1214;p25"/>
          <p:cNvSpPr txBox="1"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/>
          </a:p>
        </p:txBody>
      </p:sp>
      <p:sp>
        <p:nvSpPr>
          <p:cNvPr id="1215" name="Google Shape;1215;p25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9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20" name="Google Shape;122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1" name="Google Shape;1221;p2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90196"/>
            </a:srgbClr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2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95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3" name="Google Shape;1223;p26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E00"/>
          </a:solidFill>
          <a:ln cap="flat" cmpd="sng" w="95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24" name="Google Shape;1224;p26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225" name="Google Shape;1225;p26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226" name="Google Shape;1226;p26"/>
          <p:cNvCxnSpPr/>
          <p:nvPr/>
        </p:nvCxnSpPr>
        <p:spPr>
          <a:xfrm>
            <a:off x="11210544" y="292608"/>
            <a:ext cx="68580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227" name="Google Shape;1227;p26"/>
          <p:cNvCxnSpPr/>
          <p:nvPr/>
        </p:nvCxnSpPr>
        <p:spPr>
          <a:xfrm>
            <a:off x="11896344" y="292608"/>
            <a:ext cx="0" cy="438912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228" name="Google Shape;1228;p26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229" name="Google Shape;1229;p26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230" name="Google Shape;1230;p26"/>
          <p:cNvCxnSpPr/>
          <p:nvPr/>
        </p:nvCxnSpPr>
        <p:spPr>
          <a:xfrm>
            <a:off x="11210544" y="6565392"/>
            <a:ext cx="68580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231" name="Google Shape;1231;p26"/>
          <p:cNvCxnSpPr/>
          <p:nvPr/>
        </p:nvCxnSpPr>
        <p:spPr>
          <a:xfrm>
            <a:off x="11896344" y="6126480"/>
            <a:ext cx="0" cy="438912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32" name="Google Shape;1232;p26"/>
          <p:cNvSpPr txBox="1"/>
          <p:nvPr/>
        </p:nvSpPr>
        <p:spPr>
          <a:xfrm>
            <a:off x="566928" y="201168"/>
            <a:ext cx="43891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19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ENTERPRISE AGENT HIERARCHY</a:t>
            </a:r>
            <a:endParaRPr/>
          </a:p>
        </p:txBody>
      </p:sp>
      <p:sp>
        <p:nvSpPr>
          <p:cNvPr id="1233" name="Google Shape;1233;p26"/>
          <p:cNvSpPr txBox="1"/>
          <p:nvPr/>
        </p:nvSpPr>
        <p:spPr>
          <a:xfrm>
            <a:off x="658368" y="530352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>
                <a:solidFill>
                  <a:srgbClr val="EBF6F8"/>
                </a:solidFill>
                <a:latin typeface="Play"/>
                <a:ea typeface="Play"/>
                <a:cs typeface="Play"/>
                <a:sym typeface="Play"/>
              </a:rPr>
              <a:t>Lead agents coordinate supervised sub-agent teams</a:t>
            </a:r>
            <a:endParaRPr/>
          </a:p>
        </p:txBody>
      </p:sp>
      <p:sp>
        <p:nvSpPr>
          <p:cNvPr id="1234" name="Google Shape;1234;p26"/>
          <p:cNvSpPr txBox="1"/>
          <p:nvPr/>
        </p:nvSpPr>
        <p:spPr>
          <a:xfrm>
            <a:off x="713232" y="1069848"/>
            <a:ext cx="10698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50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Enterprise AI collaboration is not one giant agent; it is a managed hierarchy of replaceable agents.</a:t>
            </a:r>
            <a:endParaRPr/>
          </a:p>
        </p:txBody>
      </p:sp>
      <p:cxnSp>
        <p:nvCxnSpPr>
          <p:cNvPr id="1235" name="Google Shape;1235;p26"/>
          <p:cNvCxnSpPr/>
          <p:nvPr/>
        </p:nvCxnSpPr>
        <p:spPr>
          <a:xfrm>
            <a:off x="6089904" y="1993392"/>
            <a:ext cx="0" cy="219456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236" name="Google Shape;1236;p26"/>
          <p:cNvCxnSpPr/>
          <p:nvPr/>
        </p:nvCxnSpPr>
        <p:spPr>
          <a:xfrm>
            <a:off x="6089904" y="2926080"/>
            <a:ext cx="0" cy="201168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237" name="Google Shape;1237;p26"/>
          <p:cNvCxnSpPr/>
          <p:nvPr/>
        </p:nvCxnSpPr>
        <p:spPr>
          <a:xfrm>
            <a:off x="1965960" y="3127248"/>
            <a:ext cx="740664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238" name="Google Shape;1238;p26"/>
          <p:cNvCxnSpPr/>
          <p:nvPr/>
        </p:nvCxnSpPr>
        <p:spPr>
          <a:xfrm>
            <a:off x="1965960" y="3127248"/>
            <a:ext cx="0" cy="237744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239" name="Google Shape;1239;p26"/>
          <p:cNvCxnSpPr/>
          <p:nvPr/>
        </p:nvCxnSpPr>
        <p:spPr>
          <a:xfrm>
            <a:off x="4434840" y="3127248"/>
            <a:ext cx="0" cy="237744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240" name="Google Shape;1240;p26"/>
          <p:cNvCxnSpPr/>
          <p:nvPr/>
        </p:nvCxnSpPr>
        <p:spPr>
          <a:xfrm>
            <a:off x="6903720" y="3127248"/>
            <a:ext cx="0" cy="237744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241" name="Google Shape;1241;p26"/>
          <p:cNvCxnSpPr/>
          <p:nvPr/>
        </p:nvCxnSpPr>
        <p:spPr>
          <a:xfrm>
            <a:off x="9372600" y="3127248"/>
            <a:ext cx="0" cy="237744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42" name="Google Shape;1242;p26"/>
          <p:cNvSpPr/>
          <p:nvPr/>
        </p:nvSpPr>
        <p:spPr>
          <a:xfrm>
            <a:off x="3337560" y="1463040"/>
            <a:ext cx="5532120" cy="530352"/>
          </a:xfrm>
          <a:prstGeom prst="rect">
            <a:avLst/>
          </a:prstGeom>
          <a:solidFill>
            <a:srgbClr val="030F13">
              <a:alpha val="96470"/>
            </a:srgbClr>
          </a:solidFill>
          <a:ln cap="flat" cmpd="sng" w="152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43" name="Google Shape;1243;p26"/>
          <p:cNvCxnSpPr/>
          <p:nvPr/>
        </p:nvCxnSpPr>
        <p:spPr>
          <a:xfrm>
            <a:off x="3429000" y="1572768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44" name="Google Shape;1244;p26"/>
          <p:cNvSpPr txBox="1"/>
          <p:nvPr/>
        </p:nvSpPr>
        <p:spPr>
          <a:xfrm>
            <a:off x="3456432" y="1600200"/>
            <a:ext cx="529437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2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Executive Producer / Game Director</a:t>
            </a:r>
            <a:endParaRPr/>
          </a:p>
        </p:txBody>
      </p:sp>
      <p:sp>
        <p:nvSpPr>
          <p:cNvPr id="1245" name="Google Shape;1245;p26"/>
          <p:cNvSpPr txBox="1"/>
          <p:nvPr/>
        </p:nvSpPr>
        <p:spPr>
          <a:xfrm>
            <a:off x="3465575" y="1783078"/>
            <a:ext cx="52761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60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vision • budget • product goals • final authority</a:t>
            </a:r>
            <a:endParaRPr/>
          </a:p>
        </p:txBody>
      </p:sp>
      <p:sp>
        <p:nvSpPr>
          <p:cNvPr id="1246" name="Google Shape;1246;p26"/>
          <p:cNvSpPr/>
          <p:nvPr/>
        </p:nvSpPr>
        <p:spPr>
          <a:xfrm>
            <a:off x="3611880" y="2267712"/>
            <a:ext cx="4983480" cy="640080"/>
          </a:xfrm>
          <a:prstGeom prst="rect">
            <a:avLst/>
          </a:prstGeom>
          <a:solidFill>
            <a:srgbClr val="030F13">
              <a:alpha val="96470"/>
            </a:srgbClr>
          </a:solidFill>
          <a:ln cap="flat" cmpd="sng" w="152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47" name="Google Shape;1247;p26"/>
          <p:cNvCxnSpPr/>
          <p:nvPr/>
        </p:nvCxnSpPr>
        <p:spPr>
          <a:xfrm>
            <a:off x="3703320" y="2377440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48" name="Google Shape;1248;p26"/>
          <p:cNvSpPr txBox="1"/>
          <p:nvPr/>
        </p:nvSpPr>
        <p:spPr>
          <a:xfrm>
            <a:off x="3730752" y="2404872"/>
            <a:ext cx="474573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PM Orchestration Agent</a:t>
            </a:r>
            <a:endParaRPr/>
          </a:p>
        </p:txBody>
      </p:sp>
      <p:sp>
        <p:nvSpPr>
          <p:cNvPr id="1249" name="Google Shape;1249;p26"/>
          <p:cNvSpPr txBox="1"/>
          <p:nvPr/>
        </p:nvSpPr>
        <p:spPr>
          <a:xfrm>
            <a:off x="3739896" y="2697480"/>
            <a:ext cx="4727448" cy="2011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milestone state • dependencies • blockers • approvals • reports</a:t>
            </a:r>
            <a:endParaRPr/>
          </a:p>
        </p:txBody>
      </p:sp>
      <p:cxnSp>
        <p:nvCxnSpPr>
          <p:cNvPr id="1250" name="Google Shape;1250;p26"/>
          <p:cNvCxnSpPr/>
          <p:nvPr/>
        </p:nvCxnSpPr>
        <p:spPr>
          <a:xfrm>
            <a:off x="1920240" y="3895344"/>
            <a:ext cx="0" cy="155447"/>
          </a:xfrm>
          <a:prstGeom prst="straightConnector1">
            <a:avLst/>
          </a:prstGeom>
          <a:noFill/>
          <a:ln cap="flat" cmpd="sng" w="10150">
            <a:solidFill>
              <a:srgbClr val="6DFF9A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51" name="Google Shape;1251;p26"/>
          <p:cNvSpPr/>
          <p:nvPr/>
        </p:nvSpPr>
        <p:spPr>
          <a:xfrm>
            <a:off x="777240" y="3364992"/>
            <a:ext cx="2286000" cy="530352"/>
          </a:xfrm>
          <a:prstGeom prst="rect">
            <a:avLst/>
          </a:prstGeom>
          <a:solidFill>
            <a:srgbClr val="030F13">
              <a:alpha val="96862"/>
            </a:srgbClr>
          </a:solidFill>
          <a:ln cap="flat" cmpd="sng" w="15225">
            <a:solidFill>
              <a:srgbClr val="6D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52" name="Google Shape;1252;p26"/>
          <p:cNvCxnSpPr/>
          <p:nvPr/>
        </p:nvCxnSpPr>
        <p:spPr>
          <a:xfrm>
            <a:off x="868680" y="3474720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6DFF9A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53" name="Google Shape;1253;p26"/>
          <p:cNvSpPr txBox="1"/>
          <p:nvPr/>
        </p:nvSpPr>
        <p:spPr>
          <a:xfrm>
            <a:off x="886968" y="3419856"/>
            <a:ext cx="2066543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2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Art Lead Agent</a:t>
            </a:r>
            <a:endParaRPr/>
          </a:p>
        </p:txBody>
      </p:sp>
      <p:sp>
        <p:nvSpPr>
          <p:cNvPr id="1254" name="Google Shape;1254;p26"/>
          <p:cNvSpPr/>
          <p:nvPr/>
        </p:nvSpPr>
        <p:spPr>
          <a:xfrm>
            <a:off x="914400" y="4078224"/>
            <a:ext cx="2011680" cy="256032"/>
          </a:xfrm>
          <a:prstGeom prst="rect">
            <a:avLst/>
          </a:prstGeom>
          <a:solidFill>
            <a:srgbClr val="010D11">
              <a:alpha val="96862"/>
            </a:srgbClr>
          </a:solidFill>
          <a:ln cap="flat" cmpd="sng" w="9525">
            <a:solidFill>
              <a:srgbClr val="6D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5" name="Google Shape;1255;p26"/>
          <p:cNvSpPr txBox="1"/>
          <p:nvPr/>
        </p:nvSpPr>
        <p:spPr>
          <a:xfrm>
            <a:off x="950976" y="4110228"/>
            <a:ext cx="19385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Mockup agent</a:t>
            </a:r>
            <a:endParaRPr/>
          </a:p>
        </p:txBody>
      </p:sp>
      <p:sp>
        <p:nvSpPr>
          <p:cNvPr id="1256" name="Google Shape;1256;p26"/>
          <p:cNvSpPr/>
          <p:nvPr/>
        </p:nvSpPr>
        <p:spPr>
          <a:xfrm>
            <a:off x="914400" y="4425696"/>
            <a:ext cx="2011680" cy="256032"/>
          </a:xfrm>
          <a:prstGeom prst="rect">
            <a:avLst/>
          </a:prstGeom>
          <a:solidFill>
            <a:srgbClr val="010D11">
              <a:alpha val="96862"/>
            </a:srgbClr>
          </a:solidFill>
          <a:ln cap="flat" cmpd="sng" w="9525">
            <a:solidFill>
              <a:srgbClr val="6D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7" name="Google Shape;1257;p26"/>
          <p:cNvSpPr txBox="1"/>
          <p:nvPr/>
        </p:nvSpPr>
        <p:spPr>
          <a:xfrm>
            <a:off x="950976" y="4457700"/>
            <a:ext cx="19385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Asset generator</a:t>
            </a:r>
            <a:endParaRPr/>
          </a:p>
        </p:txBody>
      </p:sp>
      <p:sp>
        <p:nvSpPr>
          <p:cNvPr id="1258" name="Google Shape;1258;p26"/>
          <p:cNvSpPr/>
          <p:nvPr/>
        </p:nvSpPr>
        <p:spPr>
          <a:xfrm>
            <a:off x="914400" y="4773168"/>
            <a:ext cx="2011680" cy="256032"/>
          </a:xfrm>
          <a:prstGeom prst="rect">
            <a:avLst/>
          </a:prstGeom>
          <a:solidFill>
            <a:srgbClr val="010D11">
              <a:alpha val="96862"/>
            </a:srgbClr>
          </a:solidFill>
          <a:ln cap="flat" cmpd="sng" w="9525">
            <a:solidFill>
              <a:srgbClr val="6D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9" name="Google Shape;1259;p26"/>
          <p:cNvSpPr txBox="1"/>
          <p:nvPr/>
        </p:nvSpPr>
        <p:spPr>
          <a:xfrm>
            <a:off x="950976" y="4805172"/>
            <a:ext cx="19385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Style QA</a:t>
            </a:r>
            <a:endParaRPr/>
          </a:p>
        </p:txBody>
      </p:sp>
      <p:sp>
        <p:nvSpPr>
          <p:cNvPr id="1260" name="Google Shape;1260;p26"/>
          <p:cNvSpPr/>
          <p:nvPr/>
        </p:nvSpPr>
        <p:spPr>
          <a:xfrm>
            <a:off x="914400" y="5120640"/>
            <a:ext cx="2011680" cy="256032"/>
          </a:xfrm>
          <a:prstGeom prst="rect">
            <a:avLst/>
          </a:prstGeom>
          <a:solidFill>
            <a:srgbClr val="010D11">
              <a:alpha val="96862"/>
            </a:srgbClr>
          </a:solidFill>
          <a:ln cap="flat" cmpd="sng" w="9525">
            <a:solidFill>
              <a:srgbClr val="6D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1" name="Google Shape;1261;p26"/>
          <p:cNvSpPr txBox="1"/>
          <p:nvPr/>
        </p:nvSpPr>
        <p:spPr>
          <a:xfrm>
            <a:off x="950976" y="5152644"/>
            <a:ext cx="19385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Icon / VFX</a:t>
            </a:r>
            <a:endParaRPr/>
          </a:p>
        </p:txBody>
      </p:sp>
      <p:cxnSp>
        <p:nvCxnSpPr>
          <p:cNvPr id="1262" name="Google Shape;1262;p26"/>
          <p:cNvCxnSpPr/>
          <p:nvPr/>
        </p:nvCxnSpPr>
        <p:spPr>
          <a:xfrm>
            <a:off x="4389120" y="3895344"/>
            <a:ext cx="0" cy="155447"/>
          </a:xfrm>
          <a:prstGeom prst="straightConnector1">
            <a:avLst/>
          </a:prstGeom>
          <a:noFill/>
          <a:ln cap="flat" cmpd="sng" w="10150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63" name="Google Shape;1263;p26"/>
          <p:cNvSpPr/>
          <p:nvPr/>
        </p:nvSpPr>
        <p:spPr>
          <a:xfrm>
            <a:off x="3246120" y="3364992"/>
            <a:ext cx="2286000" cy="530352"/>
          </a:xfrm>
          <a:prstGeom prst="rect">
            <a:avLst/>
          </a:prstGeom>
          <a:solidFill>
            <a:srgbClr val="030F13">
              <a:alpha val="96862"/>
            </a:srgbClr>
          </a:solidFill>
          <a:ln cap="flat" cmpd="sng" w="152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64" name="Google Shape;1264;p26"/>
          <p:cNvCxnSpPr/>
          <p:nvPr/>
        </p:nvCxnSpPr>
        <p:spPr>
          <a:xfrm>
            <a:off x="3337560" y="3474720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65" name="Google Shape;1265;p26"/>
          <p:cNvSpPr txBox="1"/>
          <p:nvPr/>
        </p:nvSpPr>
        <p:spPr>
          <a:xfrm>
            <a:off x="3355848" y="3419856"/>
            <a:ext cx="2066543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2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Design Lead Agent</a:t>
            </a:r>
            <a:endParaRPr/>
          </a:p>
        </p:txBody>
      </p:sp>
      <p:sp>
        <p:nvSpPr>
          <p:cNvPr id="1266" name="Google Shape;1266;p26"/>
          <p:cNvSpPr/>
          <p:nvPr/>
        </p:nvSpPr>
        <p:spPr>
          <a:xfrm>
            <a:off x="3383279" y="4078224"/>
            <a:ext cx="2011680" cy="256032"/>
          </a:xfrm>
          <a:prstGeom prst="rect">
            <a:avLst/>
          </a:prstGeom>
          <a:solidFill>
            <a:srgbClr val="010D11">
              <a:alpha val="96862"/>
            </a:srgbClr>
          </a:solidFill>
          <a:ln cap="flat" cmpd="sng" w="95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7" name="Google Shape;1267;p26"/>
          <p:cNvSpPr txBox="1"/>
          <p:nvPr/>
        </p:nvSpPr>
        <p:spPr>
          <a:xfrm>
            <a:off x="3419856" y="4110228"/>
            <a:ext cx="19385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GDD agent</a:t>
            </a:r>
            <a:endParaRPr/>
          </a:p>
        </p:txBody>
      </p:sp>
      <p:sp>
        <p:nvSpPr>
          <p:cNvPr id="1268" name="Google Shape;1268;p26"/>
          <p:cNvSpPr/>
          <p:nvPr/>
        </p:nvSpPr>
        <p:spPr>
          <a:xfrm>
            <a:off x="3383279" y="4425696"/>
            <a:ext cx="2011680" cy="256032"/>
          </a:xfrm>
          <a:prstGeom prst="rect">
            <a:avLst/>
          </a:prstGeom>
          <a:solidFill>
            <a:srgbClr val="010D11">
              <a:alpha val="96862"/>
            </a:srgbClr>
          </a:solidFill>
          <a:ln cap="flat" cmpd="sng" w="95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9" name="Google Shape;1269;p26"/>
          <p:cNvSpPr txBox="1"/>
          <p:nvPr/>
        </p:nvSpPr>
        <p:spPr>
          <a:xfrm>
            <a:off x="3419856" y="4457700"/>
            <a:ext cx="19385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Mechanics</a:t>
            </a:r>
            <a:endParaRPr/>
          </a:p>
        </p:txBody>
      </p:sp>
      <p:sp>
        <p:nvSpPr>
          <p:cNvPr id="1270" name="Google Shape;1270;p26"/>
          <p:cNvSpPr/>
          <p:nvPr/>
        </p:nvSpPr>
        <p:spPr>
          <a:xfrm>
            <a:off x="3383279" y="4773168"/>
            <a:ext cx="2011680" cy="256032"/>
          </a:xfrm>
          <a:prstGeom prst="rect">
            <a:avLst/>
          </a:prstGeom>
          <a:solidFill>
            <a:srgbClr val="010D11">
              <a:alpha val="96862"/>
            </a:srgbClr>
          </a:solidFill>
          <a:ln cap="flat" cmpd="sng" w="95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1" name="Google Shape;1271;p26"/>
          <p:cNvSpPr txBox="1"/>
          <p:nvPr/>
        </p:nvSpPr>
        <p:spPr>
          <a:xfrm>
            <a:off x="3419856" y="4805172"/>
            <a:ext cx="19385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Economy / balance</a:t>
            </a:r>
            <a:endParaRPr/>
          </a:p>
        </p:txBody>
      </p:sp>
      <p:sp>
        <p:nvSpPr>
          <p:cNvPr id="1272" name="Google Shape;1272;p26"/>
          <p:cNvSpPr/>
          <p:nvPr/>
        </p:nvSpPr>
        <p:spPr>
          <a:xfrm>
            <a:off x="3383279" y="5120640"/>
            <a:ext cx="2011680" cy="256032"/>
          </a:xfrm>
          <a:prstGeom prst="rect">
            <a:avLst/>
          </a:prstGeom>
          <a:solidFill>
            <a:srgbClr val="010D11">
              <a:alpha val="96862"/>
            </a:srgbClr>
          </a:solidFill>
          <a:ln cap="flat" cmpd="sng" w="95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3" name="Google Shape;1273;p26"/>
          <p:cNvSpPr txBox="1"/>
          <p:nvPr/>
        </p:nvSpPr>
        <p:spPr>
          <a:xfrm>
            <a:off x="3419856" y="5152644"/>
            <a:ext cx="19385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Level design</a:t>
            </a:r>
            <a:endParaRPr/>
          </a:p>
        </p:txBody>
      </p:sp>
      <p:cxnSp>
        <p:nvCxnSpPr>
          <p:cNvPr id="1274" name="Google Shape;1274;p26"/>
          <p:cNvCxnSpPr/>
          <p:nvPr/>
        </p:nvCxnSpPr>
        <p:spPr>
          <a:xfrm>
            <a:off x="6858000" y="3895344"/>
            <a:ext cx="0" cy="155447"/>
          </a:xfrm>
          <a:prstGeom prst="straightConnector1">
            <a:avLst/>
          </a:prstGeom>
          <a:noFill/>
          <a:ln cap="flat" cmpd="sng" w="1015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75" name="Google Shape;1275;p26"/>
          <p:cNvSpPr/>
          <p:nvPr/>
        </p:nvSpPr>
        <p:spPr>
          <a:xfrm>
            <a:off x="5715000" y="3364992"/>
            <a:ext cx="2286000" cy="530352"/>
          </a:xfrm>
          <a:prstGeom prst="rect">
            <a:avLst/>
          </a:prstGeom>
          <a:solidFill>
            <a:srgbClr val="030F13">
              <a:alpha val="96862"/>
            </a:srgbClr>
          </a:solidFill>
          <a:ln cap="flat" cmpd="sng" w="152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76" name="Google Shape;1276;p26"/>
          <p:cNvCxnSpPr/>
          <p:nvPr/>
        </p:nvCxnSpPr>
        <p:spPr>
          <a:xfrm>
            <a:off x="5806440" y="3474720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77" name="Google Shape;1277;p26"/>
          <p:cNvSpPr txBox="1"/>
          <p:nvPr/>
        </p:nvSpPr>
        <p:spPr>
          <a:xfrm>
            <a:off x="5824728" y="3419856"/>
            <a:ext cx="2066543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2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Engineering Lead</a:t>
            </a:r>
            <a:endParaRPr/>
          </a:p>
        </p:txBody>
      </p:sp>
      <p:sp>
        <p:nvSpPr>
          <p:cNvPr id="1278" name="Google Shape;1278;p26"/>
          <p:cNvSpPr/>
          <p:nvPr/>
        </p:nvSpPr>
        <p:spPr>
          <a:xfrm>
            <a:off x="5852160" y="4078224"/>
            <a:ext cx="2011680" cy="256032"/>
          </a:xfrm>
          <a:prstGeom prst="rect">
            <a:avLst/>
          </a:prstGeom>
          <a:solidFill>
            <a:srgbClr val="010D11">
              <a:alpha val="96862"/>
            </a:srgbClr>
          </a:solidFill>
          <a:ln cap="flat" cmpd="sng" w="95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9" name="Google Shape;1279;p26"/>
          <p:cNvSpPr txBox="1"/>
          <p:nvPr/>
        </p:nvSpPr>
        <p:spPr>
          <a:xfrm>
            <a:off x="5888736" y="4110228"/>
            <a:ext cx="19385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Codex gameplay</a:t>
            </a:r>
            <a:endParaRPr/>
          </a:p>
        </p:txBody>
      </p:sp>
      <p:sp>
        <p:nvSpPr>
          <p:cNvPr id="1280" name="Google Shape;1280;p26"/>
          <p:cNvSpPr/>
          <p:nvPr/>
        </p:nvSpPr>
        <p:spPr>
          <a:xfrm>
            <a:off x="5852160" y="4425696"/>
            <a:ext cx="2011680" cy="256032"/>
          </a:xfrm>
          <a:prstGeom prst="rect">
            <a:avLst/>
          </a:prstGeom>
          <a:solidFill>
            <a:srgbClr val="010D11">
              <a:alpha val="96862"/>
            </a:srgbClr>
          </a:solidFill>
          <a:ln cap="flat" cmpd="sng" w="95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1" name="Google Shape;1281;p26"/>
          <p:cNvSpPr txBox="1"/>
          <p:nvPr/>
        </p:nvSpPr>
        <p:spPr>
          <a:xfrm>
            <a:off x="5888736" y="4457700"/>
            <a:ext cx="19385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Codex UI</a:t>
            </a:r>
            <a:endParaRPr/>
          </a:p>
        </p:txBody>
      </p:sp>
      <p:sp>
        <p:nvSpPr>
          <p:cNvPr id="1282" name="Google Shape;1282;p26"/>
          <p:cNvSpPr/>
          <p:nvPr/>
        </p:nvSpPr>
        <p:spPr>
          <a:xfrm>
            <a:off x="5852160" y="4773168"/>
            <a:ext cx="2011680" cy="256032"/>
          </a:xfrm>
          <a:prstGeom prst="rect">
            <a:avLst/>
          </a:prstGeom>
          <a:solidFill>
            <a:srgbClr val="010D11">
              <a:alpha val="96862"/>
            </a:srgbClr>
          </a:solidFill>
          <a:ln cap="flat" cmpd="sng" w="95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3" name="Google Shape;1283;p26"/>
          <p:cNvSpPr txBox="1"/>
          <p:nvPr/>
        </p:nvSpPr>
        <p:spPr>
          <a:xfrm>
            <a:off x="5888736" y="4805172"/>
            <a:ext cx="19385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Architecture validator</a:t>
            </a:r>
            <a:endParaRPr/>
          </a:p>
        </p:txBody>
      </p:sp>
      <p:sp>
        <p:nvSpPr>
          <p:cNvPr id="1284" name="Google Shape;1284;p26"/>
          <p:cNvSpPr/>
          <p:nvPr/>
        </p:nvSpPr>
        <p:spPr>
          <a:xfrm>
            <a:off x="5852160" y="5120640"/>
            <a:ext cx="2011680" cy="256032"/>
          </a:xfrm>
          <a:prstGeom prst="rect">
            <a:avLst/>
          </a:prstGeom>
          <a:solidFill>
            <a:srgbClr val="010D11">
              <a:alpha val="96862"/>
            </a:srgbClr>
          </a:solidFill>
          <a:ln cap="flat" cmpd="sng" w="95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5" name="Google Shape;1285;p26"/>
          <p:cNvSpPr txBox="1"/>
          <p:nvPr/>
        </p:nvSpPr>
        <p:spPr>
          <a:xfrm>
            <a:off x="5888736" y="5152644"/>
            <a:ext cx="19385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Test generator</a:t>
            </a:r>
            <a:endParaRPr/>
          </a:p>
        </p:txBody>
      </p:sp>
      <p:cxnSp>
        <p:nvCxnSpPr>
          <p:cNvPr id="1286" name="Google Shape;1286;p26"/>
          <p:cNvCxnSpPr/>
          <p:nvPr/>
        </p:nvCxnSpPr>
        <p:spPr>
          <a:xfrm>
            <a:off x="9326880" y="3895344"/>
            <a:ext cx="0" cy="155447"/>
          </a:xfrm>
          <a:prstGeom prst="straightConnector1">
            <a:avLst/>
          </a:prstGeom>
          <a:noFill/>
          <a:ln cap="flat" cmpd="sng" w="10150">
            <a:solidFill>
              <a:srgbClr val="67BC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87" name="Google Shape;1287;p26"/>
          <p:cNvSpPr/>
          <p:nvPr/>
        </p:nvSpPr>
        <p:spPr>
          <a:xfrm>
            <a:off x="8183879" y="3364992"/>
            <a:ext cx="2286000" cy="530352"/>
          </a:xfrm>
          <a:prstGeom prst="rect">
            <a:avLst/>
          </a:prstGeom>
          <a:solidFill>
            <a:srgbClr val="030F13">
              <a:alpha val="96862"/>
            </a:srgbClr>
          </a:solidFill>
          <a:ln cap="flat" cmpd="sng" w="15225">
            <a:solidFill>
              <a:srgbClr val="67BC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88" name="Google Shape;1288;p26"/>
          <p:cNvCxnSpPr/>
          <p:nvPr/>
        </p:nvCxnSpPr>
        <p:spPr>
          <a:xfrm>
            <a:off x="8275319" y="3474720"/>
            <a:ext cx="292609" cy="0"/>
          </a:xfrm>
          <a:prstGeom prst="straightConnector1">
            <a:avLst/>
          </a:prstGeom>
          <a:noFill/>
          <a:ln cap="flat" cmpd="sng" w="15225">
            <a:solidFill>
              <a:srgbClr val="67BC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89" name="Google Shape;1289;p26"/>
          <p:cNvSpPr txBox="1"/>
          <p:nvPr/>
        </p:nvSpPr>
        <p:spPr>
          <a:xfrm>
            <a:off x="8293607" y="3419856"/>
            <a:ext cx="2066543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2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QA / Build Lead</a:t>
            </a:r>
            <a:endParaRPr/>
          </a:p>
        </p:txBody>
      </p:sp>
      <p:sp>
        <p:nvSpPr>
          <p:cNvPr id="1290" name="Google Shape;1290;p26"/>
          <p:cNvSpPr/>
          <p:nvPr/>
        </p:nvSpPr>
        <p:spPr>
          <a:xfrm>
            <a:off x="8321040" y="4078224"/>
            <a:ext cx="2011680" cy="256032"/>
          </a:xfrm>
          <a:prstGeom prst="rect">
            <a:avLst/>
          </a:prstGeom>
          <a:solidFill>
            <a:srgbClr val="010D11">
              <a:alpha val="96862"/>
            </a:srgbClr>
          </a:solidFill>
          <a:ln cap="flat" cmpd="sng" w="9525">
            <a:solidFill>
              <a:srgbClr val="67BC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1" name="Google Shape;1291;p26"/>
          <p:cNvSpPr txBox="1"/>
          <p:nvPr/>
        </p:nvSpPr>
        <p:spPr>
          <a:xfrm>
            <a:off x="8357615" y="4110228"/>
            <a:ext cx="19385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Play Mode tests</a:t>
            </a:r>
            <a:endParaRPr/>
          </a:p>
        </p:txBody>
      </p:sp>
      <p:sp>
        <p:nvSpPr>
          <p:cNvPr id="1292" name="Google Shape;1292;p26"/>
          <p:cNvSpPr/>
          <p:nvPr/>
        </p:nvSpPr>
        <p:spPr>
          <a:xfrm>
            <a:off x="8321040" y="4425696"/>
            <a:ext cx="2011680" cy="256032"/>
          </a:xfrm>
          <a:prstGeom prst="rect">
            <a:avLst/>
          </a:prstGeom>
          <a:solidFill>
            <a:srgbClr val="010D11">
              <a:alpha val="96862"/>
            </a:srgbClr>
          </a:solidFill>
          <a:ln cap="flat" cmpd="sng" w="9525">
            <a:solidFill>
              <a:srgbClr val="67BC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3" name="Google Shape;1293;p26"/>
          <p:cNvSpPr txBox="1"/>
          <p:nvPr/>
        </p:nvSpPr>
        <p:spPr>
          <a:xfrm>
            <a:off x="8357615" y="4457700"/>
            <a:ext cx="19385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Visual comparison</a:t>
            </a:r>
            <a:endParaRPr/>
          </a:p>
        </p:txBody>
      </p:sp>
      <p:sp>
        <p:nvSpPr>
          <p:cNvPr id="1294" name="Google Shape;1294;p26"/>
          <p:cNvSpPr/>
          <p:nvPr/>
        </p:nvSpPr>
        <p:spPr>
          <a:xfrm>
            <a:off x="8321040" y="4773168"/>
            <a:ext cx="2011680" cy="256032"/>
          </a:xfrm>
          <a:prstGeom prst="rect">
            <a:avLst/>
          </a:prstGeom>
          <a:solidFill>
            <a:srgbClr val="010D11">
              <a:alpha val="96862"/>
            </a:srgbClr>
          </a:solidFill>
          <a:ln cap="flat" cmpd="sng" w="9525">
            <a:solidFill>
              <a:srgbClr val="67BC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5" name="Google Shape;1295;p26"/>
          <p:cNvSpPr txBox="1"/>
          <p:nvPr/>
        </p:nvSpPr>
        <p:spPr>
          <a:xfrm>
            <a:off x="8357615" y="4805172"/>
            <a:ext cx="19385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Regression</a:t>
            </a:r>
            <a:endParaRPr/>
          </a:p>
        </p:txBody>
      </p:sp>
      <p:sp>
        <p:nvSpPr>
          <p:cNvPr id="1296" name="Google Shape;1296;p26"/>
          <p:cNvSpPr/>
          <p:nvPr/>
        </p:nvSpPr>
        <p:spPr>
          <a:xfrm>
            <a:off x="8321040" y="5120640"/>
            <a:ext cx="2011680" cy="256032"/>
          </a:xfrm>
          <a:prstGeom prst="rect">
            <a:avLst/>
          </a:prstGeom>
          <a:solidFill>
            <a:srgbClr val="010D11">
              <a:alpha val="96862"/>
            </a:srgbClr>
          </a:solidFill>
          <a:ln cap="flat" cmpd="sng" w="9525">
            <a:solidFill>
              <a:srgbClr val="67BC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7" name="Google Shape;1297;p26"/>
          <p:cNvSpPr txBox="1"/>
          <p:nvPr/>
        </p:nvSpPr>
        <p:spPr>
          <a:xfrm>
            <a:off x="8357615" y="5152644"/>
            <a:ext cx="193852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Build / release</a:t>
            </a:r>
            <a:endParaRPr/>
          </a:p>
        </p:txBody>
      </p:sp>
      <p:sp>
        <p:nvSpPr>
          <p:cNvPr id="1298" name="Google Shape;1298;p26"/>
          <p:cNvSpPr/>
          <p:nvPr/>
        </p:nvSpPr>
        <p:spPr>
          <a:xfrm>
            <a:off x="868680" y="5623560"/>
            <a:ext cx="10469880" cy="475488"/>
          </a:xfrm>
          <a:prstGeom prst="rect">
            <a:avLst/>
          </a:prstGeom>
          <a:solidFill>
            <a:srgbClr val="001116">
              <a:alpha val="96078"/>
            </a:srgbClr>
          </a:solidFill>
          <a:ln cap="flat" cmpd="sng" w="12700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9" name="Google Shape;1299;p26"/>
          <p:cNvSpPr txBox="1"/>
          <p:nvPr/>
        </p:nvSpPr>
        <p:spPr>
          <a:xfrm>
            <a:off x="1024128" y="5724144"/>
            <a:ext cx="101498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FFBE00"/>
                </a:solidFill>
                <a:latin typeface="Arial"/>
                <a:ea typeface="Arial"/>
                <a:cs typeface="Arial"/>
                <a:sym typeface="Arial"/>
              </a:rPr>
              <a:t>Example: an artist can run mockup, asset, and style-QA agents; those sub-agents report to the Art Lead Agent, which reports to PM.</a:t>
            </a:r>
            <a:endParaRPr/>
          </a:p>
        </p:txBody>
      </p:sp>
      <p:cxnSp>
        <p:nvCxnSpPr>
          <p:cNvPr id="1300" name="Google Shape;1300;p26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01" name="Google Shape;1301;p26"/>
          <p:cNvSpPr txBox="1"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/>
          </a:p>
        </p:txBody>
      </p:sp>
      <p:sp>
        <p:nvSpPr>
          <p:cNvPr id="1302" name="Google Shape;1302;p26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6" name="Shape 1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07" name="Google Shape;1307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8" name="Google Shape;1308;p2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90196"/>
            </a:srgbClr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9" name="Google Shape;1309;p27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95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0" name="Google Shape;1310;p27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E00"/>
          </a:solidFill>
          <a:ln cap="flat" cmpd="sng" w="95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11" name="Google Shape;1311;p27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312" name="Google Shape;1312;p27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313" name="Google Shape;1313;p27"/>
          <p:cNvCxnSpPr/>
          <p:nvPr/>
        </p:nvCxnSpPr>
        <p:spPr>
          <a:xfrm>
            <a:off x="11210544" y="292608"/>
            <a:ext cx="68580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314" name="Google Shape;1314;p27"/>
          <p:cNvCxnSpPr/>
          <p:nvPr/>
        </p:nvCxnSpPr>
        <p:spPr>
          <a:xfrm>
            <a:off x="11896344" y="292608"/>
            <a:ext cx="0" cy="438912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315" name="Google Shape;1315;p27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316" name="Google Shape;1316;p27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317" name="Google Shape;1317;p27"/>
          <p:cNvCxnSpPr/>
          <p:nvPr/>
        </p:nvCxnSpPr>
        <p:spPr>
          <a:xfrm>
            <a:off x="11210544" y="6565392"/>
            <a:ext cx="68580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318" name="Google Shape;1318;p27"/>
          <p:cNvCxnSpPr/>
          <p:nvPr/>
        </p:nvCxnSpPr>
        <p:spPr>
          <a:xfrm>
            <a:off x="11896344" y="6126480"/>
            <a:ext cx="0" cy="438912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19" name="Google Shape;1319;p27"/>
          <p:cNvSpPr txBox="1"/>
          <p:nvPr/>
        </p:nvSpPr>
        <p:spPr>
          <a:xfrm>
            <a:off x="566928" y="201168"/>
            <a:ext cx="43891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19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CLOUD COLLABORATION</a:t>
            </a:r>
            <a:endParaRPr/>
          </a:p>
        </p:txBody>
      </p:sp>
      <p:sp>
        <p:nvSpPr>
          <p:cNvPr id="1320" name="Google Shape;1320;p27"/>
          <p:cNvSpPr txBox="1"/>
          <p:nvPr/>
        </p:nvSpPr>
        <p:spPr>
          <a:xfrm>
            <a:off x="658368" y="530352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>
                <a:solidFill>
                  <a:srgbClr val="EBF6F8"/>
                </a:solidFill>
                <a:latin typeface="Play"/>
                <a:ea typeface="Play"/>
                <a:cs typeface="Play"/>
                <a:sym typeface="Play"/>
              </a:rPr>
              <a:t>Scoped agent workspaces, shared source of truth</a:t>
            </a:r>
            <a:endParaRPr/>
          </a:p>
        </p:txBody>
      </p:sp>
      <p:sp>
        <p:nvSpPr>
          <p:cNvPr id="1321" name="Google Shape;1321;p27"/>
          <p:cNvSpPr txBox="1"/>
          <p:nvPr/>
        </p:nvSpPr>
        <p:spPr>
          <a:xfrm>
            <a:off x="713232" y="1069848"/>
            <a:ext cx="10698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50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Team members manage their own agents and Codex tasks, while the project keeps one governed state.</a:t>
            </a:r>
            <a:endParaRPr/>
          </a:p>
        </p:txBody>
      </p:sp>
      <p:sp>
        <p:nvSpPr>
          <p:cNvPr id="1322" name="Google Shape;1322;p27"/>
          <p:cNvSpPr/>
          <p:nvPr/>
        </p:nvSpPr>
        <p:spPr>
          <a:xfrm>
            <a:off x="731520" y="1417320"/>
            <a:ext cx="2057400" cy="256032"/>
          </a:xfrm>
          <a:prstGeom prst="rect">
            <a:avLst/>
          </a:prstGeom>
          <a:solidFill>
            <a:srgbClr val="011217">
              <a:alpha val="96078"/>
            </a:srgbClr>
          </a:solidFill>
          <a:ln cap="flat" cmpd="sng" w="11425">
            <a:solidFill>
              <a:srgbClr val="6D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3" name="Google Shape;1323;p27"/>
          <p:cNvSpPr txBox="1"/>
          <p:nvPr/>
        </p:nvSpPr>
        <p:spPr>
          <a:xfrm>
            <a:off x="768096" y="1449324"/>
            <a:ext cx="198424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40">
                <a:solidFill>
                  <a:srgbClr val="6DFF9A"/>
                </a:solidFill>
                <a:latin typeface="Arial"/>
                <a:ea typeface="Arial"/>
                <a:cs typeface="Arial"/>
                <a:sym typeface="Arial"/>
              </a:rPr>
              <a:t>HUMAN OWNERS</a:t>
            </a:r>
            <a:endParaRPr/>
          </a:p>
        </p:txBody>
      </p:sp>
      <p:sp>
        <p:nvSpPr>
          <p:cNvPr id="1324" name="Google Shape;1324;p27"/>
          <p:cNvSpPr/>
          <p:nvPr/>
        </p:nvSpPr>
        <p:spPr>
          <a:xfrm>
            <a:off x="3520440" y="1417320"/>
            <a:ext cx="2743200" cy="256032"/>
          </a:xfrm>
          <a:prstGeom prst="rect">
            <a:avLst/>
          </a:prstGeom>
          <a:solidFill>
            <a:srgbClr val="011217">
              <a:alpha val="96078"/>
            </a:srgbClr>
          </a:solidFill>
          <a:ln cap="flat" cmpd="sng" w="114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5" name="Google Shape;1325;p27"/>
          <p:cNvSpPr txBox="1"/>
          <p:nvPr/>
        </p:nvSpPr>
        <p:spPr>
          <a:xfrm>
            <a:off x="3557016" y="1449324"/>
            <a:ext cx="267004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4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CLOUD AGENT WORKSPACES</a:t>
            </a:r>
            <a:endParaRPr/>
          </a:p>
        </p:txBody>
      </p:sp>
      <p:sp>
        <p:nvSpPr>
          <p:cNvPr id="1326" name="Google Shape;1326;p27"/>
          <p:cNvSpPr/>
          <p:nvPr/>
        </p:nvSpPr>
        <p:spPr>
          <a:xfrm>
            <a:off x="6903720" y="1417320"/>
            <a:ext cx="2377440" cy="256032"/>
          </a:xfrm>
          <a:prstGeom prst="rect">
            <a:avLst/>
          </a:prstGeom>
          <a:solidFill>
            <a:srgbClr val="011217">
              <a:alpha val="96078"/>
            </a:srgbClr>
          </a:solidFill>
          <a:ln cap="flat" cmpd="sng" w="114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7" name="Google Shape;1327;p27"/>
          <p:cNvSpPr txBox="1"/>
          <p:nvPr/>
        </p:nvSpPr>
        <p:spPr>
          <a:xfrm>
            <a:off x="6940296" y="1449324"/>
            <a:ext cx="230428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40">
                <a:solidFill>
                  <a:srgbClr val="FFBE00"/>
                </a:solidFill>
                <a:latin typeface="Arial"/>
                <a:ea typeface="Arial"/>
                <a:cs typeface="Arial"/>
                <a:sym typeface="Arial"/>
              </a:rPr>
              <a:t>LEAD AGENTS → PM</a:t>
            </a:r>
            <a:endParaRPr/>
          </a:p>
        </p:txBody>
      </p:sp>
      <p:cxnSp>
        <p:nvCxnSpPr>
          <p:cNvPr id="1328" name="Google Shape;1328;p27"/>
          <p:cNvCxnSpPr/>
          <p:nvPr/>
        </p:nvCxnSpPr>
        <p:spPr>
          <a:xfrm>
            <a:off x="2788920" y="2002536"/>
            <a:ext cx="73152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329" name="Google Shape;1329;p27"/>
          <p:cNvCxnSpPr/>
          <p:nvPr/>
        </p:nvCxnSpPr>
        <p:spPr>
          <a:xfrm>
            <a:off x="6263640" y="2002536"/>
            <a:ext cx="64008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330" name="Google Shape;1330;p27"/>
          <p:cNvCxnSpPr/>
          <p:nvPr/>
        </p:nvCxnSpPr>
        <p:spPr>
          <a:xfrm>
            <a:off x="2788920" y="2752344"/>
            <a:ext cx="73152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331" name="Google Shape;1331;p27"/>
          <p:cNvCxnSpPr/>
          <p:nvPr/>
        </p:nvCxnSpPr>
        <p:spPr>
          <a:xfrm>
            <a:off x="6263640" y="2752344"/>
            <a:ext cx="64008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332" name="Google Shape;1332;p27"/>
          <p:cNvCxnSpPr/>
          <p:nvPr/>
        </p:nvCxnSpPr>
        <p:spPr>
          <a:xfrm>
            <a:off x="2788920" y="3502152"/>
            <a:ext cx="73152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333" name="Google Shape;1333;p27"/>
          <p:cNvCxnSpPr/>
          <p:nvPr/>
        </p:nvCxnSpPr>
        <p:spPr>
          <a:xfrm>
            <a:off x="6263640" y="3502152"/>
            <a:ext cx="64008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334" name="Google Shape;1334;p27"/>
          <p:cNvCxnSpPr/>
          <p:nvPr/>
        </p:nvCxnSpPr>
        <p:spPr>
          <a:xfrm>
            <a:off x="2788920" y="4251960"/>
            <a:ext cx="73152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335" name="Google Shape;1335;p27"/>
          <p:cNvCxnSpPr/>
          <p:nvPr/>
        </p:nvCxnSpPr>
        <p:spPr>
          <a:xfrm>
            <a:off x="6263640" y="4251960"/>
            <a:ext cx="640080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336" name="Google Shape;1336;p27"/>
          <p:cNvCxnSpPr/>
          <p:nvPr/>
        </p:nvCxnSpPr>
        <p:spPr>
          <a:xfrm>
            <a:off x="9281160" y="3099816"/>
            <a:ext cx="365760" cy="0"/>
          </a:xfrm>
          <a:prstGeom prst="straightConnector1">
            <a:avLst/>
          </a:prstGeom>
          <a:noFill/>
          <a:ln cap="flat" cmpd="sng" w="12700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337" name="Google Shape;1337;p27"/>
          <p:cNvCxnSpPr/>
          <p:nvPr/>
        </p:nvCxnSpPr>
        <p:spPr>
          <a:xfrm>
            <a:off x="10771632" y="2770632"/>
            <a:ext cx="0" cy="502920"/>
          </a:xfrm>
          <a:prstGeom prst="straightConnector1">
            <a:avLst/>
          </a:prstGeom>
          <a:noFill/>
          <a:ln cap="flat" cmpd="sng" w="114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38" name="Google Shape;1338;p27"/>
          <p:cNvSpPr/>
          <p:nvPr/>
        </p:nvSpPr>
        <p:spPr>
          <a:xfrm>
            <a:off x="731520" y="1719072"/>
            <a:ext cx="2057400" cy="566928"/>
          </a:xfrm>
          <a:prstGeom prst="rect">
            <a:avLst/>
          </a:prstGeom>
          <a:solidFill>
            <a:srgbClr val="030F13">
              <a:alpha val="96862"/>
            </a:srgbClr>
          </a:solidFill>
          <a:ln cap="flat" cmpd="sng" w="15225">
            <a:solidFill>
              <a:srgbClr val="6D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39" name="Google Shape;1339;p27"/>
          <p:cNvCxnSpPr/>
          <p:nvPr/>
        </p:nvCxnSpPr>
        <p:spPr>
          <a:xfrm>
            <a:off x="822960" y="1828800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6DFF9A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40" name="Google Shape;1340;p27"/>
          <p:cNvSpPr txBox="1"/>
          <p:nvPr/>
        </p:nvSpPr>
        <p:spPr>
          <a:xfrm>
            <a:off x="841248" y="1773936"/>
            <a:ext cx="1837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8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Artist</a:t>
            </a:r>
            <a:endParaRPr/>
          </a:p>
        </p:txBody>
      </p:sp>
      <p:sp>
        <p:nvSpPr>
          <p:cNvPr id="1341" name="Google Shape;1341;p27"/>
          <p:cNvSpPr/>
          <p:nvPr/>
        </p:nvSpPr>
        <p:spPr>
          <a:xfrm>
            <a:off x="3520440" y="1719072"/>
            <a:ext cx="2743200" cy="566928"/>
          </a:xfrm>
          <a:prstGeom prst="rect">
            <a:avLst/>
          </a:prstGeom>
          <a:solidFill>
            <a:srgbClr val="030F13">
              <a:alpha val="96862"/>
            </a:srgbClr>
          </a:solidFill>
          <a:ln cap="flat" cmpd="sng" w="15225">
            <a:solidFill>
              <a:srgbClr val="6D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42" name="Google Shape;1342;p27"/>
          <p:cNvCxnSpPr/>
          <p:nvPr/>
        </p:nvCxnSpPr>
        <p:spPr>
          <a:xfrm>
            <a:off x="3611880" y="1828800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6DFF9A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43" name="Google Shape;1343;p27"/>
          <p:cNvSpPr txBox="1"/>
          <p:nvPr/>
        </p:nvSpPr>
        <p:spPr>
          <a:xfrm>
            <a:off x="3630168" y="1773936"/>
            <a:ext cx="252374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7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mockups • assets</a:t>
            </a:r>
            <a:b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en-US" sz="107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style QA</a:t>
            </a:r>
            <a:endParaRPr/>
          </a:p>
        </p:txBody>
      </p:sp>
      <p:sp>
        <p:nvSpPr>
          <p:cNvPr id="1344" name="Google Shape;1344;p27"/>
          <p:cNvSpPr/>
          <p:nvPr/>
        </p:nvSpPr>
        <p:spPr>
          <a:xfrm>
            <a:off x="6903720" y="1719072"/>
            <a:ext cx="2377440" cy="566928"/>
          </a:xfrm>
          <a:prstGeom prst="rect">
            <a:avLst/>
          </a:prstGeom>
          <a:solidFill>
            <a:srgbClr val="030F13">
              <a:alpha val="96862"/>
            </a:srgbClr>
          </a:solidFill>
          <a:ln cap="flat" cmpd="sng" w="15225">
            <a:solidFill>
              <a:srgbClr val="6D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45" name="Google Shape;1345;p27"/>
          <p:cNvCxnSpPr/>
          <p:nvPr/>
        </p:nvCxnSpPr>
        <p:spPr>
          <a:xfrm>
            <a:off x="6995159" y="1828800"/>
            <a:ext cx="292609" cy="0"/>
          </a:xfrm>
          <a:prstGeom prst="straightConnector1">
            <a:avLst/>
          </a:prstGeom>
          <a:noFill/>
          <a:ln cap="flat" cmpd="sng" w="15225">
            <a:solidFill>
              <a:srgbClr val="6DFF9A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46" name="Google Shape;1346;p27"/>
          <p:cNvSpPr txBox="1"/>
          <p:nvPr/>
        </p:nvSpPr>
        <p:spPr>
          <a:xfrm>
            <a:off x="7013448" y="1773936"/>
            <a:ext cx="215798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8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Art Lead Agent</a:t>
            </a:r>
            <a:endParaRPr/>
          </a:p>
        </p:txBody>
      </p:sp>
      <p:sp>
        <p:nvSpPr>
          <p:cNvPr id="1347" name="Google Shape;1347;p27"/>
          <p:cNvSpPr/>
          <p:nvPr/>
        </p:nvSpPr>
        <p:spPr>
          <a:xfrm>
            <a:off x="731520" y="2468879"/>
            <a:ext cx="2057400" cy="566928"/>
          </a:xfrm>
          <a:prstGeom prst="rect">
            <a:avLst/>
          </a:prstGeom>
          <a:solidFill>
            <a:srgbClr val="030F13">
              <a:alpha val="96862"/>
            </a:srgbClr>
          </a:solidFill>
          <a:ln cap="flat" cmpd="sng" w="152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48" name="Google Shape;1348;p27"/>
          <p:cNvCxnSpPr/>
          <p:nvPr/>
        </p:nvCxnSpPr>
        <p:spPr>
          <a:xfrm>
            <a:off x="822960" y="2578608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49" name="Google Shape;1349;p27"/>
          <p:cNvSpPr txBox="1"/>
          <p:nvPr/>
        </p:nvSpPr>
        <p:spPr>
          <a:xfrm>
            <a:off x="841248" y="2523744"/>
            <a:ext cx="1837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8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Designer</a:t>
            </a:r>
            <a:endParaRPr/>
          </a:p>
        </p:txBody>
      </p:sp>
      <p:sp>
        <p:nvSpPr>
          <p:cNvPr id="1350" name="Google Shape;1350;p27"/>
          <p:cNvSpPr/>
          <p:nvPr/>
        </p:nvSpPr>
        <p:spPr>
          <a:xfrm>
            <a:off x="3520440" y="2468879"/>
            <a:ext cx="2743200" cy="566928"/>
          </a:xfrm>
          <a:prstGeom prst="rect">
            <a:avLst/>
          </a:prstGeom>
          <a:solidFill>
            <a:srgbClr val="030F13">
              <a:alpha val="96862"/>
            </a:srgbClr>
          </a:solidFill>
          <a:ln cap="flat" cmpd="sng" w="152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51" name="Google Shape;1351;p27"/>
          <p:cNvCxnSpPr/>
          <p:nvPr/>
        </p:nvCxnSpPr>
        <p:spPr>
          <a:xfrm>
            <a:off x="3611880" y="2578608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52" name="Google Shape;1352;p27"/>
          <p:cNvSpPr txBox="1"/>
          <p:nvPr/>
        </p:nvSpPr>
        <p:spPr>
          <a:xfrm>
            <a:off x="3630168" y="2523744"/>
            <a:ext cx="252374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7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GDD • mechanics</a:t>
            </a:r>
            <a:b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en-US" sz="107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balance checks</a:t>
            </a:r>
            <a:endParaRPr/>
          </a:p>
        </p:txBody>
      </p:sp>
      <p:sp>
        <p:nvSpPr>
          <p:cNvPr id="1353" name="Google Shape;1353;p27"/>
          <p:cNvSpPr/>
          <p:nvPr/>
        </p:nvSpPr>
        <p:spPr>
          <a:xfrm>
            <a:off x="6903720" y="2468879"/>
            <a:ext cx="2377440" cy="566928"/>
          </a:xfrm>
          <a:prstGeom prst="rect">
            <a:avLst/>
          </a:prstGeom>
          <a:solidFill>
            <a:srgbClr val="030F13">
              <a:alpha val="96862"/>
            </a:srgbClr>
          </a:solidFill>
          <a:ln cap="flat" cmpd="sng" w="152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54" name="Google Shape;1354;p27"/>
          <p:cNvCxnSpPr/>
          <p:nvPr/>
        </p:nvCxnSpPr>
        <p:spPr>
          <a:xfrm>
            <a:off x="6995159" y="2578608"/>
            <a:ext cx="292609" cy="0"/>
          </a:xfrm>
          <a:prstGeom prst="straightConnector1">
            <a:avLst/>
          </a:prstGeom>
          <a:noFill/>
          <a:ln cap="flat" cmpd="sng" w="152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55" name="Google Shape;1355;p27"/>
          <p:cNvSpPr txBox="1"/>
          <p:nvPr/>
        </p:nvSpPr>
        <p:spPr>
          <a:xfrm>
            <a:off x="7013448" y="2523744"/>
            <a:ext cx="215798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8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Design Lead Agent</a:t>
            </a:r>
            <a:endParaRPr/>
          </a:p>
        </p:txBody>
      </p:sp>
      <p:sp>
        <p:nvSpPr>
          <p:cNvPr id="1356" name="Google Shape;1356;p27"/>
          <p:cNvSpPr/>
          <p:nvPr/>
        </p:nvSpPr>
        <p:spPr>
          <a:xfrm>
            <a:off x="731520" y="3218687"/>
            <a:ext cx="2057400" cy="566928"/>
          </a:xfrm>
          <a:prstGeom prst="rect">
            <a:avLst/>
          </a:prstGeom>
          <a:solidFill>
            <a:srgbClr val="030F13">
              <a:alpha val="96862"/>
            </a:srgbClr>
          </a:solidFill>
          <a:ln cap="flat" cmpd="sng" w="152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57" name="Google Shape;1357;p27"/>
          <p:cNvCxnSpPr/>
          <p:nvPr/>
        </p:nvCxnSpPr>
        <p:spPr>
          <a:xfrm>
            <a:off x="822960" y="3328415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58" name="Google Shape;1358;p27"/>
          <p:cNvSpPr txBox="1"/>
          <p:nvPr/>
        </p:nvSpPr>
        <p:spPr>
          <a:xfrm>
            <a:off x="841248" y="3273551"/>
            <a:ext cx="1837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8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Engineer</a:t>
            </a:r>
            <a:endParaRPr/>
          </a:p>
        </p:txBody>
      </p:sp>
      <p:sp>
        <p:nvSpPr>
          <p:cNvPr id="1359" name="Google Shape;1359;p27"/>
          <p:cNvSpPr/>
          <p:nvPr/>
        </p:nvSpPr>
        <p:spPr>
          <a:xfrm>
            <a:off x="3520440" y="3218687"/>
            <a:ext cx="2743200" cy="566928"/>
          </a:xfrm>
          <a:prstGeom prst="rect">
            <a:avLst/>
          </a:prstGeom>
          <a:solidFill>
            <a:srgbClr val="030F13">
              <a:alpha val="96862"/>
            </a:srgbClr>
          </a:solidFill>
          <a:ln cap="flat" cmpd="sng" w="152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60" name="Google Shape;1360;p27"/>
          <p:cNvCxnSpPr/>
          <p:nvPr/>
        </p:nvCxnSpPr>
        <p:spPr>
          <a:xfrm>
            <a:off x="3611880" y="3328415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61" name="Google Shape;1361;p27"/>
          <p:cNvSpPr txBox="1"/>
          <p:nvPr/>
        </p:nvSpPr>
        <p:spPr>
          <a:xfrm>
            <a:off x="3630168" y="3273551"/>
            <a:ext cx="252374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7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Codex feature work</a:t>
            </a:r>
            <a:b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en-US" sz="107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refactor • review</a:t>
            </a:r>
            <a:endParaRPr/>
          </a:p>
        </p:txBody>
      </p:sp>
      <p:sp>
        <p:nvSpPr>
          <p:cNvPr id="1362" name="Google Shape;1362;p27"/>
          <p:cNvSpPr/>
          <p:nvPr/>
        </p:nvSpPr>
        <p:spPr>
          <a:xfrm>
            <a:off x="6903720" y="3218687"/>
            <a:ext cx="2377440" cy="566928"/>
          </a:xfrm>
          <a:prstGeom prst="rect">
            <a:avLst/>
          </a:prstGeom>
          <a:solidFill>
            <a:srgbClr val="030F13">
              <a:alpha val="96862"/>
            </a:srgbClr>
          </a:solidFill>
          <a:ln cap="flat" cmpd="sng" w="152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63" name="Google Shape;1363;p27"/>
          <p:cNvCxnSpPr/>
          <p:nvPr/>
        </p:nvCxnSpPr>
        <p:spPr>
          <a:xfrm>
            <a:off x="6995159" y="3328415"/>
            <a:ext cx="292609" cy="0"/>
          </a:xfrm>
          <a:prstGeom prst="straightConnector1">
            <a:avLst/>
          </a:prstGeom>
          <a:noFill/>
          <a:ln cap="flat" cmpd="sng" w="152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64" name="Google Shape;1364;p27"/>
          <p:cNvSpPr txBox="1"/>
          <p:nvPr/>
        </p:nvSpPr>
        <p:spPr>
          <a:xfrm>
            <a:off x="7013448" y="3273551"/>
            <a:ext cx="215798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8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Engineering Lead</a:t>
            </a:r>
            <a:endParaRPr/>
          </a:p>
        </p:txBody>
      </p:sp>
      <p:sp>
        <p:nvSpPr>
          <p:cNvPr id="1365" name="Google Shape;1365;p27"/>
          <p:cNvSpPr/>
          <p:nvPr/>
        </p:nvSpPr>
        <p:spPr>
          <a:xfrm>
            <a:off x="731520" y="3968496"/>
            <a:ext cx="2057400" cy="566928"/>
          </a:xfrm>
          <a:prstGeom prst="rect">
            <a:avLst/>
          </a:prstGeom>
          <a:solidFill>
            <a:srgbClr val="030F13">
              <a:alpha val="96862"/>
            </a:srgbClr>
          </a:solidFill>
          <a:ln cap="flat" cmpd="sng" w="15225">
            <a:solidFill>
              <a:srgbClr val="67BC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66" name="Google Shape;1366;p27"/>
          <p:cNvCxnSpPr/>
          <p:nvPr/>
        </p:nvCxnSpPr>
        <p:spPr>
          <a:xfrm>
            <a:off x="822960" y="4078224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67BC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67" name="Google Shape;1367;p27"/>
          <p:cNvSpPr txBox="1"/>
          <p:nvPr/>
        </p:nvSpPr>
        <p:spPr>
          <a:xfrm>
            <a:off x="841248" y="4023359"/>
            <a:ext cx="1837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8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QA / Build</a:t>
            </a:r>
            <a:endParaRPr/>
          </a:p>
        </p:txBody>
      </p:sp>
      <p:sp>
        <p:nvSpPr>
          <p:cNvPr id="1368" name="Google Shape;1368;p27"/>
          <p:cNvSpPr/>
          <p:nvPr/>
        </p:nvSpPr>
        <p:spPr>
          <a:xfrm>
            <a:off x="3520440" y="3968496"/>
            <a:ext cx="2743200" cy="566928"/>
          </a:xfrm>
          <a:prstGeom prst="rect">
            <a:avLst/>
          </a:prstGeom>
          <a:solidFill>
            <a:srgbClr val="030F13">
              <a:alpha val="96862"/>
            </a:srgbClr>
          </a:solidFill>
          <a:ln cap="flat" cmpd="sng" w="15225">
            <a:solidFill>
              <a:srgbClr val="67BC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69" name="Google Shape;1369;p27"/>
          <p:cNvCxnSpPr/>
          <p:nvPr/>
        </p:nvCxnSpPr>
        <p:spPr>
          <a:xfrm>
            <a:off x="3611880" y="4078224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67BC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70" name="Google Shape;1370;p27"/>
          <p:cNvSpPr txBox="1"/>
          <p:nvPr/>
        </p:nvSpPr>
        <p:spPr>
          <a:xfrm>
            <a:off x="3630168" y="4023359"/>
            <a:ext cx="252374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7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tests • captures</a:t>
            </a:r>
            <a:b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en-US" sz="107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release logs</a:t>
            </a:r>
            <a:endParaRPr/>
          </a:p>
        </p:txBody>
      </p:sp>
      <p:sp>
        <p:nvSpPr>
          <p:cNvPr id="1371" name="Google Shape;1371;p27"/>
          <p:cNvSpPr/>
          <p:nvPr/>
        </p:nvSpPr>
        <p:spPr>
          <a:xfrm>
            <a:off x="6903720" y="3968496"/>
            <a:ext cx="2377440" cy="566928"/>
          </a:xfrm>
          <a:prstGeom prst="rect">
            <a:avLst/>
          </a:prstGeom>
          <a:solidFill>
            <a:srgbClr val="030F13">
              <a:alpha val="96862"/>
            </a:srgbClr>
          </a:solidFill>
          <a:ln cap="flat" cmpd="sng" w="15225">
            <a:solidFill>
              <a:srgbClr val="67BC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72" name="Google Shape;1372;p27"/>
          <p:cNvCxnSpPr/>
          <p:nvPr/>
        </p:nvCxnSpPr>
        <p:spPr>
          <a:xfrm>
            <a:off x="6995159" y="4078224"/>
            <a:ext cx="292609" cy="0"/>
          </a:xfrm>
          <a:prstGeom prst="straightConnector1">
            <a:avLst/>
          </a:prstGeom>
          <a:noFill/>
          <a:ln cap="flat" cmpd="sng" w="15225">
            <a:solidFill>
              <a:srgbClr val="67BC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73" name="Google Shape;1373;p27"/>
          <p:cNvSpPr txBox="1"/>
          <p:nvPr/>
        </p:nvSpPr>
        <p:spPr>
          <a:xfrm>
            <a:off x="7013448" y="4023359"/>
            <a:ext cx="215798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8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QA Lead Agent</a:t>
            </a:r>
            <a:endParaRPr/>
          </a:p>
        </p:txBody>
      </p:sp>
      <p:sp>
        <p:nvSpPr>
          <p:cNvPr id="1374" name="Google Shape;1374;p27"/>
          <p:cNvSpPr/>
          <p:nvPr/>
        </p:nvSpPr>
        <p:spPr>
          <a:xfrm>
            <a:off x="9646920" y="1920240"/>
            <a:ext cx="2240280" cy="713232"/>
          </a:xfrm>
          <a:prstGeom prst="rect">
            <a:avLst/>
          </a:prstGeom>
          <a:solidFill>
            <a:srgbClr val="030F13">
              <a:alpha val="96862"/>
            </a:srgbClr>
          </a:solidFill>
          <a:ln cap="flat" cmpd="sng" w="152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75" name="Google Shape;1375;p27"/>
          <p:cNvCxnSpPr/>
          <p:nvPr/>
        </p:nvCxnSpPr>
        <p:spPr>
          <a:xfrm>
            <a:off x="9738360" y="2029968"/>
            <a:ext cx="292608" cy="0"/>
          </a:xfrm>
          <a:prstGeom prst="straightConnector1">
            <a:avLst/>
          </a:prstGeom>
          <a:noFill/>
          <a:ln cap="flat" cmpd="sng" w="152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76" name="Google Shape;1376;p27"/>
          <p:cNvSpPr txBox="1"/>
          <p:nvPr/>
        </p:nvSpPr>
        <p:spPr>
          <a:xfrm>
            <a:off x="9765792" y="2057400"/>
            <a:ext cx="200253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6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PM Orchestration Agent</a:t>
            </a:r>
            <a:endParaRPr/>
          </a:p>
        </p:txBody>
      </p:sp>
      <p:sp>
        <p:nvSpPr>
          <p:cNvPr id="1377" name="Google Shape;1377;p27"/>
          <p:cNvSpPr txBox="1"/>
          <p:nvPr/>
        </p:nvSpPr>
        <p:spPr>
          <a:xfrm>
            <a:off x="9774936" y="2350008"/>
            <a:ext cx="19842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19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milestones • dependencies</a:t>
            </a:r>
            <a:b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lang="en-US" sz="819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approval requests</a:t>
            </a:r>
            <a:endParaRPr/>
          </a:p>
        </p:txBody>
      </p:sp>
      <p:sp>
        <p:nvSpPr>
          <p:cNvPr id="1378" name="Google Shape;1378;p27"/>
          <p:cNvSpPr/>
          <p:nvPr/>
        </p:nvSpPr>
        <p:spPr>
          <a:xfrm>
            <a:off x="9491472" y="3273552"/>
            <a:ext cx="2542032" cy="1170432"/>
          </a:xfrm>
          <a:prstGeom prst="rect">
            <a:avLst/>
          </a:prstGeom>
          <a:solidFill>
            <a:srgbClr val="011218">
              <a:alpha val="96862"/>
            </a:srgbClr>
          </a:solidFill>
          <a:ln cap="flat" cmpd="sng" w="12700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9" name="Google Shape;1379;p27"/>
          <p:cNvSpPr txBox="1"/>
          <p:nvPr/>
        </p:nvSpPr>
        <p:spPr>
          <a:xfrm>
            <a:off x="9646920" y="3401568"/>
            <a:ext cx="223113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2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Shared Source of Truth</a:t>
            </a:r>
            <a:endParaRPr/>
          </a:p>
        </p:txBody>
      </p:sp>
      <p:sp>
        <p:nvSpPr>
          <p:cNvPr id="1380" name="Google Shape;1380;p27"/>
          <p:cNvSpPr txBox="1"/>
          <p:nvPr/>
        </p:nvSpPr>
        <p:spPr>
          <a:xfrm>
            <a:off x="9674352" y="3703320"/>
            <a:ext cx="2139696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80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repo + branches</a:t>
            </a:r>
            <a:b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lang="en-US" sz="880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design docs</a:t>
            </a:r>
            <a:b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lang="en-US" sz="880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asset library</a:t>
            </a:r>
            <a:b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lang="en-US" sz="880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tests + builds</a:t>
            </a:r>
            <a:endParaRPr/>
          </a:p>
        </p:txBody>
      </p:sp>
      <p:sp>
        <p:nvSpPr>
          <p:cNvPr id="1381" name="Google Shape;1381;p27"/>
          <p:cNvSpPr/>
          <p:nvPr/>
        </p:nvSpPr>
        <p:spPr>
          <a:xfrm>
            <a:off x="777240" y="4956048"/>
            <a:ext cx="11109960" cy="822960"/>
          </a:xfrm>
          <a:prstGeom prst="rect">
            <a:avLst/>
          </a:prstGeom>
          <a:solidFill>
            <a:srgbClr val="001116">
              <a:alpha val="96078"/>
            </a:srgbClr>
          </a:solidFill>
          <a:ln cap="flat" cmpd="sng" w="12700">
            <a:solidFill>
              <a:srgbClr val="6DFF9A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2" name="Google Shape;1382;p27"/>
          <p:cNvSpPr txBox="1"/>
          <p:nvPr/>
        </p:nvSpPr>
        <p:spPr>
          <a:xfrm>
            <a:off x="960120" y="5102352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6DFF9A"/>
                </a:solidFill>
                <a:latin typeface="Arial"/>
                <a:ea typeface="Arial"/>
                <a:cs typeface="Arial"/>
                <a:sym typeface="Arial"/>
              </a:rPr>
              <a:t>Governance guardrails</a:t>
            </a:r>
            <a:endParaRPr/>
          </a:p>
        </p:txBody>
      </p:sp>
      <p:sp>
        <p:nvSpPr>
          <p:cNvPr id="1383" name="Google Shape;1383;p27"/>
          <p:cNvSpPr txBox="1"/>
          <p:nvPr/>
        </p:nvSpPr>
        <p:spPr>
          <a:xfrm>
            <a:off x="2743200" y="5084064"/>
            <a:ext cx="8915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20">
                <a:solidFill>
                  <a:srgbClr val="EBF6F8"/>
                </a:solidFill>
                <a:latin typeface="Arial"/>
                <a:ea typeface="Arial"/>
                <a:cs typeface="Arial"/>
                <a:sym typeface="Arial"/>
              </a:rPr>
              <a:t>role-based permissions  •  branch/PR boundaries  •  approval gates  •  audit reports  •  rollback paths  •  replaceable models</a:t>
            </a:r>
            <a:endParaRPr/>
          </a:p>
        </p:txBody>
      </p:sp>
      <p:sp>
        <p:nvSpPr>
          <p:cNvPr id="1384" name="Google Shape;1384;p27"/>
          <p:cNvSpPr/>
          <p:nvPr/>
        </p:nvSpPr>
        <p:spPr>
          <a:xfrm>
            <a:off x="868680" y="5989320"/>
            <a:ext cx="10469880" cy="347472"/>
          </a:xfrm>
          <a:prstGeom prst="rect">
            <a:avLst/>
          </a:prstGeom>
          <a:solidFill>
            <a:srgbClr val="0C0701">
              <a:alpha val="96078"/>
            </a:srgbClr>
          </a:solidFill>
          <a:ln cap="flat" cmpd="sng" w="11425">
            <a:solidFill>
              <a:srgbClr val="FFBE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5" name="Google Shape;1385;p27"/>
          <p:cNvSpPr txBox="1"/>
          <p:nvPr/>
        </p:nvSpPr>
        <p:spPr>
          <a:xfrm>
            <a:off x="1051560" y="6062472"/>
            <a:ext cx="10104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20">
                <a:solidFill>
                  <a:srgbClr val="FFBE00"/>
                </a:solidFill>
                <a:latin typeface="Arial"/>
                <a:ea typeface="Arial"/>
                <a:cs typeface="Arial"/>
                <a:sym typeface="Arial"/>
              </a:rPr>
              <a:t>Enterprise readiness = ownership + permissions + review + accountability + escalation.</a:t>
            </a:r>
            <a:endParaRPr/>
          </a:p>
        </p:txBody>
      </p:sp>
      <p:cxnSp>
        <p:nvCxnSpPr>
          <p:cNvPr id="1386" name="Google Shape;1386;p27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00E5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87" name="Google Shape;1387;p27"/>
          <p:cNvSpPr txBox="1"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50">
                <a:solidFill>
                  <a:srgbClr val="AAC3C9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/>
          </a:p>
        </p:txBody>
      </p:sp>
      <p:sp>
        <p:nvSpPr>
          <p:cNvPr id="1388" name="Google Shape;1388;p27"/>
          <p:cNvSpPr txBox="1"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A0E"/>
        </a:solidFill>
      </p:bgPr>
    </p:bg>
    <p:spTree>
      <p:nvGrpSpPr>
        <p:cNvPr id="1393" name="Shape 1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4" name="Google Shape;1394;p2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0E"/>
          </a:solidFill>
          <a:ln cap="flat" cmpd="sng" w="12700">
            <a:solidFill>
              <a:srgbClr val="050A0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5" name="Google Shape;1395;p28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6" name="Google Shape;1396;p28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7" name="Google Shape;1397;p28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recommendations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98" name="Google Shape;1398;p28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9" name="Google Shape;1399;p28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00" name="Google Shape;1400;p28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01" name="Google Shape;1401;p28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02" name="Google Shape;1402;p28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03" name="Google Shape;1403;p28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04" name="Google Shape;1404;p28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05" name="Google Shape;1405;p28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6" name="Google Shape;1406;p28"/>
          <p:cNvSpPr/>
          <p:nvPr/>
        </p:nvSpPr>
        <p:spPr>
          <a:xfrm>
            <a:off x="658368" y="530352"/>
            <a:ext cx="107899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A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What to measure next: production, product + AI cost</a:t>
            </a:r>
            <a:endParaRPr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7" name="Google Shape;1407;p28"/>
          <p:cNvSpPr/>
          <p:nvPr/>
        </p:nvSpPr>
        <p:spPr>
          <a:xfrm>
            <a:off x="804672" y="1298448"/>
            <a:ext cx="5074920" cy="71323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08" name="Google Shape;1408;p28"/>
          <p:cNvCxnSpPr/>
          <p:nvPr/>
        </p:nvCxnSpPr>
        <p:spPr>
          <a:xfrm>
            <a:off x="877824" y="137160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09" name="Google Shape;1409;p28"/>
          <p:cNvCxnSpPr/>
          <p:nvPr/>
        </p:nvCxnSpPr>
        <p:spPr>
          <a:xfrm>
            <a:off x="5550408" y="1938528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0" name="Google Shape;1410;p28"/>
          <p:cNvSpPr/>
          <p:nvPr/>
        </p:nvSpPr>
        <p:spPr>
          <a:xfrm>
            <a:off x="969264" y="1371600"/>
            <a:ext cx="4745736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80"/>
              <a:buFont typeface="Arial"/>
              <a:buNone/>
            </a:pPr>
            <a:r>
              <a:rPr b="1"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Cycle time</a:t>
            </a:r>
            <a:endParaRPr sz="12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80"/>
              <a:buFont typeface="Arial"/>
              <a:buNone/>
            </a:pPr>
            <a:r>
              <a:rPr b="1"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idea → approved mockup → Unity result</a:t>
            </a:r>
            <a:endParaRPr sz="12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1" name="Google Shape;1411;p28"/>
          <p:cNvSpPr/>
          <p:nvPr/>
        </p:nvSpPr>
        <p:spPr>
          <a:xfrm>
            <a:off x="6382512" y="1298448"/>
            <a:ext cx="5074920" cy="71323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12" name="Google Shape;1412;p28"/>
          <p:cNvCxnSpPr/>
          <p:nvPr/>
        </p:nvCxnSpPr>
        <p:spPr>
          <a:xfrm>
            <a:off x="6455664" y="137160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13" name="Google Shape;1413;p28"/>
          <p:cNvCxnSpPr/>
          <p:nvPr/>
        </p:nvCxnSpPr>
        <p:spPr>
          <a:xfrm>
            <a:off x="11128248" y="1938528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4" name="Google Shape;1414;p28"/>
          <p:cNvSpPr/>
          <p:nvPr/>
        </p:nvSpPr>
        <p:spPr>
          <a:xfrm>
            <a:off x="6547104" y="1371600"/>
            <a:ext cx="4745736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80"/>
              <a:buFont typeface="Arial"/>
              <a:buNone/>
            </a:pPr>
            <a:r>
              <a:rPr b="1"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Visual match quality</a:t>
            </a:r>
            <a:endParaRPr sz="12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80"/>
              <a:buFont typeface="Arial"/>
              <a:buNone/>
            </a:pPr>
            <a:r>
              <a:rPr b="1"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AI visual score + human rating</a:t>
            </a:r>
            <a:endParaRPr sz="12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5" name="Google Shape;1415;p28"/>
          <p:cNvSpPr/>
          <p:nvPr/>
        </p:nvSpPr>
        <p:spPr>
          <a:xfrm>
            <a:off x="804672" y="2350008"/>
            <a:ext cx="5074920" cy="71323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16" name="Google Shape;1416;p28"/>
          <p:cNvCxnSpPr/>
          <p:nvPr/>
        </p:nvCxnSpPr>
        <p:spPr>
          <a:xfrm>
            <a:off x="877824" y="242316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17" name="Google Shape;1417;p28"/>
          <p:cNvCxnSpPr/>
          <p:nvPr/>
        </p:nvCxnSpPr>
        <p:spPr>
          <a:xfrm>
            <a:off x="5550408" y="2990088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8" name="Google Shape;1418;p28"/>
          <p:cNvSpPr/>
          <p:nvPr/>
        </p:nvSpPr>
        <p:spPr>
          <a:xfrm>
            <a:off x="969264" y="2423160"/>
            <a:ext cx="4745736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80"/>
              <a:buFont typeface="Arial"/>
              <a:buNone/>
            </a:pPr>
            <a:r>
              <a:rPr b="1"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Validation rate</a:t>
            </a:r>
            <a:endParaRPr sz="12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80"/>
              <a:buFont typeface="Arial"/>
              <a:buNone/>
            </a:pPr>
            <a:r>
              <a:rPr b="1"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tests passed / failed / blocked</a:t>
            </a:r>
            <a:endParaRPr sz="12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9" name="Google Shape;1419;p28"/>
          <p:cNvSpPr/>
          <p:nvPr/>
        </p:nvSpPr>
        <p:spPr>
          <a:xfrm>
            <a:off x="6382512" y="2350008"/>
            <a:ext cx="5074920" cy="71323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20" name="Google Shape;1420;p28"/>
          <p:cNvCxnSpPr/>
          <p:nvPr/>
        </p:nvCxnSpPr>
        <p:spPr>
          <a:xfrm>
            <a:off x="6455664" y="242316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21" name="Google Shape;1421;p28"/>
          <p:cNvCxnSpPr/>
          <p:nvPr/>
        </p:nvCxnSpPr>
        <p:spPr>
          <a:xfrm>
            <a:off x="11128248" y="2990088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22" name="Google Shape;1422;p28"/>
          <p:cNvSpPr/>
          <p:nvPr/>
        </p:nvSpPr>
        <p:spPr>
          <a:xfrm>
            <a:off x="6547104" y="2423160"/>
            <a:ext cx="4745736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80"/>
              <a:buFont typeface="Arial"/>
              <a:buNone/>
            </a:pPr>
            <a:r>
              <a:rPr b="1"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Agent reliability</a:t>
            </a:r>
            <a:endParaRPr sz="12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80"/>
              <a:buFont typeface="Arial"/>
              <a:buNone/>
            </a:pPr>
            <a:r>
              <a:rPr b="1"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honest reports, access failures, retries</a:t>
            </a:r>
            <a:endParaRPr sz="12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3" name="Google Shape;1423;p28"/>
          <p:cNvSpPr/>
          <p:nvPr/>
        </p:nvSpPr>
        <p:spPr>
          <a:xfrm>
            <a:off x="804672" y="3401568"/>
            <a:ext cx="5074920" cy="71323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24" name="Google Shape;1424;p28"/>
          <p:cNvCxnSpPr/>
          <p:nvPr/>
        </p:nvCxnSpPr>
        <p:spPr>
          <a:xfrm>
            <a:off x="877824" y="347472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25" name="Google Shape;1425;p28"/>
          <p:cNvCxnSpPr/>
          <p:nvPr/>
        </p:nvCxnSpPr>
        <p:spPr>
          <a:xfrm>
            <a:off x="5550408" y="4041648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26" name="Google Shape;1426;p28"/>
          <p:cNvSpPr/>
          <p:nvPr/>
        </p:nvSpPr>
        <p:spPr>
          <a:xfrm>
            <a:off x="969264" y="3474720"/>
            <a:ext cx="4745736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18275" spcFirstLastPara="1" rIns="18275" wrap="square" tIns="91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AFF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Analytics coverage</a:t>
            </a:r>
            <a:endParaRPr sz="12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event schema, funnels, missing triggers</a:t>
            </a:r>
            <a:endParaRPr/>
          </a:p>
        </p:txBody>
      </p:sp>
      <p:sp>
        <p:nvSpPr>
          <p:cNvPr id="1427" name="Google Shape;1427;p28"/>
          <p:cNvSpPr/>
          <p:nvPr/>
        </p:nvSpPr>
        <p:spPr>
          <a:xfrm>
            <a:off x="6382512" y="3401568"/>
            <a:ext cx="5074920" cy="713232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28" name="Google Shape;1428;p28"/>
          <p:cNvCxnSpPr/>
          <p:nvPr/>
        </p:nvCxnSpPr>
        <p:spPr>
          <a:xfrm>
            <a:off x="6455664" y="3474720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29" name="Google Shape;1429;p28"/>
          <p:cNvCxnSpPr/>
          <p:nvPr/>
        </p:nvCxnSpPr>
        <p:spPr>
          <a:xfrm>
            <a:off x="11128248" y="4041648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15556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30" name="Google Shape;1430;p28"/>
          <p:cNvSpPr/>
          <p:nvPr/>
        </p:nvSpPr>
        <p:spPr>
          <a:xfrm>
            <a:off x="6547104" y="3474720"/>
            <a:ext cx="4745736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18275" spcFirstLastPara="1" rIns="18275" wrap="square" tIns="91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FAFF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Player funnel health</a:t>
            </a:r>
            <a:endParaRPr sz="12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CFAFF"/>
                </a:solidFill>
                <a:latin typeface="Arial"/>
                <a:ea typeface="Arial"/>
                <a:cs typeface="Arial"/>
                <a:sym typeface="Arial"/>
              </a:rPr>
              <a:t>tutorial drop, D1/D7, mission abandon</a:t>
            </a:r>
            <a:endParaRPr/>
          </a:p>
        </p:txBody>
      </p:sp>
      <p:sp>
        <p:nvSpPr>
          <p:cNvPr id="1431" name="Google Shape;1431;p28"/>
          <p:cNvSpPr/>
          <p:nvPr/>
        </p:nvSpPr>
        <p:spPr>
          <a:xfrm>
            <a:off x="868680" y="5486400"/>
            <a:ext cx="10424160" cy="475488"/>
          </a:xfrm>
          <a:prstGeom prst="rect">
            <a:avLst/>
          </a:prstGeom>
          <a:solidFill>
            <a:srgbClr val="0A181C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2" name="Google Shape;1432;p28"/>
          <p:cNvSpPr/>
          <p:nvPr/>
        </p:nvSpPr>
        <p:spPr>
          <a:xfrm>
            <a:off x="941832" y="5559552"/>
            <a:ext cx="1027785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18275" spcFirstLastPara="1" rIns="18275" wrap="square" tIns="912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C400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FFC400"/>
                </a:solidFill>
                <a:latin typeface="Arial"/>
                <a:ea typeface="Arial"/>
                <a:cs typeface="Arial"/>
                <a:sym typeface="Arial"/>
              </a:rPr>
              <a:t>Measure both the AI production system and the player experience it creates.</a:t>
            </a:r>
            <a:endParaRPr sz="15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33" name="Google Shape;1433;p28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34" name="Google Shape;1434;p28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5" name="Google Shape;1435;p28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  <a:endParaRPr/>
          </a:p>
        </p:txBody>
      </p:sp>
      <p:sp>
        <p:nvSpPr>
          <p:cNvPr id="1436" name="Google Shape;1436;p28"/>
          <p:cNvSpPr/>
          <p:nvPr/>
        </p:nvSpPr>
        <p:spPr>
          <a:xfrm>
            <a:off x="804672" y="4443984"/>
            <a:ext cx="5074920" cy="676656"/>
          </a:xfrm>
          <a:prstGeom prst="rect">
            <a:avLst/>
          </a:prstGeom>
          <a:solidFill>
            <a:srgbClr val="041A20">
              <a:alpha val="85882"/>
            </a:srgbClr>
          </a:solidFill>
          <a:ln cap="flat" cmpd="sng" w="1270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37" name="Google Shape;1437;p28"/>
          <p:cNvCxnSpPr/>
          <p:nvPr/>
        </p:nvCxnSpPr>
        <p:spPr>
          <a:xfrm>
            <a:off x="914400" y="4553712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438" name="Google Shape;1438;p28"/>
          <p:cNvCxnSpPr/>
          <p:nvPr/>
        </p:nvCxnSpPr>
        <p:spPr>
          <a:xfrm>
            <a:off x="5495544" y="5010912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00F0F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39" name="Google Shape;1439;p28"/>
          <p:cNvSpPr txBox="1"/>
          <p:nvPr/>
        </p:nvSpPr>
        <p:spPr>
          <a:xfrm>
            <a:off x="1005840" y="4590288"/>
            <a:ext cx="4672583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BF4F6"/>
                </a:solidFill>
                <a:latin typeface="Play"/>
                <a:ea typeface="Play"/>
                <a:cs typeface="Play"/>
                <a:sym typeface="Play"/>
              </a:rPr>
              <a:t>Synthetic playtest coverage</a:t>
            </a:r>
            <a:endParaRPr/>
          </a:p>
        </p:txBody>
      </p:sp>
      <p:sp>
        <p:nvSpPr>
          <p:cNvPr id="1440" name="Google Shape;1440;p28"/>
          <p:cNvSpPr txBox="1"/>
          <p:nvPr/>
        </p:nvSpPr>
        <p:spPr>
          <a:xfrm>
            <a:off x="1005840" y="4919472"/>
            <a:ext cx="4672583" cy="10972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personas • sessions • pre-release friction</a:t>
            </a:r>
            <a:endParaRPr/>
          </a:p>
        </p:txBody>
      </p:sp>
      <p:sp>
        <p:nvSpPr>
          <p:cNvPr id="1441" name="Google Shape;1441;p28"/>
          <p:cNvSpPr/>
          <p:nvPr/>
        </p:nvSpPr>
        <p:spPr>
          <a:xfrm>
            <a:off x="6382512" y="4443984"/>
            <a:ext cx="5074920" cy="676656"/>
          </a:xfrm>
          <a:prstGeom prst="rect">
            <a:avLst/>
          </a:prstGeom>
          <a:solidFill>
            <a:srgbClr val="041A20">
              <a:alpha val="85882"/>
            </a:srgbClr>
          </a:solidFill>
          <a:ln cap="flat" cmpd="sng" w="12700">
            <a:solidFill>
              <a:srgbClr val="FFB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42" name="Google Shape;1442;p28"/>
          <p:cNvCxnSpPr/>
          <p:nvPr/>
        </p:nvCxnSpPr>
        <p:spPr>
          <a:xfrm>
            <a:off x="6492240" y="4553712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FFB000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443" name="Google Shape;1443;p28"/>
          <p:cNvCxnSpPr/>
          <p:nvPr/>
        </p:nvCxnSpPr>
        <p:spPr>
          <a:xfrm>
            <a:off x="11073384" y="5010912"/>
            <a:ext cx="274320" cy="0"/>
          </a:xfrm>
          <a:prstGeom prst="straightConnector1">
            <a:avLst/>
          </a:prstGeom>
          <a:noFill/>
          <a:ln cap="flat" cmpd="sng" w="13950">
            <a:solidFill>
              <a:srgbClr val="FFB0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44" name="Google Shape;1444;p28"/>
          <p:cNvSpPr txBox="1"/>
          <p:nvPr/>
        </p:nvSpPr>
        <p:spPr>
          <a:xfrm>
            <a:off x="6583680" y="4590288"/>
            <a:ext cx="4672583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EBF4F6"/>
                </a:solidFill>
                <a:latin typeface="Play"/>
                <a:ea typeface="Play"/>
                <a:cs typeface="Play"/>
                <a:sym typeface="Play"/>
              </a:rPr>
              <a:t>AI billing / token usage</a:t>
            </a:r>
            <a:endParaRPr/>
          </a:p>
        </p:txBody>
      </p:sp>
      <p:sp>
        <p:nvSpPr>
          <p:cNvPr id="1445" name="Google Shape;1445;p28"/>
          <p:cNvSpPr txBox="1"/>
          <p:nvPr/>
        </p:nvSpPr>
        <p:spPr>
          <a:xfrm>
            <a:off x="6583680" y="4919472"/>
            <a:ext cx="4672583" cy="10972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EBF4F6"/>
                </a:solidFill>
                <a:latin typeface="Arial"/>
                <a:ea typeface="Arial"/>
                <a:cs typeface="Arial"/>
                <a:sym typeface="Arial"/>
              </a:rPr>
              <a:t>credits • tokens • billable runs • cost per approved milestone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0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mnt/data/wc_sagamap_target.png" id="1451" name="Google Shape;1451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2" name="Google Shape;1452;p29"/>
          <p:cNvSpPr/>
          <p:nvPr/>
        </p:nvSpPr>
        <p:spPr>
          <a:xfrm>
            <a:off x="9144" y="173736"/>
            <a:ext cx="12173407" cy="6675120"/>
          </a:xfrm>
          <a:prstGeom prst="rect">
            <a:avLst/>
          </a:prstGeom>
          <a:solidFill>
            <a:srgbClr val="000000">
              <a:alpha val="76078"/>
            </a:srgbClr>
          </a:solidFill>
          <a:ln cap="flat" cmpd="sng" w="12700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3" name="Google Shape;1453;p29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4" name="Google Shape;1454;p29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5" name="Google Shape;1455;p29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FUTURE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56" name="Google Shape;1456;p29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57" name="Google Shape;1457;p29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58" name="Google Shape;1458;p29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59" name="Google Shape;1459;p29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60" name="Google Shape;1460;p29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61" name="Google Shape;1461;p29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62" name="Google Shape;1462;p29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63" name="Google Shape;1463;p29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4" name="Google Shape;1464;p29"/>
          <p:cNvSpPr/>
          <p:nvPr/>
        </p:nvSpPr>
        <p:spPr>
          <a:xfrm>
            <a:off x="749808" y="676656"/>
            <a:ext cx="10789920" cy="566928"/>
          </a:xfrm>
          <a:prstGeom prst="rect">
            <a:avLst/>
          </a:prstGeom>
          <a:solidFill>
            <a:srgbClr val="050A0E">
              <a:alpha val="92156"/>
            </a:srgbClr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5" name="Google Shape;1465;p29"/>
          <p:cNvSpPr/>
          <p:nvPr/>
        </p:nvSpPr>
        <p:spPr>
          <a:xfrm>
            <a:off x="914400" y="749808"/>
            <a:ext cx="104607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2550"/>
              <a:buFont typeface="Arial"/>
              <a:buNone/>
            </a:pPr>
            <a:r>
              <a:rPr b="1" lang="en-US" sz="25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Where this points: the autonomous indie studio</a:t>
            </a:r>
            <a:endParaRPr sz="25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66" name="Google Shape;1466;p29"/>
          <p:cNvCxnSpPr/>
          <p:nvPr/>
        </p:nvCxnSpPr>
        <p:spPr>
          <a:xfrm>
            <a:off x="2880360" y="2066544"/>
            <a:ext cx="1051560" cy="0"/>
          </a:xfrm>
          <a:prstGeom prst="straightConnector1">
            <a:avLst/>
          </a:prstGeom>
          <a:noFill/>
          <a:ln cap="flat" cmpd="sng" w="12700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467" name="Google Shape;1467;p29"/>
          <p:cNvCxnSpPr/>
          <p:nvPr/>
        </p:nvCxnSpPr>
        <p:spPr>
          <a:xfrm>
            <a:off x="6400800" y="2066544"/>
            <a:ext cx="1097280" cy="0"/>
          </a:xfrm>
          <a:prstGeom prst="straightConnector1">
            <a:avLst/>
          </a:prstGeom>
          <a:noFill/>
          <a:ln cap="flat" cmpd="sng" w="12700">
            <a:solidFill>
              <a:srgbClr val="6E899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468" name="Google Shape;1468;p29"/>
          <p:cNvSpPr/>
          <p:nvPr/>
        </p:nvSpPr>
        <p:spPr>
          <a:xfrm>
            <a:off x="1005840" y="1737360"/>
            <a:ext cx="1874520" cy="658368"/>
          </a:xfrm>
          <a:prstGeom prst="rect">
            <a:avLst/>
          </a:prstGeom>
          <a:solidFill>
            <a:srgbClr val="0D2117">
              <a:alpha val="96078"/>
            </a:srgbClr>
          </a:solidFill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69" name="Google Shape;1469;p29"/>
          <p:cNvCxnSpPr/>
          <p:nvPr/>
        </p:nvCxnSpPr>
        <p:spPr>
          <a:xfrm>
            <a:off x="1078992" y="181051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70" name="Google Shape;1470;p29"/>
          <p:cNvCxnSpPr/>
          <p:nvPr/>
        </p:nvCxnSpPr>
        <p:spPr>
          <a:xfrm>
            <a:off x="2551176" y="232257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71" name="Google Shape;1471;p29"/>
          <p:cNvSpPr/>
          <p:nvPr/>
        </p:nvSpPr>
        <p:spPr>
          <a:xfrm>
            <a:off x="1078992" y="1810512"/>
            <a:ext cx="1728216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One human director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2" name="Google Shape;1472;p29"/>
          <p:cNvSpPr/>
          <p:nvPr/>
        </p:nvSpPr>
        <p:spPr>
          <a:xfrm>
            <a:off x="3931920" y="1737360"/>
            <a:ext cx="2468880" cy="658368"/>
          </a:xfrm>
          <a:prstGeom prst="rect">
            <a:avLst/>
          </a:prstGeom>
          <a:solidFill>
            <a:srgbClr val="07151C">
              <a:alpha val="96078"/>
            </a:srgbClr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73" name="Google Shape;1473;p29"/>
          <p:cNvCxnSpPr/>
          <p:nvPr/>
        </p:nvCxnSpPr>
        <p:spPr>
          <a:xfrm>
            <a:off x="4005072" y="181051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74" name="Google Shape;1474;p29"/>
          <p:cNvCxnSpPr/>
          <p:nvPr/>
        </p:nvCxnSpPr>
        <p:spPr>
          <a:xfrm>
            <a:off x="6071616" y="232257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75" name="Google Shape;1475;p29"/>
          <p:cNvSpPr/>
          <p:nvPr/>
        </p:nvSpPr>
        <p:spPr>
          <a:xfrm>
            <a:off x="4005072" y="1810512"/>
            <a:ext cx="2322576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Replaceable AI / human agents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6" name="Google Shape;1476;p29"/>
          <p:cNvSpPr/>
          <p:nvPr/>
        </p:nvSpPr>
        <p:spPr>
          <a:xfrm>
            <a:off x="7498080" y="1737360"/>
            <a:ext cx="2514600" cy="658368"/>
          </a:xfrm>
          <a:prstGeom prst="rect">
            <a:avLst/>
          </a:prstGeom>
          <a:solidFill>
            <a:srgbClr val="1A1306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77" name="Google Shape;1477;p29"/>
          <p:cNvCxnSpPr/>
          <p:nvPr/>
        </p:nvCxnSpPr>
        <p:spPr>
          <a:xfrm>
            <a:off x="7571232" y="1810512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78" name="Google Shape;1478;p29"/>
          <p:cNvCxnSpPr/>
          <p:nvPr/>
        </p:nvCxnSpPr>
        <p:spPr>
          <a:xfrm>
            <a:off x="9683496" y="2322576"/>
            <a:ext cx="256032" cy="0"/>
          </a:xfrm>
          <a:prstGeom prst="straightConnector1">
            <a:avLst/>
          </a:prstGeom>
          <a:noFill/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79" name="Google Shape;1479;p29"/>
          <p:cNvSpPr/>
          <p:nvPr/>
        </p:nvSpPr>
        <p:spPr>
          <a:xfrm>
            <a:off x="7571232" y="1810512"/>
            <a:ext cx="2368296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Automated validation + builds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0" name="Google Shape;1480;p29"/>
          <p:cNvSpPr/>
          <p:nvPr/>
        </p:nvSpPr>
        <p:spPr>
          <a:xfrm>
            <a:off x="822960" y="3063240"/>
            <a:ext cx="10469880" cy="1225296"/>
          </a:xfrm>
          <a:prstGeom prst="rect">
            <a:avLst/>
          </a:prstGeom>
          <a:solidFill>
            <a:srgbClr val="050A0E">
              <a:alpha val="92941"/>
            </a:srgbClr>
          </a:solidFill>
          <a:ln cap="flat" cmpd="sng" w="12700">
            <a:solidFill>
              <a:srgbClr val="24424E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1" name="Google Shape;1481;p29"/>
          <p:cNvSpPr/>
          <p:nvPr/>
        </p:nvSpPr>
        <p:spPr>
          <a:xfrm>
            <a:off x="987552" y="3227832"/>
            <a:ext cx="10058400" cy="877824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280"/>
              <a:buFont typeface="Arial"/>
              <a:buNone/>
            </a:pPr>
            <a:r>
              <a:rPr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Small teams can manage larger scopes by directing systems instead of manually touching every task.</a:t>
            </a:r>
            <a:br>
              <a:rPr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Creative control shifts upward: vision, constraints, taste, architecture, and governance.</a:t>
            </a:r>
            <a:br>
              <a:rPr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AI-native studios need better APIs for Unity execution, screenshots, Play Mode validation, and approvals.</a:t>
            </a:r>
            <a:br>
              <a:rPr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The studio becomes an orchestration system.</a:t>
            </a:r>
            <a:br>
              <a:rPr lang="en-US" sz="128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endParaRPr sz="12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2" name="Google Shape;1482;p29"/>
          <p:cNvSpPr/>
          <p:nvPr/>
        </p:nvSpPr>
        <p:spPr>
          <a:xfrm>
            <a:off x="1143000" y="5394960"/>
            <a:ext cx="9875520" cy="566928"/>
          </a:xfrm>
          <a:prstGeom prst="rect">
            <a:avLst/>
          </a:prstGeom>
          <a:solidFill>
            <a:srgbClr val="050A0E">
              <a:alpha val="92941"/>
            </a:srgbClr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3" name="Google Shape;1483;p29"/>
          <p:cNvSpPr/>
          <p:nvPr/>
        </p:nvSpPr>
        <p:spPr>
          <a:xfrm>
            <a:off x="1216152" y="5468112"/>
            <a:ext cx="972921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650"/>
              <a:buFont typeface="Arial"/>
              <a:buNone/>
            </a:pPr>
            <a:r>
              <a:rPr b="1" lang="en-US" sz="165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Final thesis: AI will not replace game developers. It will replace fragmented workflows.</a:t>
            </a:r>
            <a:endParaRPr sz="16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84" name="Google Shape;1484;p29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5" name="Google Shape;1485;p29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6" name="Google Shape;1486;p29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1" name="Shape 1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mnt/data/wc_missionresult_target.png" id="1492" name="Google Shape;149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3" name="Google Shape;1493;p30"/>
          <p:cNvSpPr/>
          <p:nvPr/>
        </p:nvSpPr>
        <p:spPr>
          <a:xfrm>
            <a:off x="9144" y="173736"/>
            <a:ext cx="12173407" cy="6675120"/>
          </a:xfrm>
          <a:prstGeom prst="rect">
            <a:avLst/>
          </a:prstGeom>
          <a:solidFill>
            <a:srgbClr val="000000">
              <a:alpha val="80000"/>
            </a:srgbClr>
          </a:solidFill>
          <a:ln cap="flat" cmpd="sng" w="12700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4" name="Google Shape;1494;p3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5" name="Google Shape;1495;p30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6" name="Google Shape;1496;p30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CLOSING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97" name="Google Shape;1497;p30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FFB000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98" name="Google Shape;1498;p30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FFB000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99" name="Google Shape;1499;p30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FFB000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0" name="Google Shape;1500;p30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FFB000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1" name="Google Shape;1501;p30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FFB000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2" name="Google Shape;1502;p30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FFB000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3" name="Google Shape;1503;p30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FFB000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4" name="Google Shape;1504;p30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FFB000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5" name="Google Shape;1505;p30"/>
          <p:cNvSpPr/>
          <p:nvPr/>
        </p:nvSpPr>
        <p:spPr>
          <a:xfrm>
            <a:off x="713232" y="914400"/>
            <a:ext cx="9875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WarlineCapture is not just a game project.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6" name="Google Shape;1506;p30"/>
          <p:cNvSpPr/>
          <p:nvPr/>
        </p:nvSpPr>
        <p:spPr>
          <a:xfrm>
            <a:off x="731520" y="1536192"/>
            <a:ext cx="87782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It is a working example of a governed, Codex-centered, AI-orchestrated production pipeline.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7" name="Google Shape;1507;p30"/>
          <p:cNvSpPr/>
          <p:nvPr/>
        </p:nvSpPr>
        <p:spPr>
          <a:xfrm>
            <a:off x="868680" y="4443984"/>
            <a:ext cx="10469880" cy="658368"/>
          </a:xfrm>
          <a:prstGeom prst="rect">
            <a:avLst/>
          </a:prstGeom>
          <a:solidFill>
            <a:srgbClr val="050A0E">
              <a:alpha val="87843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8" name="Google Shape;1508;p30"/>
          <p:cNvSpPr/>
          <p:nvPr/>
        </p:nvSpPr>
        <p:spPr>
          <a:xfrm>
            <a:off x="941832" y="4517136"/>
            <a:ext cx="10323576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Human vision → AI agents → validation → visual QA → builds → approval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09" name="Google Shape;1509;p30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10" name="Google Shape;1510;p30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1" name="Google Shape;1511;p30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A0E"/>
        </a:solidFill>
      </p:bgPr>
    </p:bg>
    <p:spTree>
      <p:nvGrpSpPr>
        <p:cNvPr id="1516" name="Shape 1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Google Shape;1517;p3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0E"/>
          </a:solidFill>
          <a:ln cap="flat" cmpd="sng" w="12700">
            <a:solidFill>
              <a:srgbClr val="050A0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8" name="Google Shape;1518;p3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9" name="Google Shape;1519;p31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FFB000">
              <a:alpha val="27843"/>
            </a:srgbClr>
          </a:solidFill>
          <a:ln cap="flat" cmpd="sng" w="12700">
            <a:solidFill>
              <a:srgbClr val="FFB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0" name="Google Shape;1520;p31"/>
          <p:cNvSpPr/>
          <p:nvPr/>
        </p:nvSpPr>
        <p:spPr>
          <a:xfrm>
            <a:off x="566928" y="201168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680"/>
              <a:buFont typeface="Arial"/>
              <a:buNone/>
            </a:pPr>
            <a:r>
              <a:rPr b="1" lang="en-US" sz="68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appendix</a:t>
            </a:r>
            <a:endParaRPr sz="68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21" name="Google Shape;1521;p31"/>
          <p:cNvCxnSpPr/>
          <p:nvPr/>
        </p:nvCxnSpPr>
        <p:spPr>
          <a:xfrm>
            <a:off x="292608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2" name="Google Shape;1522;p31"/>
          <p:cNvCxnSpPr/>
          <p:nvPr/>
        </p:nvCxnSpPr>
        <p:spPr>
          <a:xfrm>
            <a:off x="292608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3" name="Google Shape;1523;p31"/>
          <p:cNvCxnSpPr/>
          <p:nvPr/>
        </p:nvCxnSpPr>
        <p:spPr>
          <a:xfrm>
            <a:off x="11213287" y="292608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4" name="Google Shape;1524;p31"/>
          <p:cNvCxnSpPr/>
          <p:nvPr/>
        </p:nvCxnSpPr>
        <p:spPr>
          <a:xfrm>
            <a:off x="11899087" y="292608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5" name="Google Shape;1525;p31"/>
          <p:cNvCxnSpPr/>
          <p:nvPr/>
        </p:nvCxnSpPr>
        <p:spPr>
          <a:xfrm>
            <a:off x="292608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6" name="Google Shape;1526;p31"/>
          <p:cNvCxnSpPr/>
          <p:nvPr/>
        </p:nvCxnSpPr>
        <p:spPr>
          <a:xfrm>
            <a:off x="292608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7" name="Google Shape;1527;p31"/>
          <p:cNvCxnSpPr/>
          <p:nvPr/>
        </p:nvCxnSpPr>
        <p:spPr>
          <a:xfrm>
            <a:off x="11213287" y="6565392"/>
            <a:ext cx="685800" cy="0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8" name="Google Shape;1528;p31"/>
          <p:cNvCxnSpPr/>
          <p:nvPr/>
        </p:nvCxnSpPr>
        <p:spPr>
          <a:xfrm>
            <a:off x="11899087" y="6126480"/>
            <a:ext cx="0" cy="438912"/>
          </a:xfrm>
          <a:prstGeom prst="straightConnector1">
            <a:avLst/>
          </a:prstGeom>
          <a:noFill/>
          <a:ln cap="flat" cmpd="sng" w="13950">
            <a:solidFill>
              <a:srgbClr val="00E5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29" name="Google Shape;1529;p31"/>
          <p:cNvSpPr/>
          <p:nvPr/>
        </p:nvSpPr>
        <p:spPr>
          <a:xfrm>
            <a:off x="658368" y="530352"/>
            <a:ext cx="107899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Sources &amp; project references</a:t>
            </a:r>
            <a:endParaRPr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0" name="Google Shape;1530;p31"/>
          <p:cNvSpPr/>
          <p:nvPr/>
        </p:nvSpPr>
        <p:spPr>
          <a:xfrm>
            <a:off x="777240" y="1115568"/>
            <a:ext cx="5303520" cy="402336"/>
          </a:xfrm>
          <a:prstGeom prst="rect">
            <a:avLst/>
          </a:prstGeom>
          <a:solidFill>
            <a:srgbClr val="0D2630">
              <a:alpha val="96078"/>
            </a:srgbClr>
          </a:solidFill>
          <a:ln cap="flat" cmpd="sng" w="1270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1" name="Google Shape;1531;p31"/>
          <p:cNvSpPr/>
          <p:nvPr/>
        </p:nvSpPr>
        <p:spPr>
          <a:xfrm>
            <a:off x="850392" y="1188720"/>
            <a:ext cx="515721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E5FF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00E5FF"/>
                </a:solidFill>
                <a:latin typeface="Arial"/>
                <a:ea typeface="Arial"/>
                <a:cs typeface="Arial"/>
                <a:sym typeface="Arial"/>
              </a:rPr>
              <a:t>Project sources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2" name="Google Shape;1532;p31"/>
          <p:cNvSpPr/>
          <p:nvPr/>
        </p:nvSpPr>
        <p:spPr>
          <a:xfrm>
            <a:off x="868680" y="1691640"/>
            <a:ext cx="507492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7FB"/>
              </a:buClr>
              <a:buSzPts val="1020"/>
              <a:buFont typeface="Arial"/>
              <a:buNone/>
            </a:pPr>
            <a:r>
              <a:rPr lang="en-US" sz="13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WarlineCapture README — project setup, status, architecture, testing, UI/UX roadmap</a:t>
            </a:r>
            <a:br>
              <a:rPr lang="en-US" sz="13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Design/README.md — design index, visual direction, source-of-truth hierarchy</a:t>
            </a:r>
            <a:br>
              <a:rPr lang="en-US" sz="13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WarlineCapture_Agent_Coordination_Workflow.md — lanes, handoffs, reports, blockers</a:t>
            </a:r>
            <a:br>
              <a:rPr lang="en-US" sz="13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WarlineCapture_UIUX_Mockup_To_Canvas_Conversion_Plan.md — target-to-canvas rules</a:t>
            </a:r>
            <a:br>
              <a:rPr lang="en-US" sz="13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WarlineCapture_UIUX_MainMenu_Visual_Contract.md — Main Menu target and acceptance</a:t>
            </a:r>
            <a:br>
              <a:rPr lang="en-US" sz="13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  <a:t>• VisualLock targets — Main Menu, Quick Custom, Battle HUD, Saga Map, Mission Briefing, Operation Dashboard, Mission Result</a:t>
            </a:r>
            <a:br>
              <a:rPr lang="en-US" sz="1320">
                <a:solidFill>
                  <a:srgbClr val="EAF7FB"/>
                </a:solidFill>
                <a:latin typeface="Arial"/>
                <a:ea typeface="Arial"/>
                <a:cs typeface="Arial"/>
                <a:sym typeface="Arial"/>
              </a:rPr>
            </a:br>
            <a:endParaRPr sz="132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3" name="Google Shape;1533;p31"/>
          <p:cNvSpPr/>
          <p:nvPr/>
        </p:nvSpPr>
        <p:spPr>
          <a:xfrm>
            <a:off x="6355080" y="1115568"/>
            <a:ext cx="5074920" cy="402336"/>
          </a:xfrm>
          <a:prstGeom prst="rect">
            <a:avLst/>
          </a:prstGeom>
          <a:solidFill>
            <a:srgbClr val="1A1306">
              <a:alpha val="96078"/>
            </a:srgbClr>
          </a:solidFill>
          <a:ln cap="flat" cmpd="sng" w="12700">
            <a:solidFill>
              <a:srgbClr val="FFB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4" name="Google Shape;1534;p31"/>
          <p:cNvSpPr/>
          <p:nvPr/>
        </p:nvSpPr>
        <p:spPr>
          <a:xfrm>
            <a:off x="6428232" y="1188720"/>
            <a:ext cx="492861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00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FFB000"/>
                </a:solidFill>
                <a:latin typeface="Arial"/>
                <a:ea typeface="Arial"/>
                <a:cs typeface="Arial"/>
                <a:sym typeface="Arial"/>
              </a:rPr>
              <a:t>External tool references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5" name="Google Shape;1535;p31"/>
          <p:cNvSpPr/>
          <p:nvPr/>
        </p:nvSpPr>
        <p:spPr>
          <a:xfrm>
            <a:off x="6446520" y="1691640"/>
            <a:ext cx="484632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• OpenAI — Introducing Codex / Codex product page</a:t>
            </a:r>
            <a:br>
              <a:rPr lang="en-US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• Anthropic — Claude Code product page</a:t>
            </a:r>
            <a:br>
              <a:rPr lang="en-US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• GitHub Docs — Copilot cloud agent</a:t>
            </a:r>
            <a:br>
              <a:rPr lang="en-US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• Unity — Unity AI Beta, AI Gateway, MCP Server, Sentis</a:t>
            </a:r>
            <a:br>
              <a:rPr lang="en-US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• Case-study notes from this chat: Codex, Claude Code, Unity AI, mockup visual QA, approval gates</a:t>
            </a:r>
            <a:br>
              <a:rPr lang="en-US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• Analytics stack concepts — Mixpanel, Firebase, BigQuery, playtest funnels, and data-quality validation</a:t>
            </a:r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• Case-study notes from this chat: mature-project recovery, analytics agent, synthetic playtester agents, AI cost telemetry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536" name="Google Shape;1536;p31"/>
          <p:cNvSpPr/>
          <p:nvPr/>
        </p:nvSpPr>
        <p:spPr>
          <a:xfrm>
            <a:off x="914400" y="5394960"/>
            <a:ext cx="10287000" cy="475488"/>
          </a:xfrm>
          <a:prstGeom prst="rect">
            <a:avLst/>
          </a:prstGeom>
          <a:solidFill>
            <a:srgbClr val="0D2117">
              <a:alpha val="96078"/>
            </a:srgbClr>
          </a:solidFill>
          <a:ln cap="flat" cmpd="sng" w="12700">
            <a:solidFill>
              <a:srgbClr val="7DEB9D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5240">
              <a:srgbClr val="000000">
                <a:alpha val="2392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7" name="Google Shape;1537;p31"/>
          <p:cNvSpPr/>
          <p:nvPr/>
        </p:nvSpPr>
        <p:spPr>
          <a:xfrm>
            <a:off x="987552" y="5468112"/>
            <a:ext cx="1014069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DEB9D"/>
              </a:buClr>
              <a:buSzPts val="1450"/>
              <a:buFont typeface="Arial"/>
              <a:buNone/>
            </a:pPr>
            <a:r>
              <a:rPr b="1" lang="en-US" sz="1450">
                <a:solidFill>
                  <a:srgbClr val="7DEB9D"/>
                </a:solidFill>
                <a:latin typeface="Arial"/>
                <a:ea typeface="Arial"/>
                <a:cs typeface="Arial"/>
                <a:sym typeface="Arial"/>
              </a:rPr>
              <a:t>Repository: github.com/farhad2na2/WarlineCapture</a:t>
            </a:r>
            <a:endParaRPr sz="14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38" name="Google Shape;1538;p31"/>
          <p:cNvCxnSpPr/>
          <p:nvPr/>
        </p:nvCxnSpPr>
        <p:spPr>
          <a:xfrm>
            <a:off x="576072" y="6428232"/>
            <a:ext cx="10881360" cy="0"/>
          </a:xfrm>
          <a:prstGeom prst="straightConnector1">
            <a:avLst/>
          </a:prstGeom>
          <a:noFill/>
          <a:ln cap="flat" cmpd="sng" w="9525">
            <a:solidFill>
              <a:srgbClr val="24424E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9" name="Google Shape;1539;p31"/>
          <p:cNvSpPr/>
          <p:nvPr/>
        </p:nvSpPr>
        <p:spPr>
          <a:xfrm>
            <a:off x="594360" y="6510528"/>
            <a:ext cx="8046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992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6E8992"/>
                </a:solidFill>
                <a:latin typeface="Arial"/>
                <a:ea typeface="Arial"/>
                <a:cs typeface="Arial"/>
                <a:sym typeface="Arial"/>
              </a:rPr>
              <a:t>WarlineCapture case study • AI-native game development • May 2026</a:t>
            </a:r>
            <a:endParaRPr sz="7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0" name="Google Shape;1540;p31"/>
          <p:cNvSpPr/>
          <p:nvPr/>
        </p:nvSpPr>
        <p:spPr>
          <a:xfrm>
            <a:off x="11201400" y="647395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00ECFF"/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2026-05-11T09:43:48Z</dcterms:created>
  <dc:creator>OpenAI</dc:creator>
</cp:coreProperties>
</file>